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93" r:id="rId2"/>
    <p:sldId id="294" r:id="rId3"/>
    <p:sldId id="295" r:id="rId4"/>
    <p:sldId id="296" r:id="rId5"/>
    <p:sldId id="297" r:id="rId6"/>
    <p:sldId id="316" r:id="rId7"/>
    <p:sldId id="262" r:id="rId8"/>
    <p:sldId id="263" r:id="rId9"/>
    <p:sldId id="264" r:id="rId10"/>
    <p:sldId id="333" r:id="rId11"/>
    <p:sldId id="300" r:id="rId12"/>
    <p:sldId id="315" r:id="rId13"/>
    <p:sldId id="302" r:id="rId14"/>
    <p:sldId id="317" r:id="rId15"/>
    <p:sldId id="319" r:id="rId16"/>
    <p:sldId id="320" r:id="rId17"/>
    <p:sldId id="321" r:id="rId18"/>
    <p:sldId id="322" r:id="rId19"/>
    <p:sldId id="340" r:id="rId20"/>
    <p:sldId id="325" r:id="rId21"/>
    <p:sldId id="326" r:id="rId22"/>
    <p:sldId id="341" r:id="rId23"/>
    <p:sldId id="342" r:id="rId24"/>
    <p:sldId id="343" r:id="rId25"/>
    <p:sldId id="330" r:id="rId26"/>
    <p:sldId id="336"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675"/>
  </p:normalViewPr>
  <p:slideViewPr>
    <p:cSldViewPr snapToGrid="0">
      <p:cViewPr varScale="1">
        <p:scale>
          <a:sx n="79" d="100"/>
          <a:sy n="79" d="100"/>
        </p:scale>
        <p:origin x="240"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78A9C2-C681-4D4F-9B59-C933ECD2ED15}" type="datetimeFigureOut">
              <a:rPr lang="fr-FR" smtClean="0"/>
              <a:t>28/08/2026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382704-C529-3C4F-A952-CC82FABFCCBA}" type="slidenum">
              <a:rPr lang="fr-FR" smtClean="0"/>
              <a:t>‹N°›</a:t>
            </a:fld>
            <a:endParaRPr lang="fr-FR"/>
          </a:p>
        </p:txBody>
      </p:sp>
    </p:spTree>
    <p:extLst>
      <p:ext uri="{BB962C8B-B14F-4D97-AF65-F5344CB8AC3E}">
        <p14:creationId xmlns:p14="http://schemas.microsoft.com/office/powerpoint/2010/main" val="473864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a:r>
              <a:rPr lang="he-IL" dirty="0"/>
              <a:t> </a:t>
            </a:r>
            <a:r>
              <a:rPr lang="fr-FR" dirty="0"/>
              <a:t>Vallez et al., 2020</a:t>
            </a:r>
            <a:r>
              <a:rPr lang="he-IL" dirty="0"/>
              <a:t>"העבודה הרלוונטית הראשונה היא של  </a:t>
            </a:r>
            <a:br>
              <a:rPr lang="en-US"/>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הם הוסיפו מודעות להקשר. מצלמת אגו-ראייה עם חיישני תנועה ו-</a:t>
            </a:r>
            <a:r>
              <a:rPr lang="en-US" dirty="0"/>
              <a:t>CNN </a:t>
            </a:r>
            <a:r>
              <a:rPr lang="he-IL" dirty="0"/>
              <a:t>קומפקטית מסווגת יצירות אמנות אך גם מסיקה האם המבקר מסתכל על יצירה, הולך או מדבר. היא בונה פרופיל עניין מזמן התצפית. ובכל זאת, הזיהוי הוא סגור לכל אוסף, התוכן מוגדר מראש, ואין נרטיב יצירתי."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מצלמה לבישה לוכדת את העבודה בזמן שהמבקר מטייל, כאשר צוות </a:t>
            </a:r>
            <a:r>
              <a:rPr lang="en-US" dirty="0"/>
              <a:t>CNN </a:t>
            </a:r>
            <a:r>
              <a:rPr lang="he-IL" dirty="0"/>
              <a:t>אומן מראש ב-</a:t>
            </a:r>
            <a:r>
              <a:rPr lang="en-US" dirty="0"/>
              <a:t>ImageNet </a:t>
            </a:r>
            <a:r>
              <a:rPr lang="he-IL" dirty="0"/>
              <a:t>ומכוון לפי מוזיאון. תרומתם היא בעיקר אמפירית - הם חוקרים את התנאים האמיתיים של מצלמות לבישות: טשטוש, זווית, סנוור. אבל שוב, זיהוי דורש כוונון עדין בכל מוזיאון, זה סט סגור, ואין העברת שמע בזמן אמת."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video" Target="https://www.youtube.com/embed/rTi4hey0pVk?feature=oembed" TargetMode="External"/><Relationship Id="rId7" Type="http://schemas.openxmlformats.org/officeDocument/2006/relationships/image" Target="../media/image5.jpeg"/><Relationship Id="rId2" Type="http://schemas.openxmlformats.org/officeDocument/2006/relationships/video" Target="https://www.youtube.com/embed/YKZQUEnQdDQ?feature=oembed" TargetMode="External"/><Relationship Id="rId1" Type="http://schemas.openxmlformats.org/officeDocument/2006/relationships/video" Target="https://www.youtube.com/embed/u8_xjh6mcF0?feature=oembed" TargetMode="External"/><Relationship Id="rId6" Type="http://schemas.openxmlformats.org/officeDocument/2006/relationships/image" Target="../media/image4.png"/><Relationship Id="rId5" Type="http://schemas.openxmlformats.org/officeDocument/2006/relationships/notesSlide" Target="../notesSlides/notesSlide19.xml"/><Relationship Id="rId4" Type="http://schemas.openxmlformats.org/officeDocument/2006/relationships/slideLayout" Target="../slideLayouts/slideLayout1.xml"/><Relationship Id="rId9" Type="http://schemas.openxmlformats.org/officeDocument/2006/relationships/image" Target="../media/image7.jpe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ece_logo.png"/>
          <p:cNvPicPr>
            <a:picLocks noChangeAspect="1"/>
          </p:cNvPicPr>
          <p:nvPr/>
        </p:nvPicPr>
        <p:blipFill>
          <a:blip r:embed="rId3"/>
          <a:stretch>
            <a:fillRect/>
          </a:stretch>
        </p:blipFill>
        <p:spPr>
          <a:xfrm>
            <a:off x="502920" y="411480"/>
            <a:ext cx="2557220" cy="502920"/>
          </a:xfrm>
          <a:prstGeom prst="rect">
            <a:avLst/>
          </a:prstGeom>
        </p:spPr>
      </p:pic>
      <p:pic>
        <p:nvPicPr>
          <p:cNvPr id="4" name="Image 2" descr="/home/claude/technion_logo.png"/>
          <p:cNvPicPr>
            <a:picLocks noChangeAspect="1"/>
          </p:cNvPicPr>
          <p:nvPr/>
        </p:nvPicPr>
        <p:blipFill>
          <a:blip r:embed="rId4"/>
          <a:stretch>
            <a:fillRect/>
          </a:stretch>
        </p:blipFill>
        <p:spPr>
          <a:xfrm>
            <a:off x="10164775" y="365760"/>
            <a:ext cx="1524000" cy="685800"/>
          </a:xfrm>
          <a:prstGeom prst="rect">
            <a:avLst/>
          </a:prstGeom>
        </p:spPr>
      </p:pic>
      <p:sp>
        <p:nvSpPr>
          <p:cNvPr id="5" name="Text 0"/>
          <p:cNvSpPr/>
          <p:nvPr/>
        </p:nvSpPr>
        <p:spPr>
          <a:xfrm>
            <a:off x="0" y="1600200"/>
            <a:ext cx="12191695" cy="365760"/>
          </a:xfrm>
          <a:prstGeom prst="rect">
            <a:avLst/>
          </a:prstGeom>
          <a:noFill/>
          <a:ln/>
        </p:spPr>
        <p:txBody>
          <a:bodyPr wrap="square" rtlCol="0" anchor="ctr"/>
          <a:lstStyle/>
          <a:p>
            <a:pPr marL="0" indent="0" algn="ctr">
              <a:buNone/>
            </a:pPr>
            <a:r>
              <a:rPr lang="en-US" sz="1600" i="1" dirty="0">
                <a:solidFill>
                  <a:srgbClr val="6B7280"/>
                </a:solidFill>
              </a:rPr>
              <a:t>Final Project Presentation</a:t>
            </a:r>
          </a:p>
        </p:txBody>
      </p:sp>
      <p:sp>
        <p:nvSpPr>
          <p:cNvPr id="6" name="Text 1"/>
          <p:cNvSpPr/>
          <p:nvPr/>
        </p:nvSpPr>
        <p:spPr>
          <a:xfrm>
            <a:off x="914400" y="2057400"/>
            <a:ext cx="10362895" cy="731520"/>
          </a:xfrm>
          <a:prstGeom prst="rect">
            <a:avLst/>
          </a:prstGeom>
          <a:noFill/>
          <a:ln/>
        </p:spPr>
        <p:txBody>
          <a:bodyPr wrap="square" rtlCol="0" anchor="ctr"/>
          <a:lstStyle/>
          <a:p>
            <a:pPr marL="0" indent="0" algn="ctr">
              <a:buNone/>
            </a:pPr>
            <a:r>
              <a:rPr lang="en-US" sz="3800" b="1" dirty="0">
                <a:solidFill>
                  <a:srgbClr val="002060"/>
                </a:solidFill>
                <a:latin typeface="Calibri" pitchFamily="34" charset="0"/>
                <a:ea typeface="Calibri" pitchFamily="34" charset="-122"/>
                <a:cs typeface="Calibri" pitchFamily="34" charset="-120"/>
              </a:rPr>
              <a:t>3D objects detection – Aria glasses</a:t>
            </a:r>
            <a:endParaRPr lang="en-US" sz="3800" dirty="0"/>
          </a:p>
        </p:txBody>
      </p:sp>
      <p:sp>
        <p:nvSpPr>
          <p:cNvPr id="7" name="Text 2"/>
          <p:cNvSpPr/>
          <p:nvPr/>
        </p:nvSpPr>
        <p:spPr>
          <a:xfrm>
            <a:off x="914400" y="2788920"/>
            <a:ext cx="10362895" cy="457200"/>
          </a:xfrm>
          <a:prstGeom prst="rect">
            <a:avLst/>
          </a:prstGeom>
          <a:noFill/>
          <a:ln/>
        </p:spPr>
        <p:txBody>
          <a:bodyPr wrap="square" rtlCol="0" anchor="ctr"/>
          <a:lstStyle/>
          <a:p>
            <a:pPr algn="ctr"/>
            <a:r>
              <a:rPr lang="en-US" sz="2000" i="1" dirty="0">
                <a:solidFill>
                  <a:schemeClr val="accent1">
                    <a:lumMod val="60000"/>
                    <a:lumOff val="40000"/>
                  </a:schemeClr>
                </a:solidFill>
                <a:latin typeface="Calibri" pitchFamily="34" charset="0"/>
                <a:ea typeface="Calibri" pitchFamily="34" charset="-122"/>
                <a:cs typeface="Calibri" pitchFamily="34" charset="-120"/>
              </a:rPr>
              <a:t>Hands-Free Museum Audio Guide </a:t>
            </a:r>
            <a:r>
              <a:rPr lang="en-US" sz="1900" i="1" dirty="0">
                <a:solidFill>
                  <a:schemeClr val="accent1">
                    <a:lumMod val="60000"/>
                    <a:lumOff val="40000"/>
                  </a:schemeClr>
                </a:solidFill>
              </a:rPr>
              <a:t>on Meta Aria Smart Glasses</a:t>
            </a:r>
          </a:p>
        </p:txBody>
      </p:sp>
      <p:sp>
        <p:nvSpPr>
          <p:cNvPr id="8" name="Text 3"/>
          <p:cNvSpPr/>
          <p:nvPr/>
        </p:nvSpPr>
        <p:spPr>
          <a:xfrm>
            <a:off x="1280160" y="3886200"/>
            <a:ext cx="6583680" cy="365760"/>
          </a:xfrm>
          <a:prstGeom prst="rect">
            <a:avLst/>
          </a:prstGeom>
          <a:noFill/>
          <a:ln/>
        </p:spPr>
        <p:txBody>
          <a:bodyPr wrap="square" rtlCol="0" anchor="ctr"/>
          <a:lstStyle/>
          <a:p>
            <a:pPr marL="0" indent="0" algn="l">
              <a:buNone/>
            </a:pPr>
            <a:r>
              <a:rPr lang="en-US" sz="1600" b="1" dirty="0">
                <a:solidFill>
                  <a:srgbClr val="002060"/>
                </a:solidFill>
              </a:rPr>
              <a:t>Students: </a:t>
            </a:r>
            <a:r>
              <a:rPr lang="en-US" sz="1600" dirty="0">
                <a:solidFill>
                  <a:srgbClr val="222222"/>
                </a:solidFill>
              </a:rPr>
              <a:t>Arthur Friler, Daniel </a:t>
            </a:r>
            <a:r>
              <a:rPr lang="en-US" sz="1600" dirty="0" err="1">
                <a:solidFill>
                  <a:srgbClr val="222222"/>
                </a:solidFill>
              </a:rPr>
              <a:t>Sitbon</a:t>
            </a:r>
            <a:endParaRPr lang="en-US" sz="1600" dirty="0"/>
          </a:p>
        </p:txBody>
      </p:sp>
      <p:sp>
        <p:nvSpPr>
          <p:cNvPr id="9" name="Text 4"/>
          <p:cNvSpPr/>
          <p:nvPr/>
        </p:nvSpPr>
        <p:spPr>
          <a:xfrm>
            <a:off x="1280160" y="4343400"/>
            <a:ext cx="6583680" cy="365760"/>
          </a:xfrm>
          <a:prstGeom prst="rect">
            <a:avLst/>
          </a:prstGeom>
          <a:noFill/>
          <a:ln/>
        </p:spPr>
        <p:txBody>
          <a:bodyPr wrap="square" rtlCol="0" anchor="ctr"/>
          <a:lstStyle/>
          <a:p>
            <a:pPr marL="0" indent="0" algn="l">
              <a:buNone/>
            </a:pPr>
            <a:r>
              <a:rPr lang="en-US" sz="1600" b="1" dirty="0">
                <a:solidFill>
                  <a:srgbClr val="002060"/>
                </a:solidFill>
              </a:rPr>
              <a:t>Supervisor: </a:t>
            </a:r>
            <a:r>
              <a:rPr lang="en-US" sz="1600" dirty="0"/>
              <a:t>Ben </a:t>
            </a:r>
            <a:r>
              <a:rPr lang="en-US" sz="1600" dirty="0" err="1"/>
              <a:t>Kretzu</a:t>
            </a:r>
            <a:r>
              <a:rPr lang="en-US" sz="1600" dirty="0"/>
              <a:t> </a:t>
            </a:r>
          </a:p>
        </p:txBody>
      </p:sp>
      <p:sp>
        <p:nvSpPr>
          <p:cNvPr id="10" name="Text 5"/>
          <p:cNvSpPr/>
          <p:nvPr/>
        </p:nvSpPr>
        <p:spPr>
          <a:xfrm>
            <a:off x="1280160" y="4846320"/>
            <a:ext cx="6583680" cy="365760"/>
          </a:xfrm>
          <a:prstGeom prst="rect">
            <a:avLst/>
          </a:prstGeom>
          <a:noFill/>
          <a:ln/>
        </p:spPr>
        <p:txBody>
          <a:bodyPr wrap="square" rtlCol="0" anchor="ctr"/>
          <a:lstStyle/>
          <a:p>
            <a:pPr marL="0" indent="0" algn="l">
              <a:buNone/>
            </a:pPr>
            <a:r>
              <a:rPr lang="en-US" sz="1600" b="1" dirty="0">
                <a:solidFill>
                  <a:srgbClr val="002060"/>
                </a:solidFill>
              </a:rPr>
              <a:t>Semester: </a:t>
            </a:r>
            <a:r>
              <a:rPr lang="en-US" sz="1600" dirty="0">
                <a:solidFill>
                  <a:srgbClr val="222222"/>
                </a:solidFill>
              </a:rPr>
              <a:t>Winter, 2025-2026</a:t>
            </a:r>
            <a:endParaRPr lang="en-US" sz="1600" dirty="0"/>
          </a:p>
        </p:txBody>
      </p:sp>
      <p:sp>
        <p:nvSpPr>
          <p:cNvPr id="11" name="Text 6"/>
          <p:cNvSpPr/>
          <p:nvPr/>
        </p:nvSpPr>
        <p:spPr>
          <a:xfrm>
            <a:off x="1280160" y="5212080"/>
            <a:ext cx="6583680" cy="365760"/>
          </a:xfrm>
          <a:prstGeom prst="rect">
            <a:avLst/>
          </a:prstGeom>
          <a:noFill/>
          <a:ln/>
        </p:spPr>
        <p:txBody>
          <a:bodyPr wrap="square" rtlCol="0" anchor="ctr"/>
          <a:lstStyle/>
          <a:p>
            <a:pPr marL="0" indent="0" algn="l">
              <a:buNone/>
            </a:pPr>
            <a:r>
              <a:rPr lang="en-US" sz="1600" b="1" dirty="0">
                <a:solidFill>
                  <a:srgbClr val="002060"/>
                </a:solidFill>
              </a:rPr>
              <a:t>Date: </a:t>
            </a:r>
            <a:r>
              <a:rPr lang="en-US" sz="1600" dirty="0">
                <a:solidFill>
                  <a:srgbClr val="222222"/>
                </a:solidFill>
              </a:rPr>
              <a:t>24/08/26</a:t>
            </a:r>
          </a:p>
        </p:txBody>
      </p:sp>
      <p:sp>
        <p:nvSpPr>
          <p:cNvPr id="12" name="Text 7"/>
          <p:cNvSpPr/>
          <p:nvPr/>
        </p:nvSpPr>
        <p:spPr>
          <a:xfrm>
            <a:off x="1280160" y="5760720"/>
            <a:ext cx="6583680" cy="365760"/>
          </a:xfrm>
          <a:prstGeom prst="rect">
            <a:avLst/>
          </a:prstGeom>
          <a:noFill/>
          <a:ln/>
        </p:spPr>
        <p:txBody>
          <a:bodyPr wrap="square" rtlCol="0" anchor="ctr"/>
          <a:lstStyle/>
          <a:p>
            <a:pPr marL="0" indent="0" algn="l">
              <a:buNone/>
            </a:pPr>
            <a:endParaRPr lang="en-US" sz="1400" dirty="0"/>
          </a:p>
        </p:txBody>
      </p:sp>
      <p:sp>
        <p:nvSpPr>
          <p:cNvPr id="13" name="Shape 8"/>
          <p:cNvSpPr/>
          <p:nvPr/>
        </p:nvSpPr>
        <p:spPr>
          <a:xfrm>
            <a:off x="11382881" y="4786795"/>
            <a:ext cx="600216" cy="815171"/>
          </a:xfrm>
          <a:prstGeom prst="roundRect">
            <a:avLst>
              <a:gd name="adj" fmla="val 3000"/>
            </a:avLst>
          </a:prstGeom>
          <a:solidFill>
            <a:srgbClr val="F4F7FB"/>
          </a:solidFill>
          <a:ln w="12700">
            <a:solidFill>
              <a:srgbClr val="D7DEE8"/>
            </a:solidFill>
            <a:prstDash val="dash"/>
          </a:ln>
        </p:spPr>
        <p:txBody>
          <a:bodyPr/>
          <a:lstStyle/>
          <a:p>
            <a:endParaRPr lang="fr-FR"/>
          </a:p>
        </p:txBody>
      </p:sp>
      <p:sp>
        <p:nvSpPr>
          <p:cNvPr id="14" name="Text 9"/>
          <p:cNvSpPr/>
          <p:nvPr/>
        </p:nvSpPr>
        <p:spPr>
          <a:xfrm>
            <a:off x="8412480" y="3840480"/>
            <a:ext cx="2651760" cy="1828800"/>
          </a:xfrm>
          <a:prstGeom prst="rect">
            <a:avLst/>
          </a:prstGeom>
          <a:noFill/>
          <a:ln/>
        </p:spPr>
        <p:txBody>
          <a:bodyPr wrap="square" rtlCol="0" anchor="ctr"/>
          <a:lstStyle/>
          <a:p>
            <a:pPr marL="0" indent="0" algn="ctr">
              <a:buNone/>
            </a:pPr>
            <a:r>
              <a:rPr lang="en-US" sz="1400" i="1" dirty="0">
                <a:solidFill>
                  <a:srgbClr val="6B7280"/>
                </a:solidFill>
              </a:rPr>
              <a:t>Field-tested at the Tel Aviv Museum of Art</a:t>
            </a:r>
          </a:p>
        </p:txBody>
      </p:sp>
      <p:pic>
        <p:nvPicPr>
          <p:cNvPr id="1026" name="Picture 2" descr="Meta's Aria Gen 2 Research Glasses">
            <a:extLst>
              <a:ext uri="{FF2B5EF4-FFF2-40B4-BE49-F238E27FC236}">
                <a16:creationId xmlns:a16="http://schemas.microsoft.com/office/drawing/2014/main" id="{2748592A-9029-9112-3C9F-875EC047CA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24439" y="3326803"/>
            <a:ext cx="5167256" cy="3422653"/>
          </a:xfrm>
          <a:prstGeom prst="rect">
            <a:avLst/>
          </a:prstGeom>
          <a:noFill/>
          <a:extLst>
            <a:ext uri="{909E8E84-426E-40DD-AFC4-6F175D3DCCD1}">
              <a14:hiddenFill xmlns:a14="http://schemas.microsoft.com/office/drawing/2010/main">
                <a:solidFill>
                  <a:srgbClr val="FFFFFF"/>
                </a:solidFill>
              </a14:hiddenFill>
            </a:ext>
          </a:extLst>
        </p:spPr>
      </p:pic>
      <p:pic>
        <p:nvPicPr>
          <p:cNvPr id="16" name="Image 15">
            <a:extLst>
              <a:ext uri="{FF2B5EF4-FFF2-40B4-BE49-F238E27FC236}">
                <a16:creationId xmlns:a16="http://schemas.microsoft.com/office/drawing/2014/main" id="{9E5B4A80-BDBC-96CF-4CF5-9102C57161D8}"/>
              </a:ext>
            </a:extLst>
          </p:cNvPr>
          <p:cNvPicPr>
            <a:picLocks noChangeAspect="1"/>
          </p:cNvPicPr>
          <p:nvPr/>
        </p:nvPicPr>
        <p:blipFill>
          <a:blip r:embed="rId6"/>
          <a:stretch>
            <a:fillRect/>
          </a:stretch>
        </p:blipFill>
        <p:spPr>
          <a:xfrm>
            <a:off x="4552949" y="412255"/>
            <a:ext cx="3086102" cy="685800"/>
          </a:xfrm>
          <a:prstGeom prst="rect">
            <a:avLst/>
          </a:prstGeom>
        </p:spPr>
      </p:pic>
    </p:spTree>
    <p:extLst>
      <p:ext uri="{BB962C8B-B14F-4D97-AF65-F5344CB8AC3E}">
        <p14:creationId xmlns:p14="http://schemas.microsoft.com/office/powerpoint/2010/main" val="1809741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2</a:t>
            </a:r>
            <a:endParaRPr lang="en-US" sz="1100" dirty="0"/>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ea typeface="Calibri" pitchFamily="34" charset="-122"/>
                <a:cs typeface="Calibri" pitchFamily="34" charset="-120"/>
              </a:rPr>
              <a:t>Outline</a:t>
            </a:r>
            <a:endParaRPr lang="en-US" sz="2700" dirty="0"/>
          </a:p>
        </p:txBody>
      </p:sp>
      <p:sp>
        <p:nvSpPr>
          <p:cNvPr id="5" name="Shape 2"/>
          <p:cNvSpPr/>
          <p:nvPr/>
        </p:nvSpPr>
        <p:spPr>
          <a:xfrm>
            <a:off x="2011680" y="1463040"/>
            <a:ext cx="457200" cy="457200"/>
          </a:xfrm>
          <a:prstGeom prst="ellipse">
            <a:avLst/>
          </a:prstGeom>
          <a:solidFill>
            <a:srgbClr val="002060"/>
          </a:solidFill>
          <a:ln/>
        </p:spPr>
        <p:txBody>
          <a:bodyPr/>
          <a:lstStyle/>
          <a:p>
            <a:endParaRPr lang="fr-FR"/>
          </a:p>
        </p:txBody>
      </p:sp>
      <p:sp>
        <p:nvSpPr>
          <p:cNvPr id="6" name="Text 3"/>
          <p:cNvSpPr/>
          <p:nvPr/>
        </p:nvSpPr>
        <p:spPr>
          <a:xfrm>
            <a:off x="2011680" y="1463040"/>
            <a:ext cx="457200" cy="457200"/>
          </a:xfrm>
          <a:prstGeom prst="rect">
            <a:avLst/>
          </a:prstGeom>
          <a:noFill/>
          <a:ln/>
        </p:spPr>
        <p:txBody>
          <a:bodyPr wrap="square" rtlCol="0" anchor="ctr"/>
          <a:lstStyle/>
          <a:p>
            <a:pPr marL="0" indent="0" algn="ctr">
              <a:buNone/>
            </a:pPr>
            <a:r>
              <a:rPr lang="en-US" sz="1800" b="1" dirty="0">
                <a:solidFill>
                  <a:srgbClr val="FFFFFF"/>
                </a:solidFill>
              </a:rPr>
              <a:t>1</a:t>
            </a:r>
            <a:endParaRPr lang="en-US" sz="1800" dirty="0"/>
          </a:p>
        </p:txBody>
      </p:sp>
      <p:sp>
        <p:nvSpPr>
          <p:cNvPr id="7" name="Text 4"/>
          <p:cNvSpPr/>
          <p:nvPr/>
        </p:nvSpPr>
        <p:spPr>
          <a:xfrm>
            <a:off x="2743200" y="1463040"/>
            <a:ext cx="7498080" cy="457200"/>
          </a:xfrm>
          <a:prstGeom prst="rect">
            <a:avLst/>
          </a:prstGeom>
          <a:noFill/>
          <a:ln/>
        </p:spPr>
        <p:txBody>
          <a:bodyPr wrap="square" rtlCol="0" anchor="ctr"/>
          <a:lstStyle/>
          <a:p>
            <a:pPr marL="0" indent="0" algn="l">
              <a:buNone/>
            </a:pPr>
            <a:r>
              <a:rPr lang="en-US" sz="1800" b="1" dirty="0">
                <a:solidFill>
                  <a:srgbClr val="002060"/>
                </a:solidFill>
              </a:rPr>
              <a:t>Motivation &amp; Project Goal   </a:t>
            </a:r>
            <a:r>
              <a:rPr lang="en-US" sz="1300" i="1" dirty="0">
                <a:solidFill>
                  <a:srgbClr val="6B7280"/>
                </a:solidFill>
              </a:rPr>
              <a:t>Why a hands-free, attention-driven guide</a:t>
            </a:r>
          </a:p>
        </p:txBody>
      </p:sp>
      <p:sp>
        <p:nvSpPr>
          <p:cNvPr id="8" name="Shape 5"/>
          <p:cNvSpPr/>
          <p:nvPr/>
        </p:nvSpPr>
        <p:spPr>
          <a:xfrm>
            <a:off x="2011680" y="2240280"/>
            <a:ext cx="457200" cy="457200"/>
          </a:xfrm>
          <a:prstGeom prst="ellipse">
            <a:avLst/>
          </a:prstGeom>
          <a:solidFill>
            <a:srgbClr val="002060"/>
          </a:solidFill>
          <a:ln/>
        </p:spPr>
        <p:txBody>
          <a:bodyPr/>
          <a:lstStyle/>
          <a:p>
            <a:endParaRPr lang="fr-FR"/>
          </a:p>
        </p:txBody>
      </p:sp>
      <p:sp>
        <p:nvSpPr>
          <p:cNvPr id="9" name="Text 6"/>
          <p:cNvSpPr/>
          <p:nvPr/>
        </p:nvSpPr>
        <p:spPr>
          <a:xfrm>
            <a:off x="2011680" y="2240280"/>
            <a:ext cx="457200" cy="457200"/>
          </a:xfrm>
          <a:prstGeom prst="rect">
            <a:avLst/>
          </a:prstGeom>
          <a:noFill/>
          <a:ln/>
        </p:spPr>
        <p:txBody>
          <a:bodyPr wrap="square" rtlCol="0" anchor="ctr"/>
          <a:lstStyle/>
          <a:p>
            <a:pPr marL="0" indent="0" algn="ctr">
              <a:buNone/>
            </a:pPr>
            <a:r>
              <a:rPr lang="en-US" sz="1800" b="1" dirty="0">
                <a:solidFill>
                  <a:srgbClr val="FFFFFF"/>
                </a:solidFill>
              </a:rPr>
              <a:t>2</a:t>
            </a:r>
            <a:endParaRPr lang="en-US" sz="1800" dirty="0"/>
          </a:p>
        </p:txBody>
      </p:sp>
      <p:sp>
        <p:nvSpPr>
          <p:cNvPr id="10" name="Text 7"/>
          <p:cNvSpPr/>
          <p:nvPr/>
        </p:nvSpPr>
        <p:spPr>
          <a:xfrm>
            <a:off x="2743200" y="2240280"/>
            <a:ext cx="7498080" cy="457200"/>
          </a:xfrm>
          <a:prstGeom prst="rect">
            <a:avLst/>
          </a:prstGeom>
          <a:noFill/>
          <a:ln/>
        </p:spPr>
        <p:txBody>
          <a:bodyPr wrap="square" rtlCol="0" anchor="ctr"/>
          <a:lstStyle/>
          <a:p>
            <a:pPr marL="0" indent="0" algn="l">
              <a:buNone/>
            </a:pPr>
            <a:r>
              <a:rPr lang="en-US" sz="1800" b="1" dirty="0">
                <a:solidFill>
                  <a:srgbClr val="002060"/>
                </a:solidFill>
              </a:rPr>
              <a:t>Background &amp; Related Work   </a:t>
            </a:r>
            <a:r>
              <a:rPr lang="en-US" sz="1300" i="1" dirty="0">
                <a:solidFill>
                  <a:srgbClr val="6B7280"/>
                </a:solidFill>
              </a:rPr>
              <a:t>Project Aria, enabling AI and the gap we fill</a:t>
            </a:r>
          </a:p>
        </p:txBody>
      </p:sp>
      <p:sp>
        <p:nvSpPr>
          <p:cNvPr id="11" name="Shape 8"/>
          <p:cNvSpPr/>
          <p:nvPr/>
        </p:nvSpPr>
        <p:spPr>
          <a:xfrm>
            <a:off x="2011680" y="3017520"/>
            <a:ext cx="457200" cy="457200"/>
          </a:xfrm>
          <a:prstGeom prst="ellipse">
            <a:avLst/>
          </a:prstGeom>
          <a:solidFill>
            <a:srgbClr val="002060"/>
          </a:solidFill>
          <a:ln/>
        </p:spPr>
        <p:txBody>
          <a:bodyPr/>
          <a:lstStyle/>
          <a:p>
            <a:endParaRPr lang="fr-FR"/>
          </a:p>
        </p:txBody>
      </p:sp>
      <p:sp>
        <p:nvSpPr>
          <p:cNvPr id="12" name="Text 9"/>
          <p:cNvSpPr/>
          <p:nvPr/>
        </p:nvSpPr>
        <p:spPr>
          <a:xfrm>
            <a:off x="2011680" y="3017520"/>
            <a:ext cx="457200" cy="457200"/>
          </a:xfrm>
          <a:prstGeom prst="rect">
            <a:avLst/>
          </a:prstGeom>
          <a:noFill/>
          <a:ln/>
        </p:spPr>
        <p:txBody>
          <a:bodyPr wrap="square" rtlCol="0" anchor="ctr"/>
          <a:lstStyle/>
          <a:p>
            <a:pPr marL="0" indent="0" algn="ctr">
              <a:buNone/>
            </a:pPr>
            <a:r>
              <a:rPr lang="en-US" sz="1800" b="1" dirty="0">
                <a:solidFill>
                  <a:srgbClr val="FFFFFF"/>
                </a:solidFill>
              </a:rPr>
              <a:t>3</a:t>
            </a:r>
            <a:endParaRPr lang="en-US" sz="1800" dirty="0"/>
          </a:p>
        </p:txBody>
      </p:sp>
      <p:sp>
        <p:nvSpPr>
          <p:cNvPr id="13" name="Text 10"/>
          <p:cNvSpPr/>
          <p:nvPr/>
        </p:nvSpPr>
        <p:spPr>
          <a:xfrm>
            <a:off x="2743200" y="3017520"/>
            <a:ext cx="7498080" cy="457200"/>
          </a:xfrm>
          <a:prstGeom prst="rect">
            <a:avLst/>
          </a:prstGeom>
          <a:noFill/>
          <a:ln/>
        </p:spPr>
        <p:txBody>
          <a:bodyPr wrap="square" rtlCol="0" anchor="ctr"/>
          <a:lstStyle/>
          <a:p>
            <a:pPr marL="0" indent="0" algn="l">
              <a:buNone/>
            </a:pPr>
            <a:r>
              <a:rPr lang="en-US" sz="1800" b="1" dirty="0">
                <a:solidFill>
                  <a:srgbClr val="002060"/>
                </a:solidFill>
              </a:rPr>
              <a:t>Our Solution   </a:t>
            </a:r>
            <a:r>
              <a:rPr lang="en-US" sz="1300" i="1" dirty="0">
                <a:solidFill>
                  <a:srgbClr val="6B7280"/>
                </a:solidFill>
              </a:rPr>
              <a:t>Perception, recognition, narration, playback control</a:t>
            </a:r>
          </a:p>
        </p:txBody>
      </p:sp>
      <p:sp>
        <p:nvSpPr>
          <p:cNvPr id="14" name="Shape 11"/>
          <p:cNvSpPr/>
          <p:nvPr/>
        </p:nvSpPr>
        <p:spPr>
          <a:xfrm>
            <a:off x="2011680" y="3794760"/>
            <a:ext cx="457200" cy="457200"/>
          </a:xfrm>
          <a:prstGeom prst="ellipse">
            <a:avLst/>
          </a:prstGeom>
          <a:solidFill>
            <a:srgbClr val="002060"/>
          </a:solidFill>
          <a:ln/>
        </p:spPr>
        <p:txBody>
          <a:bodyPr/>
          <a:lstStyle/>
          <a:p>
            <a:endParaRPr lang="fr-FR"/>
          </a:p>
        </p:txBody>
      </p:sp>
      <p:sp>
        <p:nvSpPr>
          <p:cNvPr id="15" name="Text 12"/>
          <p:cNvSpPr/>
          <p:nvPr/>
        </p:nvSpPr>
        <p:spPr>
          <a:xfrm>
            <a:off x="2011680" y="3794760"/>
            <a:ext cx="457200" cy="457200"/>
          </a:xfrm>
          <a:prstGeom prst="rect">
            <a:avLst/>
          </a:prstGeom>
          <a:noFill/>
          <a:ln/>
        </p:spPr>
        <p:txBody>
          <a:bodyPr wrap="square" rtlCol="0" anchor="ctr"/>
          <a:lstStyle/>
          <a:p>
            <a:pPr marL="0" indent="0" algn="ctr">
              <a:buNone/>
            </a:pPr>
            <a:r>
              <a:rPr lang="en-US" sz="1800" b="1" dirty="0">
                <a:solidFill>
                  <a:srgbClr val="FFFFFF"/>
                </a:solidFill>
              </a:rPr>
              <a:t>4</a:t>
            </a:r>
            <a:endParaRPr lang="en-US" sz="1800" dirty="0"/>
          </a:p>
        </p:txBody>
      </p:sp>
      <p:sp>
        <p:nvSpPr>
          <p:cNvPr id="16" name="Text 13"/>
          <p:cNvSpPr/>
          <p:nvPr/>
        </p:nvSpPr>
        <p:spPr>
          <a:xfrm>
            <a:off x="2743200" y="3794760"/>
            <a:ext cx="7498080" cy="457200"/>
          </a:xfrm>
          <a:prstGeom prst="rect">
            <a:avLst/>
          </a:prstGeom>
          <a:noFill/>
          <a:ln/>
        </p:spPr>
        <p:txBody>
          <a:bodyPr wrap="square" rtlCol="0" anchor="ctr"/>
          <a:lstStyle/>
          <a:p>
            <a:pPr marL="0" indent="0" algn="l">
              <a:buNone/>
            </a:pPr>
            <a:r>
              <a:rPr lang="en-US" sz="1800" b="1" dirty="0">
                <a:solidFill>
                  <a:srgbClr val="002060"/>
                </a:solidFill>
              </a:rPr>
              <a:t>Personalized Visitor Experience   </a:t>
            </a:r>
            <a:r>
              <a:rPr lang="en-US" sz="1300" i="1" dirty="0">
                <a:solidFill>
                  <a:srgbClr val="6B7280"/>
                </a:solidFill>
              </a:rPr>
              <a:t>Language, age, expertise and description length</a:t>
            </a:r>
          </a:p>
        </p:txBody>
      </p:sp>
      <p:sp>
        <p:nvSpPr>
          <p:cNvPr id="17" name="Shape 14"/>
          <p:cNvSpPr/>
          <p:nvPr/>
        </p:nvSpPr>
        <p:spPr>
          <a:xfrm>
            <a:off x="2011680" y="4572000"/>
            <a:ext cx="457200" cy="457200"/>
          </a:xfrm>
          <a:prstGeom prst="ellipse">
            <a:avLst/>
          </a:prstGeom>
          <a:solidFill>
            <a:srgbClr val="002060"/>
          </a:solidFill>
          <a:ln/>
        </p:spPr>
        <p:txBody>
          <a:bodyPr/>
          <a:lstStyle/>
          <a:p>
            <a:endParaRPr lang="fr-FR"/>
          </a:p>
        </p:txBody>
      </p:sp>
      <p:sp>
        <p:nvSpPr>
          <p:cNvPr id="18" name="Text 15"/>
          <p:cNvSpPr/>
          <p:nvPr/>
        </p:nvSpPr>
        <p:spPr>
          <a:xfrm>
            <a:off x="2011680" y="4572000"/>
            <a:ext cx="457200" cy="457200"/>
          </a:xfrm>
          <a:prstGeom prst="rect">
            <a:avLst/>
          </a:prstGeom>
          <a:noFill/>
          <a:ln/>
        </p:spPr>
        <p:txBody>
          <a:bodyPr wrap="square" rtlCol="0" anchor="ctr"/>
          <a:lstStyle/>
          <a:p>
            <a:pPr marL="0" indent="0" algn="ctr">
              <a:buNone/>
            </a:pPr>
            <a:r>
              <a:rPr lang="en-US" sz="1800" b="1" dirty="0">
                <a:solidFill>
                  <a:srgbClr val="FFFFFF"/>
                </a:solidFill>
              </a:rPr>
              <a:t>5</a:t>
            </a:r>
            <a:endParaRPr lang="en-US" sz="1800" dirty="0"/>
          </a:p>
        </p:txBody>
      </p:sp>
      <p:sp>
        <p:nvSpPr>
          <p:cNvPr id="19" name="Text 16"/>
          <p:cNvSpPr/>
          <p:nvPr/>
        </p:nvSpPr>
        <p:spPr>
          <a:xfrm>
            <a:off x="2743200" y="4572000"/>
            <a:ext cx="7498080" cy="457200"/>
          </a:xfrm>
          <a:prstGeom prst="rect">
            <a:avLst/>
          </a:prstGeom>
          <a:noFill/>
          <a:ln/>
        </p:spPr>
        <p:txBody>
          <a:bodyPr wrap="square" rtlCol="0" anchor="ctr"/>
          <a:lstStyle/>
          <a:p>
            <a:pPr marL="0" indent="0" algn="l">
              <a:buNone/>
            </a:pPr>
            <a:r>
              <a:rPr lang="en-US" sz="1800" b="1" dirty="0">
                <a:solidFill>
                  <a:srgbClr val="002060"/>
                </a:solidFill>
              </a:rPr>
              <a:t>Demo &amp; Results   </a:t>
            </a:r>
            <a:r>
              <a:rPr lang="en-US" sz="1300" i="1" dirty="0">
                <a:solidFill>
                  <a:srgbClr val="6B7280"/>
                </a:solidFill>
              </a:rPr>
              <a:t>Live demo, latency benchmark, Tel Aviv Museum field test</a:t>
            </a:r>
          </a:p>
        </p:txBody>
      </p:sp>
      <p:sp>
        <p:nvSpPr>
          <p:cNvPr id="20" name="Shape 17"/>
          <p:cNvSpPr/>
          <p:nvPr/>
        </p:nvSpPr>
        <p:spPr>
          <a:xfrm>
            <a:off x="2011680" y="5349240"/>
            <a:ext cx="457200" cy="457200"/>
          </a:xfrm>
          <a:prstGeom prst="ellipse">
            <a:avLst/>
          </a:prstGeom>
          <a:solidFill>
            <a:srgbClr val="002060"/>
          </a:solidFill>
          <a:ln/>
        </p:spPr>
        <p:txBody>
          <a:bodyPr/>
          <a:lstStyle/>
          <a:p>
            <a:endParaRPr lang="fr-FR"/>
          </a:p>
        </p:txBody>
      </p:sp>
      <p:sp>
        <p:nvSpPr>
          <p:cNvPr id="21" name="Text 18"/>
          <p:cNvSpPr/>
          <p:nvPr/>
        </p:nvSpPr>
        <p:spPr>
          <a:xfrm>
            <a:off x="2011680" y="5349240"/>
            <a:ext cx="457200" cy="457200"/>
          </a:xfrm>
          <a:prstGeom prst="rect">
            <a:avLst/>
          </a:prstGeom>
          <a:noFill/>
          <a:ln/>
        </p:spPr>
        <p:txBody>
          <a:bodyPr wrap="square" rtlCol="0" anchor="ctr"/>
          <a:lstStyle/>
          <a:p>
            <a:pPr marL="0" indent="0" algn="ctr">
              <a:buNone/>
            </a:pPr>
            <a:r>
              <a:rPr lang="en-US" sz="1800" b="1" dirty="0">
                <a:solidFill>
                  <a:srgbClr val="FFFFFF"/>
                </a:solidFill>
              </a:rPr>
              <a:t>6</a:t>
            </a:r>
            <a:endParaRPr lang="en-US" sz="1800" dirty="0"/>
          </a:p>
        </p:txBody>
      </p:sp>
      <p:sp>
        <p:nvSpPr>
          <p:cNvPr id="22" name="Text 19"/>
          <p:cNvSpPr/>
          <p:nvPr/>
        </p:nvSpPr>
        <p:spPr>
          <a:xfrm>
            <a:off x="2743200" y="5349240"/>
            <a:ext cx="7498080" cy="457200"/>
          </a:xfrm>
          <a:prstGeom prst="rect">
            <a:avLst/>
          </a:prstGeom>
          <a:noFill/>
          <a:ln/>
        </p:spPr>
        <p:txBody>
          <a:bodyPr wrap="square" rtlCol="0" anchor="ctr"/>
          <a:lstStyle/>
          <a:p>
            <a:pPr marL="0" indent="0" algn="l">
              <a:buNone/>
            </a:pPr>
            <a:r>
              <a:rPr lang="en-US" sz="1800" b="1" dirty="0">
                <a:solidFill>
                  <a:srgbClr val="002060"/>
                </a:solidFill>
              </a:rPr>
              <a:t>Business Case &amp; Next Steps   </a:t>
            </a:r>
            <a:r>
              <a:rPr lang="en-US" sz="1300" i="1" dirty="0">
                <a:solidFill>
                  <a:srgbClr val="6B7280"/>
                </a:solidFill>
              </a:rPr>
              <a:t>Go-to-market, limitations, future work</a:t>
            </a:r>
          </a:p>
        </p:txBody>
      </p:sp>
      <p:pic>
        <p:nvPicPr>
          <p:cNvPr id="23" name="Image 22">
            <a:extLst>
              <a:ext uri="{FF2B5EF4-FFF2-40B4-BE49-F238E27FC236}">
                <a16:creationId xmlns:a16="http://schemas.microsoft.com/office/drawing/2014/main" id="{73AF2701-0F84-EE46-C056-56F9E77F5DE3}"/>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2321510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3</a:t>
            </a:r>
            <a:endParaRPr lang="en-US" sz="1100" dirty="0"/>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ea typeface="Calibri" pitchFamily="34" charset="-122"/>
                <a:cs typeface="Calibri" pitchFamily="34" charset="-120"/>
              </a:rPr>
              <a:t>Motivation</a:t>
            </a:r>
            <a:endParaRPr lang="en-US" sz="2700" dirty="0"/>
          </a:p>
        </p:txBody>
      </p:sp>
      <p:sp>
        <p:nvSpPr>
          <p:cNvPr id="5" name="Text 2"/>
          <p:cNvSpPr/>
          <p:nvPr/>
        </p:nvSpPr>
        <p:spPr>
          <a:xfrm>
            <a:off x="914400" y="1325880"/>
            <a:ext cx="10362895" cy="457200"/>
          </a:xfrm>
          <a:prstGeom prst="rect">
            <a:avLst/>
          </a:prstGeom>
          <a:noFill/>
          <a:ln/>
        </p:spPr>
        <p:txBody>
          <a:bodyPr wrap="square" rtlCol="0" anchor="ctr"/>
          <a:lstStyle/>
          <a:p>
            <a:pPr marL="0" indent="0" algn="ctr">
              <a:buNone/>
            </a:pPr>
            <a:r>
              <a:rPr lang="en-US" sz="1600" i="1" dirty="0">
                <a:solidFill>
                  <a:srgbClr val="0E7490"/>
                </a:solidFill>
              </a:rPr>
              <a:t>Audio guides should follow the visitor's attention - not the other way around.</a:t>
            </a:r>
            <a:endParaRPr lang="en-US" sz="1600" dirty="0"/>
          </a:p>
        </p:txBody>
      </p:sp>
      <p:sp>
        <p:nvSpPr>
          <p:cNvPr id="6" name="Shape 3"/>
          <p:cNvSpPr/>
          <p:nvPr/>
        </p:nvSpPr>
        <p:spPr>
          <a:xfrm>
            <a:off x="1005840" y="2011680"/>
            <a:ext cx="4846320" cy="3010000"/>
          </a:xfrm>
          <a:prstGeom prst="roundRect">
            <a:avLst>
              <a:gd name="adj" fmla="val 1750"/>
            </a:avLst>
          </a:prstGeom>
          <a:solidFill>
            <a:srgbClr val="FBECEC"/>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7" name="Text 4"/>
          <p:cNvSpPr/>
          <p:nvPr/>
        </p:nvSpPr>
        <p:spPr>
          <a:xfrm>
            <a:off x="1280160" y="2240280"/>
            <a:ext cx="4297680" cy="365760"/>
          </a:xfrm>
          <a:prstGeom prst="rect">
            <a:avLst/>
          </a:prstGeom>
          <a:noFill/>
          <a:ln/>
        </p:spPr>
        <p:txBody>
          <a:bodyPr wrap="square" rtlCol="0" anchor="ctr"/>
          <a:lstStyle/>
          <a:p>
            <a:pPr marL="0" indent="0">
              <a:buNone/>
            </a:pPr>
            <a:r>
              <a:rPr lang="en-US" sz="1800" b="1" dirty="0">
                <a:solidFill>
                  <a:srgbClr val="9B2C2C"/>
                </a:solidFill>
              </a:rPr>
              <a:t>Traditional audio guides</a:t>
            </a:r>
            <a:endParaRPr lang="en-US" sz="1800" dirty="0"/>
          </a:p>
        </p:txBody>
      </p:sp>
      <p:sp>
        <p:nvSpPr>
          <p:cNvPr id="8" name="Text 5"/>
          <p:cNvSpPr/>
          <p:nvPr/>
        </p:nvSpPr>
        <p:spPr>
          <a:xfrm>
            <a:off x="1280160" y="2697480"/>
            <a:ext cx="4297680" cy="220000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rPr>
              <a:t>Manual: type a number or scan a code for each work</a:t>
            </a:r>
            <a:endParaRPr lang="en-US" sz="1450" dirty="0"/>
          </a:p>
          <a:p>
            <a:pPr marL="342900" indent="-342900">
              <a:spcAft>
                <a:spcPts val="800"/>
              </a:spcAft>
              <a:buSzPct val="100000"/>
              <a:buChar char="•"/>
            </a:pPr>
            <a:r>
              <a:rPr lang="en-US" sz="1450" dirty="0">
                <a:solidFill>
                  <a:srgbClr val="222222"/>
                </a:solidFill>
              </a:rPr>
              <a:t>Hands and eyes busy with a device, not the art</a:t>
            </a:r>
            <a:endParaRPr lang="en-US" sz="1450" dirty="0"/>
          </a:p>
          <a:p>
            <a:pPr marL="342900" indent="-342900">
              <a:spcAft>
                <a:spcPts val="800"/>
              </a:spcAft>
              <a:buSzPct val="100000"/>
              <a:buChar char="•"/>
            </a:pPr>
            <a:r>
              <a:rPr lang="en-US" sz="1450" dirty="0">
                <a:solidFill>
                  <a:srgbClr val="222222"/>
                </a:solidFill>
              </a:rPr>
              <a:t>Fixed, pre-recorded track per catalogued item</a:t>
            </a:r>
            <a:endParaRPr lang="en-US" sz="1450" dirty="0"/>
          </a:p>
          <a:p>
            <a:pPr marL="342900" indent="-342900">
              <a:spcAft>
                <a:spcPts val="800"/>
              </a:spcAft>
              <a:buSzPct val="100000"/>
              <a:buChar char="•"/>
            </a:pPr>
            <a:r>
              <a:rPr lang="en-US" sz="1450" dirty="0">
                <a:solidFill>
                  <a:srgbClr val="222222"/>
                </a:solidFill>
              </a:rPr>
              <a:t>Nothing to say about un-catalogued works</a:t>
            </a:r>
            <a:endParaRPr lang="en-US" sz="1450" dirty="0"/>
          </a:p>
          <a:p>
            <a:pPr marL="342900" indent="-342900">
              <a:spcAft>
                <a:spcPts val="800"/>
              </a:spcAft>
              <a:buSzPct val="100000"/>
              <a:buChar char="•"/>
            </a:pPr>
            <a:r>
              <a:rPr lang="en-US" sz="1450" dirty="0">
                <a:solidFill>
                  <a:srgbClr val="222222"/>
                </a:solidFill>
              </a:rPr>
              <a:t>No idea what the visitor is actually looking at</a:t>
            </a:r>
            <a:endParaRPr lang="en-US" sz="1450" dirty="0"/>
          </a:p>
        </p:txBody>
      </p:sp>
      <p:sp>
        <p:nvSpPr>
          <p:cNvPr id="9" name="Shape 6"/>
          <p:cNvSpPr/>
          <p:nvPr/>
        </p:nvSpPr>
        <p:spPr>
          <a:xfrm>
            <a:off x="6309360" y="2011680"/>
            <a:ext cx="4846320" cy="3010000"/>
          </a:xfrm>
          <a:prstGeom prst="roundRect">
            <a:avLst>
              <a:gd name="adj" fmla="val 1750"/>
            </a:avLst>
          </a:prstGeom>
          <a:solidFill>
            <a:srgbClr val="E7F1F1"/>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0" name="Text 7"/>
          <p:cNvSpPr/>
          <p:nvPr/>
        </p:nvSpPr>
        <p:spPr>
          <a:xfrm>
            <a:off x="6583680" y="2240280"/>
            <a:ext cx="4297680" cy="365760"/>
          </a:xfrm>
          <a:prstGeom prst="rect">
            <a:avLst/>
          </a:prstGeom>
          <a:noFill/>
          <a:ln/>
        </p:spPr>
        <p:txBody>
          <a:bodyPr wrap="square" rtlCol="0" anchor="ctr"/>
          <a:lstStyle/>
          <a:p>
            <a:pPr marL="0" indent="0">
              <a:buNone/>
            </a:pPr>
            <a:r>
              <a:rPr lang="en-US" sz="1800" b="1" dirty="0">
                <a:solidFill>
                  <a:srgbClr val="0E7490"/>
                </a:solidFill>
              </a:rPr>
              <a:t>What we want</a:t>
            </a:r>
            <a:endParaRPr lang="en-US" sz="1800" dirty="0"/>
          </a:p>
        </p:txBody>
      </p:sp>
      <p:sp>
        <p:nvSpPr>
          <p:cNvPr id="11" name="Text 8"/>
          <p:cNvSpPr/>
          <p:nvPr/>
        </p:nvSpPr>
        <p:spPr>
          <a:xfrm>
            <a:off x="6583680" y="2697480"/>
            <a:ext cx="4297680" cy="220000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rPr>
              <a:t>Fully hands-free - stop in front of a work and it speaks</a:t>
            </a:r>
          </a:p>
          <a:p>
            <a:pPr marL="342900" indent="-342900">
              <a:spcAft>
                <a:spcPts val="800"/>
              </a:spcAft>
              <a:buSzPct val="100000"/>
              <a:buChar char="•"/>
            </a:pPr>
            <a:r>
              <a:rPr lang="en-US" sz="1450" dirty="0">
                <a:solidFill>
                  <a:srgbClr val="222222"/>
                </a:solidFill>
              </a:rPr>
              <a:t>Narration follows the visitor's attention (motion + dwell)</a:t>
            </a:r>
          </a:p>
          <a:p>
            <a:pPr marL="342900" indent="-342900">
              <a:spcAft>
                <a:spcPts val="800"/>
              </a:spcAft>
              <a:buSzPct val="100000"/>
              <a:buChar char="•"/>
            </a:pPr>
            <a:r>
              <a:rPr lang="en-US" sz="1450" dirty="0">
                <a:solidFill>
                  <a:srgbClr val="222222"/>
                </a:solidFill>
              </a:rPr>
              <a:t>Descriptions generated on the fly, never pre-recorded</a:t>
            </a:r>
          </a:p>
          <a:p>
            <a:pPr marL="342900" indent="-342900">
              <a:spcAft>
                <a:spcPts val="800"/>
              </a:spcAft>
              <a:buSzPct val="100000"/>
              <a:buChar char="•"/>
            </a:pPr>
            <a:r>
              <a:rPr lang="en-US" sz="1450" dirty="0">
                <a:solidFill>
                  <a:srgbClr val="222222"/>
                </a:solidFill>
              </a:rPr>
              <a:t>Works for catalogued and free-visit (unknown) works</a:t>
            </a:r>
          </a:p>
          <a:p>
            <a:pPr marL="342900" indent="-342900">
              <a:spcAft>
                <a:spcPts val="800"/>
              </a:spcAft>
              <a:buSzPct val="100000"/>
              <a:buChar char="•"/>
            </a:pPr>
            <a:r>
              <a:rPr lang="en-US" sz="1450" dirty="0">
                <a:solidFill>
                  <a:srgbClr val="222222"/>
                </a:solidFill>
              </a:rPr>
              <a:t>Low latency: first sound in under 3 s</a:t>
            </a:r>
          </a:p>
        </p:txBody>
      </p:sp>
      <p:pic>
        <p:nvPicPr>
          <p:cNvPr id="12" name="Image 11">
            <a:extLst>
              <a:ext uri="{FF2B5EF4-FFF2-40B4-BE49-F238E27FC236}">
                <a16:creationId xmlns:a16="http://schemas.microsoft.com/office/drawing/2014/main" id="{C5770AFA-D6EE-DBE5-C432-B7CDCAA417F9}"/>
              </a:ext>
            </a:extLst>
          </p:cNvPr>
          <p:cNvPicPr>
            <a:picLocks noChangeAspect="1"/>
          </p:cNvPicPr>
          <p:nvPr/>
        </p:nvPicPr>
        <p:blipFill>
          <a:blip r:embed="rId3"/>
          <a:stretch>
            <a:fillRect/>
          </a:stretch>
        </p:blipFill>
        <p:spPr>
          <a:xfrm>
            <a:off x="226678" y="378008"/>
            <a:ext cx="2578357" cy="572968"/>
          </a:xfrm>
          <a:prstGeom prst="rect">
            <a:avLst/>
          </a:prstGeom>
        </p:spPr>
      </p:pic>
      <p:sp>
        <p:nvSpPr>
          <p:cNvPr id="20" name="Business Card"/>
          <p:cNvSpPr/>
          <p:nvPr/>
        </p:nvSpPr>
        <p:spPr>
          <a:xfrm>
            <a:off x="1005840" y="5230000"/>
            <a:ext cx="10149840" cy="980000"/>
          </a:xfrm>
          <a:prstGeom prst="roundRect">
            <a:avLst>
              <a:gd name="adj" fmla="val 1750"/>
            </a:avLst>
          </a:prstGeom>
          <a:solidFill>
            <a:srgbClr val="FBF3E2"/>
          </a:solidFill>
          <a:ln w="12700">
            <a:solidFill>
              <a:srgbClr val="E3D6B5"/>
            </a:solidFill>
            <a:prstDash val="solid"/>
          </a:ln>
          <a:effectLst>
            <a:outerShdw blurRad="88900" dist="38100" dir="8100000" algn="bl" rotWithShape="0">
              <a:srgbClr val="000000">
                <a:alpha val="13000"/>
              </a:srgbClr>
            </a:outerShdw>
          </a:effectLst>
        </p:spPr>
        <p:txBody>
          <a:bodyPr/>
          <a:lstStyle/>
          <a:p>
            <a:endParaRPr lang="fr-FR"/>
          </a:p>
        </p:txBody>
      </p:sp>
      <p:sp>
        <p:nvSpPr>
          <p:cNvPr id="21" name="Business Text"/>
          <p:cNvSpPr/>
          <p:nvPr/>
        </p:nvSpPr>
        <p:spPr>
          <a:xfrm>
            <a:off x="1280160" y="5300000"/>
            <a:ext cx="9601200" cy="840000"/>
          </a:xfrm>
          <a:prstGeom prst="rect">
            <a:avLst/>
          </a:prstGeom>
          <a:noFill/>
          <a:ln/>
        </p:spPr>
        <p:txBody>
          <a:bodyPr wrap="square" rtlCol="0" anchor="ctr"/>
          <a:lstStyle/>
          <a:p>
            <a:pPr marL="0" indent="0">
              <a:buNone/>
            </a:pPr>
            <a:r>
              <a:rPr lang="en-US" sz="1500" b="1" dirty="0">
                <a:solidFill>
                  <a:srgbClr val="9A6A00"/>
                </a:solidFill>
              </a:rPr>
              <a:t>Business angle  </a:t>
            </a:r>
            <a:r>
              <a:rPr lang="en-US" sz="1350" dirty="0">
                <a:solidFill>
                  <a:srgbClr val="222222"/>
                </a:solidFill>
              </a:rPr>
              <a:t>One system serves any collection - no per-museum recording, no manual tagging. Lower content cost, instant multilingual coverage (EN / FR / ES) and per-visitor personalization, delivered as a SaaS / licensing offer to museums, galleries and heritage sites - tested on site in collaboration with the Tel Aviv Museum of Art.</a:t>
            </a:r>
          </a:p>
        </p:txBody>
      </p:sp>
    </p:spTree>
    <p:extLst>
      <p:ext uri="{BB962C8B-B14F-4D97-AF65-F5344CB8AC3E}">
        <p14:creationId xmlns:p14="http://schemas.microsoft.com/office/powerpoint/2010/main" val="3307767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4</a:t>
            </a:r>
            <a:endParaRPr lang="en-US" sz="1100" dirty="0"/>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ea typeface="Calibri" pitchFamily="34" charset="-122"/>
                <a:cs typeface="Calibri" pitchFamily="34" charset="-120"/>
              </a:rPr>
              <a:t>Project Goal</a:t>
            </a:r>
            <a:endParaRPr lang="en-US" sz="2700" dirty="0"/>
          </a:p>
        </p:txBody>
      </p:sp>
      <p:sp>
        <p:nvSpPr>
          <p:cNvPr id="5" name="Text 2"/>
          <p:cNvSpPr/>
          <p:nvPr/>
        </p:nvSpPr>
        <p:spPr>
          <a:xfrm>
            <a:off x="1005840" y="1417320"/>
            <a:ext cx="10180015" cy="914400"/>
          </a:xfrm>
          <a:prstGeom prst="rect">
            <a:avLst/>
          </a:prstGeom>
          <a:noFill/>
          <a:ln/>
        </p:spPr>
        <p:txBody>
          <a:bodyPr wrap="square" rtlCol="0" anchor="ctr"/>
          <a:lstStyle/>
          <a:p>
            <a:pPr marL="0" indent="0" algn="l">
              <a:buNone/>
            </a:pPr>
            <a:r>
              <a:rPr lang="en-US" sz="1700" dirty="0">
                <a:solidFill>
                  <a:srgbClr val="222222"/>
                </a:solidFill>
              </a:rPr>
              <a:t>Deliver a </a:t>
            </a:r>
            <a:r>
              <a:rPr lang="en-US" sz="1700" b="1" dirty="0">
                <a:solidFill>
                  <a:srgbClr val="002060"/>
                </a:solidFill>
              </a:rPr>
              <a:t>hands-free, personalized museum audio guide</a:t>
            </a:r>
            <a:r>
              <a:rPr lang="en-US" sz="1700" dirty="0">
                <a:solidFill>
                  <a:srgbClr val="222222"/>
                </a:solidFill>
              </a:rPr>
              <a:t> on Meta Aria smart glasses: it detects when the visitor stops in front of a work, recognizes it with a vision-language model, and speaks a generated description adapted to the visitor - with low latency, on any collection.</a:t>
            </a:r>
          </a:p>
        </p:txBody>
      </p:sp>
      <p:sp>
        <p:nvSpPr>
          <p:cNvPr id="6" name="Text 3"/>
          <p:cNvSpPr/>
          <p:nvPr/>
        </p:nvSpPr>
        <p:spPr>
          <a:xfrm>
            <a:off x="1005840" y="2697480"/>
            <a:ext cx="4572000" cy="365760"/>
          </a:xfrm>
          <a:prstGeom prst="rect">
            <a:avLst/>
          </a:prstGeom>
          <a:noFill/>
          <a:ln/>
        </p:spPr>
        <p:txBody>
          <a:bodyPr wrap="square" rtlCol="0" anchor="ctr"/>
          <a:lstStyle/>
          <a:p>
            <a:pPr marL="0" indent="0">
              <a:buNone/>
            </a:pPr>
            <a:r>
              <a:rPr lang="en-US" sz="1800" b="1" dirty="0">
                <a:solidFill>
                  <a:srgbClr val="002060"/>
                </a:solidFill>
              </a:rPr>
              <a:t>Goals</a:t>
            </a:r>
            <a:endParaRPr lang="en-US" sz="1800" dirty="0"/>
          </a:p>
        </p:txBody>
      </p:sp>
      <p:sp>
        <p:nvSpPr>
          <p:cNvPr id="7" name="Text 4"/>
          <p:cNvSpPr/>
          <p:nvPr/>
        </p:nvSpPr>
        <p:spPr>
          <a:xfrm>
            <a:off x="1005840" y="3108960"/>
            <a:ext cx="5852160" cy="219456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rPr>
              <a:t>Seamless, low-latency narration driven by visitor attention</a:t>
            </a:r>
          </a:p>
          <a:p>
            <a:pPr marL="342900" indent="-342900">
              <a:spcAft>
                <a:spcPts val="800"/>
              </a:spcAft>
              <a:buSzPct val="100000"/>
              <a:buChar char="•"/>
            </a:pPr>
            <a:r>
              <a:rPr lang="en-US" sz="1450" dirty="0">
                <a:solidFill>
                  <a:srgbClr val="222222"/>
                </a:solidFill>
              </a:rPr>
              <a:t>Natural guide narration, personalized per visitor (language, age, expertise, length)</a:t>
            </a:r>
          </a:p>
          <a:p>
            <a:pPr marL="342900" indent="-342900">
              <a:spcAft>
                <a:spcPts val="800"/>
              </a:spcAft>
              <a:buSzPct val="100000"/>
              <a:buChar char="•"/>
            </a:pPr>
            <a:r>
              <a:rPr lang="en-US" sz="1450" dirty="0">
                <a:solidFill>
                  <a:srgbClr val="222222"/>
                </a:solidFill>
              </a:rPr>
              <a:t>Handle both catalogued and free-visit (unknown) works</a:t>
            </a:r>
          </a:p>
          <a:p>
            <a:pPr marL="342900" indent="-342900">
              <a:spcAft>
                <a:spcPts val="800"/>
              </a:spcAft>
              <a:buSzPct val="100000"/>
              <a:buChar char="•"/>
            </a:pPr>
            <a:r>
              <a:rPr lang="en-US" sz="1450" dirty="0">
                <a:solidFill>
                  <a:srgbClr val="222222"/>
                </a:solidFill>
              </a:rPr>
              <a:t>Walk / pause / resume behaviour that feels natural in a gallery</a:t>
            </a:r>
          </a:p>
          <a:p>
            <a:pPr marL="342900" indent="-342900">
              <a:spcAft>
                <a:spcPts val="800"/>
              </a:spcAft>
              <a:buSzPct val="100000"/>
              <a:buChar char="•"/>
            </a:pPr>
            <a:r>
              <a:rPr lang="en-US" sz="1450" dirty="0">
                <a:solidFill>
                  <a:srgbClr val="222222"/>
                </a:solidFill>
              </a:rPr>
              <a:t>Validate in a real museum, not only in the lab</a:t>
            </a:r>
          </a:p>
        </p:txBody>
      </p:sp>
      <p:sp>
        <p:nvSpPr>
          <p:cNvPr id="8" name="Shape 5"/>
          <p:cNvSpPr/>
          <p:nvPr/>
        </p:nvSpPr>
        <p:spPr>
          <a:xfrm>
            <a:off x="7223760" y="2697480"/>
            <a:ext cx="3931920" cy="3017520"/>
          </a:xfrm>
          <a:prstGeom prst="roundRect">
            <a:avLst>
              <a:gd name="adj" fmla="val 2121"/>
            </a:avLst>
          </a:prstGeom>
          <a:solidFill>
            <a:srgbClr val="EEF3F8"/>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9" name="Text 6"/>
          <p:cNvSpPr/>
          <p:nvPr/>
        </p:nvSpPr>
        <p:spPr>
          <a:xfrm>
            <a:off x="7452360" y="2880360"/>
            <a:ext cx="3566160" cy="365760"/>
          </a:xfrm>
          <a:prstGeom prst="rect">
            <a:avLst/>
          </a:prstGeom>
          <a:noFill/>
          <a:ln/>
        </p:spPr>
        <p:txBody>
          <a:bodyPr wrap="square" rtlCol="0" anchor="ctr"/>
          <a:lstStyle/>
          <a:p>
            <a:pPr marL="0" indent="0">
              <a:buNone/>
            </a:pPr>
            <a:r>
              <a:rPr lang="en-US" sz="1550" b="1" dirty="0">
                <a:solidFill>
                  <a:srgbClr val="002060"/>
                </a:solidFill>
              </a:rPr>
              <a:t>Assumptions &amp; Constraints</a:t>
            </a:r>
            <a:endParaRPr lang="en-US" sz="1550" dirty="0"/>
          </a:p>
        </p:txBody>
      </p:sp>
      <p:sp>
        <p:nvSpPr>
          <p:cNvPr id="10" name="Text 7"/>
          <p:cNvSpPr/>
          <p:nvPr/>
        </p:nvSpPr>
        <p:spPr>
          <a:xfrm>
            <a:off x="7452360" y="3291840"/>
            <a:ext cx="3520440" cy="2286000"/>
          </a:xfrm>
          <a:prstGeom prst="rect">
            <a:avLst/>
          </a:prstGeom>
          <a:noFill/>
          <a:ln/>
        </p:spPr>
        <p:txBody>
          <a:bodyPr wrap="square" rtlCol="0" anchor="ctr"/>
          <a:lstStyle/>
          <a:p>
            <a:pPr marL="342900" indent="-342900">
              <a:spcAft>
                <a:spcPts val="800"/>
              </a:spcAft>
              <a:buSzPct val="100000"/>
              <a:buChar char="•"/>
            </a:pPr>
            <a:r>
              <a:rPr lang="en-US" sz="1450" dirty="0">
                <a:solidFill>
                  <a:srgbClr val="222222"/>
                </a:solidFill>
              </a:rPr>
              <a:t>Real-time egocentric RGB + IMU stream from Aria glasses</a:t>
            </a:r>
          </a:p>
          <a:p>
            <a:pPr marL="342900" indent="-342900">
              <a:spcAft>
                <a:spcPts val="800"/>
              </a:spcAft>
              <a:buSzPct val="100000"/>
              <a:buChar char="•"/>
            </a:pPr>
            <a:r>
              <a:rPr lang="en-US" sz="1450" dirty="0">
                <a:solidFill>
                  <a:srgbClr val="222222"/>
                </a:solidFill>
              </a:rPr>
              <a:t>Cloud vision / TTS - network latency must be hidden</a:t>
            </a:r>
          </a:p>
          <a:p>
            <a:pPr marL="342900" indent="-342900">
              <a:spcAft>
                <a:spcPts val="800"/>
              </a:spcAft>
              <a:buSzPct val="100000"/>
              <a:buChar char="•"/>
            </a:pPr>
            <a:r>
              <a:rPr lang="en-US" sz="1450" dirty="0">
                <a:solidFill>
                  <a:srgbClr val="222222"/>
                </a:solidFill>
              </a:rPr>
              <a:t>Aria is a capture device: all compute runs off-glass</a:t>
            </a:r>
          </a:p>
          <a:p>
            <a:pPr marL="342900" indent="-342900">
              <a:spcAft>
                <a:spcPts val="800"/>
              </a:spcAft>
              <a:buSzPct val="100000"/>
              <a:buChar char="•"/>
            </a:pPr>
            <a:r>
              <a:rPr lang="en-US" sz="1450" dirty="0">
                <a:solidFill>
                  <a:srgbClr val="222222"/>
                </a:solidFill>
              </a:rPr>
              <a:t>Prototype / POC built by a 2-person team (Python)</a:t>
            </a:r>
          </a:p>
        </p:txBody>
      </p:sp>
      <p:pic>
        <p:nvPicPr>
          <p:cNvPr id="11" name="Image 10">
            <a:extLst>
              <a:ext uri="{FF2B5EF4-FFF2-40B4-BE49-F238E27FC236}">
                <a16:creationId xmlns:a16="http://schemas.microsoft.com/office/drawing/2014/main" id="{918361BB-5EFA-2470-4FBD-7CF8F1115EDD}"/>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2669338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5</a:t>
            </a:r>
            <a:endParaRPr lang="en-US" sz="1100" dirty="0"/>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ea typeface="Calibri" pitchFamily="34" charset="-122"/>
                <a:cs typeface="Calibri" pitchFamily="34" charset="-120"/>
              </a:rPr>
              <a:t>Background: The Project Aria Platform</a:t>
            </a:r>
            <a:endParaRPr lang="en-US" sz="2700" dirty="0"/>
          </a:p>
        </p:txBody>
      </p:sp>
      <p:sp>
        <p:nvSpPr>
          <p:cNvPr id="5" name="Text 2"/>
          <p:cNvSpPr/>
          <p:nvPr/>
        </p:nvSpPr>
        <p:spPr>
          <a:xfrm>
            <a:off x="1005840" y="1371600"/>
            <a:ext cx="10180015" cy="822960"/>
          </a:xfrm>
          <a:prstGeom prst="rect">
            <a:avLst/>
          </a:prstGeom>
          <a:noFill/>
          <a:ln/>
        </p:spPr>
        <p:txBody>
          <a:bodyPr wrap="square" rtlCol="0" anchor="ctr"/>
          <a:lstStyle/>
          <a:p>
            <a:pPr marL="0" indent="0">
              <a:buNone/>
            </a:pPr>
            <a:r>
              <a:rPr lang="en-US" sz="1500" b="1" dirty="0">
                <a:solidFill>
                  <a:srgbClr val="002060"/>
                </a:solidFill>
              </a:rPr>
              <a:t>Project Aria</a:t>
            </a:r>
            <a:r>
              <a:rPr lang="en-US" sz="1500" dirty="0">
                <a:solidFill>
                  <a:srgbClr val="222222"/>
                </a:solidFill>
              </a:rPr>
              <a:t> (Meta Reality Labs) is a research pair of smart glasses for egocentric, multi-modal AI - a data-capture and streaming device, not an on-device compute platform.  [Engel et al., 2023]</a:t>
            </a:r>
            <a:endParaRPr lang="en-US" sz="1500" dirty="0"/>
          </a:p>
        </p:txBody>
      </p:sp>
      <p:sp>
        <p:nvSpPr>
          <p:cNvPr id="6" name="Shape 3"/>
          <p:cNvSpPr/>
          <p:nvPr/>
        </p:nvSpPr>
        <p:spPr>
          <a:xfrm>
            <a:off x="1003300" y="2374900"/>
            <a:ext cx="3291840" cy="1371600"/>
          </a:xfrm>
          <a:prstGeom prst="roundRect">
            <a:avLst>
              <a:gd name="adj" fmla="val 4000"/>
            </a:avLst>
          </a:prstGeom>
          <a:solidFill>
            <a:srgbClr val="EEF3F8"/>
          </a:solidFill>
          <a:ln w="12700">
            <a:solidFill>
              <a:srgbClr val="D7DEE8"/>
            </a:solidFill>
            <a:prstDash val="solid"/>
          </a:ln>
        </p:spPr>
        <p:txBody>
          <a:bodyPr/>
          <a:lstStyle/>
          <a:p>
            <a:endParaRPr lang="fr-FR"/>
          </a:p>
        </p:txBody>
      </p:sp>
      <p:sp>
        <p:nvSpPr>
          <p:cNvPr id="7" name="Shape 4"/>
          <p:cNvSpPr/>
          <p:nvPr/>
        </p:nvSpPr>
        <p:spPr>
          <a:xfrm>
            <a:off x="1003300" y="2374900"/>
            <a:ext cx="82296" cy="1371600"/>
          </a:xfrm>
          <a:prstGeom prst="rect">
            <a:avLst/>
          </a:prstGeom>
          <a:solidFill>
            <a:srgbClr val="0E7490"/>
          </a:solidFill>
          <a:ln/>
        </p:spPr>
        <p:txBody>
          <a:bodyPr/>
          <a:lstStyle/>
          <a:p>
            <a:endParaRPr lang="fr-FR"/>
          </a:p>
        </p:txBody>
      </p:sp>
      <p:sp>
        <p:nvSpPr>
          <p:cNvPr id="8" name="Text 5"/>
          <p:cNvSpPr/>
          <p:nvPr/>
        </p:nvSpPr>
        <p:spPr>
          <a:xfrm>
            <a:off x="1231900" y="2540000"/>
            <a:ext cx="2926080" cy="365760"/>
          </a:xfrm>
          <a:prstGeom prst="rect">
            <a:avLst/>
          </a:prstGeom>
          <a:noFill/>
          <a:ln/>
        </p:spPr>
        <p:txBody>
          <a:bodyPr wrap="square" rtlCol="0" anchor="ctr"/>
          <a:lstStyle/>
          <a:p>
            <a:pPr marL="0" indent="0">
              <a:buNone/>
            </a:pPr>
            <a:r>
              <a:rPr lang="en-US" sz="1500" b="1" dirty="0">
                <a:solidFill>
                  <a:srgbClr val="002060"/>
                </a:solidFill>
              </a:rPr>
              <a:t>RGB POV camera</a:t>
            </a:r>
            <a:endParaRPr lang="en-US" sz="1500" dirty="0"/>
          </a:p>
        </p:txBody>
      </p:sp>
      <p:sp>
        <p:nvSpPr>
          <p:cNvPr id="9" name="Text 6"/>
          <p:cNvSpPr/>
          <p:nvPr/>
        </p:nvSpPr>
        <p:spPr>
          <a:xfrm>
            <a:off x="1231900" y="2946400"/>
            <a:ext cx="2926080" cy="731520"/>
          </a:xfrm>
          <a:prstGeom prst="rect">
            <a:avLst/>
          </a:prstGeom>
          <a:noFill/>
          <a:ln/>
        </p:spPr>
        <p:txBody>
          <a:bodyPr wrap="square" rtlCol="0" anchor="ctr"/>
          <a:lstStyle/>
          <a:p>
            <a:pPr marL="0" indent="0">
              <a:buNone/>
            </a:pPr>
            <a:r>
              <a:rPr lang="en-US" sz="1200" dirty="0">
                <a:solidFill>
                  <a:srgbClr val="222222"/>
                </a:solidFill>
              </a:rPr>
              <a:t>Forward point-of-view, what the wearer sees</a:t>
            </a:r>
            <a:endParaRPr lang="en-US" sz="1200" dirty="0"/>
          </a:p>
        </p:txBody>
      </p:sp>
      <p:sp>
        <p:nvSpPr>
          <p:cNvPr id="14" name="Shape 11"/>
          <p:cNvSpPr/>
          <p:nvPr/>
        </p:nvSpPr>
        <p:spPr>
          <a:xfrm>
            <a:off x="4622800" y="2374900"/>
            <a:ext cx="3291840" cy="1371600"/>
          </a:xfrm>
          <a:prstGeom prst="roundRect">
            <a:avLst>
              <a:gd name="adj" fmla="val 4000"/>
            </a:avLst>
          </a:prstGeom>
          <a:solidFill>
            <a:srgbClr val="EEF3F8"/>
          </a:solidFill>
          <a:ln w="12700">
            <a:solidFill>
              <a:srgbClr val="D7DEE8"/>
            </a:solidFill>
            <a:prstDash val="solid"/>
          </a:ln>
        </p:spPr>
        <p:txBody>
          <a:bodyPr/>
          <a:lstStyle/>
          <a:p>
            <a:endParaRPr lang="fr-FR"/>
          </a:p>
        </p:txBody>
      </p:sp>
      <p:sp>
        <p:nvSpPr>
          <p:cNvPr id="15" name="Shape 12"/>
          <p:cNvSpPr/>
          <p:nvPr/>
        </p:nvSpPr>
        <p:spPr>
          <a:xfrm>
            <a:off x="4622800" y="2374900"/>
            <a:ext cx="82296" cy="1371600"/>
          </a:xfrm>
          <a:prstGeom prst="rect">
            <a:avLst/>
          </a:prstGeom>
          <a:solidFill>
            <a:srgbClr val="0E7490"/>
          </a:solidFill>
          <a:ln/>
        </p:spPr>
        <p:txBody>
          <a:bodyPr/>
          <a:lstStyle/>
          <a:p>
            <a:endParaRPr lang="fr-FR"/>
          </a:p>
        </p:txBody>
      </p:sp>
      <p:sp>
        <p:nvSpPr>
          <p:cNvPr id="16" name="Text 13"/>
          <p:cNvSpPr/>
          <p:nvPr/>
        </p:nvSpPr>
        <p:spPr>
          <a:xfrm>
            <a:off x="4851400" y="2540000"/>
            <a:ext cx="2926080" cy="365760"/>
          </a:xfrm>
          <a:prstGeom prst="rect">
            <a:avLst/>
          </a:prstGeom>
          <a:noFill/>
          <a:ln/>
        </p:spPr>
        <p:txBody>
          <a:bodyPr wrap="square" rtlCol="0" anchor="ctr"/>
          <a:lstStyle/>
          <a:p>
            <a:pPr marL="0" indent="0">
              <a:buNone/>
            </a:pPr>
            <a:r>
              <a:rPr lang="en-US" sz="1500" b="1" dirty="0">
                <a:solidFill>
                  <a:srgbClr val="002060"/>
                </a:solidFill>
              </a:rPr>
              <a:t>Dual IMU</a:t>
            </a:r>
            <a:endParaRPr lang="en-US" sz="1500" dirty="0"/>
          </a:p>
        </p:txBody>
      </p:sp>
      <p:sp>
        <p:nvSpPr>
          <p:cNvPr id="17" name="Text 14"/>
          <p:cNvSpPr/>
          <p:nvPr/>
        </p:nvSpPr>
        <p:spPr>
          <a:xfrm>
            <a:off x="4851400" y="2946400"/>
            <a:ext cx="2926080" cy="731520"/>
          </a:xfrm>
          <a:prstGeom prst="rect">
            <a:avLst/>
          </a:prstGeom>
          <a:noFill/>
          <a:ln/>
        </p:spPr>
        <p:txBody>
          <a:bodyPr wrap="square" rtlCol="0" anchor="ctr"/>
          <a:lstStyle/>
          <a:p>
            <a:pPr marL="0" indent="0">
              <a:buNone/>
            </a:pPr>
            <a:r>
              <a:rPr lang="en-US" sz="1200" dirty="0">
                <a:solidFill>
                  <a:srgbClr val="222222"/>
                </a:solidFill>
              </a:rPr>
              <a:t>Head motion / immobility (up to 1 kHz)</a:t>
            </a:r>
            <a:endParaRPr lang="en-US" sz="1200" dirty="0"/>
          </a:p>
        </p:txBody>
      </p:sp>
      <p:sp>
        <p:nvSpPr>
          <p:cNvPr id="18" name="Shape 15"/>
          <p:cNvSpPr/>
          <p:nvPr/>
        </p:nvSpPr>
        <p:spPr>
          <a:xfrm>
            <a:off x="8229600" y="2374900"/>
            <a:ext cx="3291840" cy="1371600"/>
          </a:xfrm>
          <a:prstGeom prst="roundRect">
            <a:avLst>
              <a:gd name="adj" fmla="val 4000"/>
            </a:avLst>
          </a:prstGeom>
          <a:solidFill>
            <a:srgbClr val="EEF3F8"/>
          </a:solidFill>
          <a:ln w="12700">
            <a:solidFill>
              <a:srgbClr val="D7DEE8"/>
            </a:solidFill>
            <a:prstDash val="solid"/>
          </a:ln>
        </p:spPr>
        <p:txBody>
          <a:bodyPr/>
          <a:lstStyle/>
          <a:p>
            <a:endParaRPr lang="fr-FR"/>
          </a:p>
        </p:txBody>
      </p:sp>
      <p:sp>
        <p:nvSpPr>
          <p:cNvPr id="19" name="Shape 16"/>
          <p:cNvSpPr/>
          <p:nvPr/>
        </p:nvSpPr>
        <p:spPr>
          <a:xfrm>
            <a:off x="8229600" y="2374900"/>
            <a:ext cx="82296" cy="1371600"/>
          </a:xfrm>
          <a:prstGeom prst="rect">
            <a:avLst/>
          </a:prstGeom>
          <a:solidFill>
            <a:srgbClr val="0E7490"/>
          </a:solidFill>
          <a:ln/>
        </p:spPr>
        <p:txBody>
          <a:bodyPr/>
          <a:lstStyle/>
          <a:p>
            <a:endParaRPr lang="fr-FR"/>
          </a:p>
        </p:txBody>
      </p:sp>
      <p:sp>
        <p:nvSpPr>
          <p:cNvPr id="20" name="Text 17"/>
          <p:cNvSpPr/>
          <p:nvPr/>
        </p:nvSpPr>
        <p:spPr>
          <a:xfrm>
            <a:off x="8458200" y="2540000"/>
            <a:ext cx="2926080" cy="365760"/>
          </a:xfrm>
          <a:prstGeom prst="rect">
            <a:avLst/>
          </a:prstGeom>
          <a:noFill/>
          <a:ln/>
        </p:spPr>
        <p:txBody>
          <a:bodyPr wrap="square" rtlCol="0" anchor="ctr"/>
          <a:lstStyle/>
          <a:p>
            <a:pPr marL="0" indent="0">
              <a:buNone/>
            </a:pPr>
            <a:r>
              <a:rPr lang="en-US" sz="1500" b="1" dirty="0">
                <a:solidFill>
                  <a:srgbClr val="002060"/>
                </a:solidFill>
              </a:rPr>
              <a:t>Microphones</a:t>
            </a:r>
            <a:endParaRPr lang="en-US" sz="1500" dirty="0"/>
          </a:p>
        </p:txBody>
      </p:sp>
      <p:sp>
        <p:nvSpPr>
          <p:cNvPr id="21" name="Text 18"/>
          <p:cNvSpPr/>
          <p:nvPr/>
        </p:nvSpPr>
        <p:spPr>
          <a:xfrm>
            <a:off x="8458200" y="2946400"/>
            <a:ext cx="2926080" cy="731520"/>
          </a:xfrm>
          <a:prstGeom prst="rect">
            <a:avLst/>
          </a:prstGeom>
          <a:noFill/>
          <a:ln/>
        </p:spPr>
        <p:txBody>
          <a:bodyPr wrap="square" rtlCol="0" anchor="ctr"/>
          <a:lstStyle/>
          <a:p>
            <a:pPr marL="0" indent="0">
              <a:buNone/>
            </a:pPr>
            <a:r>
              <a:rPr lang="en-US" sz="1200" dirty="0">
                <a:solidFill>
                  <a:srgbClr val="222222"/>
                </a:solidFill>
              </a:rPr>
              <a:t>7-mic spatial audio array</a:t>
            </a:r>
            <a:endParaRPr lang="en-US" sz="1200" dirty="0"/>
          </a:p>
        </p:txBody>
      </p:sp>
      <p:sp>
        <p:nvSpPr>
          <p:cNvPr id="22" name="Shape 19"/>
          <p:cNvSpPr/>
          <p:nvPr/>
        </p:nvSpPr>
        <p:spPr>
          <a:xfrm>
            <a:off x="2717800" y="4064000"/>
            <a:ext cx="3291840" cy="1371600"/>
          </a:xfrm>
          <a:prstGeom prst="roundRect">
            <a:avLst>
              <a:gd name="adj" fmla="val 4000"/>
            </a:avLst>
          </a:prstGeom>
          <a:solidFill>
            <a:srgbClr val="EEF3F8"/>
          </a:solidFill>
          <a:ln w="12700">
            <a:solidFill>
              <a:srgbClr val="D7DEE8"/>
            </a:solidFill>
            <a:prstDash val="solid"/>
          </a:ln>
        </p:spPr>
        <p:txBody>
          <a:bodyPr/>
          <a:lstStyle/>
          <a:p>
            <a:endParaRPr lang="fr-FR"/>
          </a:p>
        </p:txBody>
      </p:sp>
      <p:sp>
        <p:nvSpPr>
          <p:cNvPr id="23" name="Shape 20"/>
          <p:cNvSpPr/>
          <p:nvPr/>
        </p:nvSpPr>
        <p:spPr>
          <a:xfrm>
            <a:off x="2717800" y="4064000"/>
            <a:ext cx="82296" cy="1371600"/>
          </a:xfrm>
          <a:prstGeom prst="rect">
            <a:avLst/>
          </a:prstGeom>
          <a:solidFill>
            <a:srgbClr val="0E7490"/>
          </a:solidFill>
          <a:ln/>
        </p:spPr>
        <p:txBody>
          <a:bodyPr/>
          <a:lstStyle/>
          <a:p>
            <a:endParaRPr lang="fr-FR"/>
          </a:p>
        </p:txBody>
      </p:sp>
      <p:sp>
        <p:nvSpPr>
          <p:cNvPr id="24" name="Text 21"/>
          <p:cNvSpPr/>
          <p:nvPr/>
        </p:nvSpPr>
        <p:spPr>
          <a:xfrm>
            <a:off x="2946400" y="4229100"/>
            <a:ext cx="2926080" cy="365760"/>
          </a:xfrm>
          <a:prstGeom prst="rect">
            <a:avLst/>
          </a:prstGeom>
          <a:noFill/>
          <a:ln/>
        </p:spPr>
        <p:txBody>
          <a:bodyPr wrap="square" rtlCol="0" anchor="ctr"/>
          <a:lstStyle/>
          <a:p>
            <a:pPr marL="0" indent="0">
              <a:buNone/>
            </a:pPr>
            <a:r>
              <a:rPr lang="en-US" sz="1500" b="1" dirty="0">
                <a:solidFill>
                  <a:srgbClr val="002060"/>
                </a:solidFill>
              </a:rPr>
              <a:t>VRS streaming</a:t>
            </a:r>
            <a:endParaRPr lang="en-US" sz="1500" dirty="0"/>
          </a:p>
        </p:txBody>
      </p:sp>
      <p:sp>
        <p:nvSpPr>
          <p:cNvPr id="25" name="Text 22"/>
          <p:cNvSpPr/>
          <p:nvPr/>
        </p:nvSpPr>
        <p:spPr>
          <a:xfrm>
            <a:off x="2946400" y="4635500"/>
            <a:ext cx="2926080" cy="731520"/>
          </a:xfrm>
          <a:prstGeom prst="rect">
            <a:avLst/>
          </a:prstGeom>
          <a:noFill/>
          <a:ln/>
        </p:spPr>
        <p:txBody>
          <a:bodyPr wrap="square" rtlCol="0" anchor="ctr"/>
          <a:lstStyle/>
          <a:p>
            <a:pPr marL="0" indent="0">
              <a:buNone/>
            </a:pPr>
            <a:r>
              <a:rPr lang="en-US" sz="1200" dirty="0">
                <a:solidFill>
                  <a:srgbClr val="222222"/>
                </a:solidFill>
              </a:rPr>
              <a:t>Time-aligned sensor streams over USB / Wi-Fi</a:t>
            </a:r>
            <a:endParaRPr lang="en-US" sz="1200" dirty="0"/>
          </a:p>
        </p:txBody>
      </p:sp>
      <p:sp>
        <p:nvSpPr>
          <p:cNvPr id="26" name="Shape 23"/>
          <p:cNvSpPr/>
          <p:nvPr/>
        </p:nvSpPr>
        <p:spPr>
          <a:xfrm>
            <a:off x="6324600" y="4064000"/>
            <a:ext cx="3291840" cy="1371600"/>
          </a:xfrm>
          <a:prstGeom prst="roundRect">
            <a:avLst>
              <a:gd name="adj" fmla="val 4000"/>
            </a:avLst>
          </a:prstGeom>
          <a:solidFill>
            <a:srgbClr val="EEF3F8"/>
          </a:solidFill>
          <a:ln w="12700">
            <a:solidFill>
              <a:srgbClr val="D7DEE8"/>
            </a:solidFill>
            <a:prstDash val="solid"/>
          </a:ln>
        </p:spPr>
        <p:txBody>
          <a:bodyPr/>
          <a:lstStyle/>
          <a:p>
            <a:endParaRPr lang="fr-FR"/>
          </a:p>
        </p:txBody>
      </p:sp>
      <p:sp>
        <p:nvSpPr>
          <p:cNvPr id="27" name="Shape 24"/>
          <p:cNvSpPr/>
          <p:nvPr/>
        </p:nvSpPr>
        <p:spPr>
          <a:xfrm>
            <a:off x="6324600" y="4064000"/>
            <a:ext cx="82296" cy="1371600"/>
          </a:xfrm>
          <a:prstGeom prst="rect">
            <a:avLst/>
          </a:prstGeom>
          <a:solidFill>
            <a:srgbClr val="0E7490"/>
          </a:solidFill>
          <a:ln/>
        </p:spPr>
        <p:txBody>
          <a:bodyPr/>
          <a:lstStyle/>
          <a:p>
            <a:endParaRPr lang="fr-FR"/>
          </a:p>
        </p:txBody>
      </p:sp>
      <p:sp>
        <p:nvSpPr>
          <p:cNvPr id="28" name="Text 25"/>
          <p:cNvSpPr/>
          <p:nvPr/>
        </p:nvSpPr>
        <p:spPr>
          <a:xfrm>
            <a:off x="6553200" y="4229100"/>
            <a:ext cx="2926080" cy="365760"/>
          </a:xfrm>
          <a:prstGeom prst="rect">
            <a:avLst/>
          </a:prstGeom>
          <a:noFill/>
          <a:ln/>
        </p:spPr>
        <p:txBody>
          <a:bodyPr wrap="square" rtlCol="0" anchor="ctr"/>
          <a:lstStyle/>
          <a:p>
            <a:pPr marL="0" indent="0">
              <a:buNone/>
            </a:pPr>
            <a:r>
              <a:rPr lang="en-US" sz="1500" b="1" dirty="0">
                <a:solidFill>
                  <a:srgbClr val="002060"/>
                </a:solidFill>
              </a:rPr>
              <a:t>MPS</a:t>
            </a:r>
            <a:endParaRPr lang="en-US" sz="1500" dirty="0"/>
          </a:p>
        </p:txBody>
      </p:sp>
      <p:sp>
        <p:nvSpPr>
          <p:cNvPr id="29" name="Text 26"/>
          <p:cNvSpPr/>
          <p:nvPr/>
        </p:nvSpPr>
        <p:spPr>
          <a:xfrm>
            <a:off x="6553200" y="4635500"/>
            <a:ext cx="2926080" cy="731520"/>
          </a:xfrm>
          <a:prstGeom prst="rect">
            <a:avLst/>
          </a:prstGeom>
          <a:noFill/>
          <a:ln/>
        </p:spPr>
        <p:txBody>
          <a:bodyPr wrap="square" rtlCol="0" anchor="ctr"/>
          <a:lstStyle/>
          <a:p>
            <a:pPr marL="0" indent="0">
              <a:buNone/>
            </a:pPr>
            <a:r>
              <a:rPr lang="en-US" sz="1200" dirty="0">
                <a:solidFill>
                  <a:srgbClr val="222222"/>
                </a:solidFill>
              </a:rPr>
              <a:t>Trajectory, point cloud, eye-gaze post-processing</a:t>
            </a:r>
            <a:endParaRPr lang="en-US" sz="1200" dirty="0"/>
          </a:p>
        </p:txBody>
      </p:sp>
      <p:sp>
        <p:nvSpPr>
          <p:cNvPr id="30" name="Text 27"/>
          <p:cNvSpPr/>
          <p:nvPr/>
        </p:nvSpPr>
        <p:spPr>
          <a:xfrm>
            <a:off x="1005840" y="5897880"/>
            <a:ext cx="10180015" cy="365760"/>
          </a:xfrm>
          <a:prstGeom prst="rect">
            <a:avLst/>
          </a:prstGeom>
          <a:noFill/>
          <a:ln/>
        </p:spPr>
        <p:txBody>
          <a:bodyPr wrap="square" rtlCol="0" anchor="ctr"/>
          <a:lstStyle/>
          <a:p>
            <a:pPr marL="0" indent="0" algn="ctr">
              <a:buNone/>
            </a:pPr>
            <a:r>
              <a:rPr lang="en-US" sz="1300" i="1" dirty="0">
                <a:solidFill>
                  <a:srgbClr val="0E7490"/>
                </a:solidFill>
              </a:rPr>
              <a:t>Final system uses two streams: the RGB camera (what is in view) and the IMU (walking vs. standing still) - streamed over Wi-Fi.</a:t>
            </a:r>
          </a:p>
        </p:txBody>
      </p:sp>
      <p:pic>
        <p:nvPicPr>
          <p:cNvPr id="31" name="Image 30">
            <a:extLst>
              <a:ext uri="{FF2B5EF4-FFF2-40B4-BE49-F238E27FC236}">
                <a16:creationId xmlns:a16="http://schemas.microsoft.com/office/drawing/2014/main" id="{3F63B8E3-7B47-BA33-BECF-ACE3A1360275}"/>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336262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6</a:t>
            </a:r>
            <a:endParaRPr lang="en-US" sz="1100" dirty="0"/>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ea typeface="Calibri" pitchFamily="34" charset="-122"/>
                <a:cs typeface="Calibri" pitchFamily="34" charset="-120"/>
              </a:rPr>
              <a:t>Enabling AI Building Blocks</a:t>
            </a:r>
            <a:endParaRPr lang="en-US" sz="2700" dirty="0"/>
          </a:p>
        </p:txBody>
      </p:sp>
      <p:sp>
        <p:nvSpPr>
          <p:cNvPr id="5" name="Shape 2"/>
          <p:cNvSpPr/>
          <p:nvPr/>
        </p:nvSpPr>
        <p:spPr>
          <a:xfrm>
            <a:off x="822960" y="1828800"/>
            <a:ext cx="3520440" cy="4023360"/>
          </a:xfrm>
          <a:prstGeom prst="roundRect">
            <a:avLst>
              <a:gd name="adj" fmla="val 1558"/>
            </a:avLst>
          </a:prstGeom>
          <a:solidFill>
            <a:srgbClr val="FFFFFF"/>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6" name="Shape 3"/>
          <p:cNvSpPr/>
          <p:nvPr/>
        </p:nvSpPr>
        <p:spPr>
          <a:xfrm>
            <a:off x="822960" y="1828800"/>
            <a:ext cx="3520440" cy="777240"/>
          </a:xfrm>
          <a:prstGeom prst="roundRect">
            <a:avLst>
              <a:gd name="adj" fmla="val 7059"/>
            </a:avLst>
          </a:prstGeom>
          <a:solidFill>
            <a:srgbClr val="5B4B8A"/>
          </a:solidFill>
          <a:ln/>
        </p:spPr>
        <p:txBody>
          <a:bodyPr/>
          <a:lstStyle/>
          <a:p>
            <a:endParaRPr lang="fr-FR"/>
          </a:p>
        </p:txBody>
      </p:sp>
      <p:sp>
        <p:nvSpPr>
          <p:cNvPr id="7" name="Shape 4"/>
          <p:cNvSpPr/>
          <p:nvPr/>
        </p:nvSpPr>
        <p:spPr>
          <a:xfrm>
            <a:off x="822960" y="2240280"/>
            <a:ext cx="3520440" cy="365760"/>
          </a:xfrm>
          <a:prstGeom prst="rect">
            <a:avLst/>
          </a:prstGeom>
          <a:solidFill>
            <a:srgbClr val="5B4B8A"/>
          </a:solidFill>
          <a:ln/>
        </p:spPr>
        <p:txBody>
          <a:bodyPr/>
          <a:lstStyle/>
          <a:p>
            <a:endParaRPr lang="fr-FR"/>
          </a:p>
        </p:txBody>
      </p:sp>
      <p:sp>
        <p:nvSpPr>
          <p:cNvPr id="8" name="Text 5"/>
          <p:cNvSpPr/>
          <p:nvPr/>
        </p:nvSpPr>
        <p:spPr>
          <a:xfrm>
            <a:off x="960120" y="1828800"/>
            <a:ext cx="3246120" cy="777240"/>
          </a:xfrm>
          <a:prstGeom prst="rect">
            <a:avLst/>
          </a:prstGeom>
          <a:noFill/>
          <a:ln/>
        </p:spPr>
        <p:txBody>
          <a:bodyPr wrap="square" rtlCol="0" anchor="ctr"/>
          <a:lstStyle/>
          <a:p>
            <a:pPr marL="0" indent="0" algn="ctr">
              <a:buNone/>
            </a:pPr>
            <a:r>
              <a:rPr lang="en-US" sz="1600" b="1" dirty="0">
                <a:solidFill>
                  <a:srgbClr val="FFFFFF"/>
                </a:solidFill>
              </a:rPr>
              <a:t>Vision &amp; Language</a:t>
            </a:r>
          </a:p>
        </p:txBody>
      </p:sp>
      <p:sp>
        <p:nvSpPr>
          <p:cNvPr id="9" name="Text 6"/>
          <p:cNvSpPr/>
          <p:nvPr/>
        </p:nvSpPr>
        <p:spPr>
          <a:xfrm>
            <a:off x="1051560" y="2788920"/>
            <a:ext cx="3063240" cy="2834640"/>
          </a:xfrm>
          <a:prstGeom prst="rect">
            <a:avLst/>
          </a:prstGeom>
          <a:noFill/>
          <a:ln/>
        </p:spPr>
        <p:txBody>
          <a:bodyPr wrap="square" rtlCol="0" anchor="ctr"/>
          <a:lstStyle/>
          <a:p>
            <a:pPr marL="342900" indent="-342900">
              <a:spcAft>
                <a:spcPts val="1000"/>
              </a:spcAft>
              <a:buSzPct val="100000"/>
              <a:buChar char="•"/>
            </a:pPr>
            <a:r>
              <a:rPr lang="en-US" sz="1350" dirty="0">
                <a:solidFill>
                  <a:srgbClr val="222222"/>
                </a:solidFill>
              </a:rPr>
              <a:t>GPT-5.6-terra Vision via the Responses API (migrated from GPT-5.4-mini)</a:t>
            </a:r>
          </a:p>
          <a:p>
            <a:pPr marL="342900" indent="-342900">
              <a:spcAft>
                <a:spcPts val="1000"/>
              </a:spcAft>
              <a:buSzPct val="100000"/>
              <a:buChar char="•"/>
            </a:pPr>
            <a:r>
              <a:rPr lang="en-US" sz="1350" dirty="0">
                <a:solidFill>
                  <a:srgbClr val="222222"/>
                </a:solidFill>
              </a:rPr>
              <a:t>Open-set recognition from a single compressed frame</a:t>
            </a:r>
          </a:p>
          <a:p>
            <a:pPr marL="342900" indent="-342900">
              <a:spcAft>
                <a:spcPts val="1000"/>
              </a:spcAft>
              <a:buSzPct val="100000"/>
              <a:buChar char="•"/>
            </a:pPr>
            <a:r>
              <a:rPr lang="en-US" sz="1350" dirty="0">
                <a:solidFill>
                  <a:srgbClr val="222222"/>
                </a:solidFill>
              </a:rPr>
              <a:t>No per-museum training or tagging</a:t>
            </a:r>
          </a:p>
          <a:p>
            <a:pPr marL="342900" indent="-342900">
              <a:spcAft>
                <a:spcPts val="1000"/>
              </a:spcAft>
              <a:buSzPct val="100000"/>
              <a:buChar char="•"/>
            </a:pPr>
            <a:r>
              <a:rPr lang="en-US" sz="1350" dirty="0">
                <a:solidFill>
                  <a:srgbClr val="222222"/>
                </a:solidFill>
              </a:rPr>
              <a:t>Same call streams the guide script sentence by sentence</a:t>
            </a:r>
          </a:p>
        </p:txBody>
      </p:sp>
      <p:sp>
        <p:nvSpPr>
          <p:cNvPr id="10" name="Shape 7"/>
          <p:cNvSpPr/>
          <p:nvPr/>
        </p:nvSpPr>
        <p:spPr>
          <a:xfrm>
            <a:off x="4636008" y="1828800"/>
            <a:ext cx="3520440" cy="4023360"/>
          </a:xfrm>
          <a:prstGeom prst="roundRect">
            <a:avLst>
              <a:gd name="adj" fmla="val 1558"/>
            </a:avLst>
          </a:prstGeom>
          <a:solidFill>
            <a:srgbClr val="FFFFFF"/>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1" name="Shape 8"/>
          <p:cNvSpPr/>
          <p:nvPr/>
        </p:nvSpPr>
        <p:spPr>
          <a:xfrm>
            <a:off x="4636008" y="1828800"/>
            <a:ext cx="3520440" cy="777240"/>
          </a:xfrm>
          <a:prstGeom prst="roundRect">
            <a:avLst>
              <a:gd name="adj" fmla="val 7059"/>
            </a:avLst>
          </a:prstGeom>
          <a:solidFill>
            <a:srgbClr val="2E8B8B"/>
          </a:solidFill>
          <a:ln/>
        </p:spPr>
        <p:txBody>
          <a:bodyPr/>
          <a:lstStyle/>
          <a:p>
            <a:endParaRPr lang="fr-FR"/>
          </a:p>
        </p:txBody>
      </p:sp>
      <p:sp>
        <p:nvSpPr>
          <p:cNvPr id="12" name="Shape 9"/>
          <p:cNvSpPr/>
          <p:nvPr/>
        </p:nvSpPr>
        <p:spPr>
          <a:xfrm>
            <a:off x="4636008" y="2240280"/>
            <a:ext cx="3520440" cy="365760"/>
          </a:xfrm>
          <a:prstGeom prst="rect">
            <a:avLst/>
          </a:prstGeom>
          <a:solidFill>
            <a:srgbClr val="2E8B8B"/>
          </a:solidFill>
          <a:ln/>
        </p:spPr>
        <p:txBody>
          <a:bodyPr/>
          <a:lstStyle/>
          <a:p>
            <a:endParaRPr lang="fr-FR"/>
          </a:p>
        </p:txBody>
      </p:sp>
      <p:sp>
        <p:nvSpPr>
          <p:cNvPr id="13" name="Text 10"/>
          <p:cNvSpPr/>
          <p:nvPr/>
        </p:nvSpPr>
        <p:spPr>
          <a:xfrm>
            <a:off x="4773168" y="1828800"/>
            <a:ext cx="3246120" cy="777240"/>
          </a:xfrm>
          <a:prstGeom prst="rect">
            <a:avLst/>
          </a:prstGeom>
          <a:noFill/>
          <a:ln/>
        </p:spPr>
        <p:txBody>
          <a:bodyPr wrap="square" rtlCol="0" anchor="ctr"/>
          <a:lstStyle/>
          <a:p>
            <a:pPr marL="0" indent="0" algn="ctr">
              <a:buNone/>
            </a:pPr>
            <a:r>
              <a:rPr lang="en-US" sz="1600" b="1" dirty="0">
                <a:solidFill>
                  <a:srgbClr val="FFFFFF"/>
                </a:solidFill>
              </a:rPr>
              <a:t>Prompt Engineering</a:t>
            </a:r>
          </a:p>
        </p:txBody>
      </p:sp>
      <p:sp>
        <p:nvSpPr>
          <p:cNvPr id="14" name="Text 11"/>
          <p:cNvSpPr/>
          <p:nvPr/>
        </p:nvSpPr>
        <p:spPr>
          <a:xfrm>
            <a:off x="4864608" y="2788920"/>
            <a:ext cx="3063240" cy="2834640"/>
          </a:xfrm>
          <a:prstGeom prst="rect">
            <a:avLst/>
          </a:prstGeom>
          <a:noFill/>
          <a:ln/>
        </p:spPr>
        <p:txBody>
          <a:bodyPr wrap="square" rtlCol="0" anchor="ctr"/>
          <a:lstStyle/>
          <a:p>
            <a:pPr marL="342900" indent="-342900">
              <a:spcAft>
                <a:spcPts val="1000"/>
              </a:spcAft>
              <a:buSzPct val="100000"/>
              <a:buChar char="•"/>
            </a:pPr>
            <a:r>
              <a:rPr lang="en-US" sz="1350" dirty="0">
                <a:solidFill>
                  <a:srgbClr val="222222"/>
                </a:solidFill>
              </a:rPr>
              <a:t>System prompt built per visitor profile (language, register, depth, length)</a:t>
            </a:r>
          </a:p>
          <a:p>
            <a:pPr marL="342900" indent="-342900">
              <a:spcAft>
                <a:spcPts val="1000"/>
              </a:spcAft>
              <a:buSzPct val="100000"/>
              <a:buChar char="•"/>
            </a:pPr>
            <a:r>
              <a:rPr lang="en-US" sz="1350" dirty="0">
                <a:solidFill>
                  <a:srgbClr val="222222"/>
                </a:solidFill>
              </a:rPr>
              <a:t>Structured tokens: ARTWORK / NONE / END</a:t>
            </a:r>
          </a:p>
          <a:p>
            <a:pPr marL="342900" indent="-342900">
              <a:spcAft>
                <a:spcPts val="1000"/>
              </a:spcAft>
              <a:buSzPct val="100000"/>
              <a:buChar char="•"/>
            </a:pPr>
            <a:r>
              <a:rPr lang="en-US" sz="1350" dirty="0">
                <a:solidFill>
                  <a:srgbClr val="222222"/>
                </a:solidFill>
              </a:rPr>
              <a:t>Exclusion list against false positives; reproductions count as the work</a:t>
            </a:r>
          </a:p>
          <a:p>
            <a:pPr marL="342900" indent="-342900">
              <a:spcAft>
                <a:spcPts val="1000"/>
              </a:spcAft>
              <a:buSzPct val="100000"/>
              <a:buChar char="•"/>
            </a:pPr>
            <a:r>
              <a:rPr lang="en-US" sz="1350" dirty="0">
                <a:solidFill>
                  <a:srgbClr val="222222"/>
                </a:solidFill>
              </a:rPr>
              <a:t>Museum catalog injected as a closed candidate list, cached by the provider</a:t>
            </a:r>
          </a:p>
        </p:txBody>
      </p:sp>
      <p:sp>
        <p:nvSpPr>
          <p:cNvPr id="15" name="Shape 12"/>
          <p:cNvSpPr/>
          <p:nvPr/>
        </p:nvSpPr>
        <p:spPr>
          <a:xfrm>
            <a:off x="8449056" y="1828800"/>
            <a:ext cx="3520440" cy="4023360"/>
          </a:xfrm>
          <a:prstGeom prst="roundRect">
            <a:avLst>
              <a:gd name="adj" fmla="val 1558"/>
            </a:avLst>
          </a:prstGeom>
          <a:solidFill>
            <a:srgbClr val="FFFFFF"/>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6" name="Shape 13"/>
          <p:cNvSpPr/>
          <p:nvPr/>
        </p:nvSpPr>
        <p:spPr>
          <a:xfrm>
            <a:off x="8449056" y="1828800"/>
            <a:ext cx="3520440" cy="777240"/>
          </a:xfrm>
          <a:prstGeom prst="roundRect">
            <a:avLst>
              <a:gd name="adj" fmla="val 7059"/>
            </a:avLst>
          </a:prstGeom>
          <a:solidFill>
            <a:srgbClr val="C2671A"/>
          </a:solidFill>
          <a:ln/>
        </p:spPr>
        <p:txBody>
          <a:bodyPr/>
          <a:lstStyle/>
          <a:p>
            <a:endParaRPr lang="fr-FR"/>
          </a:p>
        </p:txBody>
      </p:sp>
      <p:sp>
        <p:nvSpPr>
          <p:cNvPr id="17" name="Shape 14"/>
          <p:cNvSpPr/>
          <p:nvPr/>
        </p:nvSpPr>
        <p:spPr>
          <a:xfrm>
            <a:off x="8449056" y="2240280"/>
            <a:ext cx="3520440" cy="365760"/>
          </a:xfrm>
          <a:prstGeom prst="rect">
            <a:avLst/>
          </a:prstGeom>
          <a:solidFill>
            <a:srgbClr val="C2671A"/>
          </a:solidFill>
          <a:ln/>
        </p:spPr>
        <p:txBody>
          <a:bodyPr/>
          <a:lstStyle/>
          <a:p>
            <a:endParaRPr lang="fr-FR"/>
          </a:p>
        </p:txBody>
      </p:sp>
      <p:sp>
        <p:nvSpPr>
          <p:cNvPr id="18" name="Text 15"/>
          <p:cNvSpPr/>
          <p:nvPr/>
        </p:nvSpPr>
        <p:spPr>
          <a:xfrm>
            <a:off x="8586216" y="1828800"/>
            <a:ext cx="3246120" cy="777240"/>
          </a:xfrm>
          <a:prstGeom prst="rect">
            <a:avLst/>
          </a:prstGeom>
          <a:noFill/>
          <a:ln/>
        </p:spPr>
        <p:txBody>
          <a:bodyPr wrap="square" rtlCol="0" anchor="ctr"/>
          <a:lstStyle/>
          <a:p>
            <a:pPr marL="0" indent="0" algn="ctr">
              <a:buNone/>
            </a:pPr>
            <a:r>
              <a:rPr lang="en-US" sz="1600" b="1" dirty="0">
                <a:solidFill>
                  <a:srgbClr val="FFFFFF"/>
                </a:solidFill>
              </a:rPr>
              <a:t>Text-to-Speech</a:t>
            </a:r>
          </a:p>
        </p:txBody>
      </p:sp>
      <p:sp>
        <p:nvSpPr>
          <p:cNvPr id="19" name="Text 16"/>
          <p:cNvSpPr/>
          <p:nvPr/>
        </p:nvSpPr>
        <p:spPr>
          <a:xfrm>
            <a:off x="8677656" y="2788920"/>
            <a:ext cx="3063240" cy="2834640"/>
          </a:xfrm>
          <a:prstGeom prst="rect">
            <a:avLst/>
          </a:prstGeom>
          <a:noFill/>
          <a:ln/>
        </p:spPr>
        <p:txBody>
          <a:bodyPr wrap="square" rtlCol="0" anchor="ctr"/>
          <a:lstStyle/>
          <a:p>
            <a:pPr marL="342900" indent="-342900">
              <a:spcAft>
                <a:spcPts val="1000"/>
              </a:spcAft>
              <a:buSzPct val="100000"/>
              <a:buChar char="•"/>
            </a:pPr>
            <a:r>
              <a:rPr lang="en-US" sz="1350" dirty="0">
                <a:solidFill>
                  <a:srgbClr val="222222"/>
                </a:solidFill>
              </a:rPr>
              <a:t>GPT-4o-mini-TTS with verbal style instructions (migrated from TTS-1)</a:t>
            </a:r>
          </a:p>
          <a:p>
            <a:pPr marL="342900" indent="-342900">
              <a:spcAft>
                <a:spcPts val="1000"/>
              </a:spcAft>
              <a:buSzPct val="100000"/>
              <a:buChar char="•"/>
            </a:pPr>
            <a:r>
              <a:rPr lang="en-US" sz="1350" dirty="0">
                <a:solidFill>
                  <a:srgbClr val="222222"/>
                </a:solidFill>
              </a:rPr>
              <a:t>Voice and speaking rate per age group (fable / nova / shimmer)</a:t>
            </a:r>
          </a:p>
          <a:p>
            <a:pPr marL="342900" indent="-342900">
              <a:spcAft>
                <a:spcPts val="1000"/>
              </a:spcAft>
              <a:buSzPct val="100000"/>
              <a:buChar char="•"/>
            </a:pPr>
            <a:r>
              <a:rPr lang="en-US" sz="1350" dirty="0">
                <a:solidFill>
                  <a:srgbClr val="222222"/>
                </a:solidFill>
              </a:rPr>
              <a:t>Per-sentence synthesis for low latency</a:t>
            </a:r>
          </a:p>
          <a:p>
            <a:pPr marL="342900" indent="-342900">
              <a:spcAft>
                <a:spcPts val="1000"/>
              </a:spcAft>
              <a:buSzPct val="100000"/>
              <a:buChar char="•"/>
            </a:pPr>
            <a:r>
              <a:rPr lang="en-US" sz="1350" dirty="0">
                <a:solidFill>
                  <a:srgbClr val="222222"/>
                </a:solidFill>
              </a:rPr>
              <a:t>Framing phrases pre-generated and cached on disk</a:t>
            </a:r>
          </a:p>
        </p:txBody>
      </p:sp>
      <p:sp>
        <p:nvSpPr>
          <p:cNvPr id="20" name="Text 17"/>
          <p:cNvSpPr/>
          <p:nvPr/>
        </p:nvSpPr>
        <p:spPr>
          <a:xfrm>
            <a:off x="822960" y="6035040"/>
            <a:ext cx="10545775" cy="365760"/>
          </a:xfrm>
          <a:prstGeom prst="rect">
            <a:avLst/>
          </a:prstGeom>
          <a:noFill/>
          <a:ln/>
        </p:spPr>
        <p:txBody>
          <a:bodyPr wrap="square" rtlCol="0" anchor="ctr"/>
          <a:lstStyle/>
          <a:p>
            <a:pPr marL="0" indent="0" algn="ctr">
              <a:buNone/>
            </a:pPr>
            <a:r>
              <a:rPr lang="en-US" sz="1300" i="1" dirty="0">
                <a:solidFill>
                  <a:srgbClr val="0E7490"/>
                </a:solidFill>
              </a:rPr>
              <a:t>Cloud models give strong recognition and natural speech; our engineering effort went into hiding their latency.</a:t>
            </a:r>
          </a:p>
        </p:txBody>
      </p:sp>
      <p:pic>
        <p:nvPicPr>
          <p:cNvPr id="21" name="Image 20">
            <a:extLst>
              <a:ext uri="{FF2B5EF4-FFF2-40B4-BE49-F238E27FC236}">
                <a16:creationId xmlns:a16="http://schemas.microsoft.com/office/drawing/2014/main" id="{38D7E805-C774-39A3-96E7-86CAAB84C0E4}"/>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337806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7</a:t>
            </a:r>
            <a:endParaRPr lang="en-US" sz="1100" dirty="0"/>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ea typeface="Calibri" pitchFamily="34" charset="-122"/>
                <a:cs typeface="Calibri" pitchFamily="34" charset="-120"/>
              </a:rPr>
              <a:t>Literature Survey</a:t>
            </a:r>
            <a:endParaRPr lang="en-US" sz="2700" dirty="0"/>
          </a:p>
        </p:txBody>
      </p:sp>
      <p:sp>
        <p:nvSpPr>
          <p:cNvPr id="5" name="Text 2"/>
          <p:cNvSpPr/>
          <p:nvPr/>
        </p:nvSpPr>
        <p:spPr>
          <a:xfrm>
            <a:off x="1005840" y="1325880"/>
            <a:ext cx="10180015" cy="365760"/>
          </a:xfrm>
          <a:prstGeom prst="rect">
            <a:avLst/>
          </a:prstGeom>
          <a:noFill/>
          <a:ln/>
        </p:spPr>
        <p:txBody>
          <a:bodyPr wrap="square" rtlCol="0" anchor="ctr"/>
          <a:lstStyle/>
          <a:p>
            <a:pPr marL="0" indent="0">
              <a:buNone/>
            </a:pPr>
            <a:r>
              <a:rPr lang="en-US" sz="1600" b="1" i="1" dirty="0">
                <a:solidFill>
                  <a:srgbClr val="002060"/>
                </a:solidFill>
              </a:rPr>
              <a:t>Vallez et al., 2020 - “Automatic Museum Audio Guide”, Sensors</a:t>
            </a:r>
            <a:endParaRPr lang="en-US" sz="1600" dirty="0"/>
          </a:p>
        </p:txBody>
      </p:sp>
      <p:sp>
        <p:nvSpPr>
          <p:cNvPr id="6" name="Text 3"/>
          <p:cNvSpPr/>
          <p:nvPr/>
        </p:nvSpPr>
        <p:spPr>
          <a:xfrm>
            <a:off x="1005840" y="1874520"/>
            <a:ext cx="6035040" cy="320040"/>
          </a:xfrm>
          <a:prstGeom prst="rect">
            <a:avLst/>
          </a:prstGeom>
          <a:noFill/>
          <a:ln/>
        </p:spPr>
        <p:txBody>
          <a:bodyPr wrap="square" rtlCol="0" anchor="ctr"/>
          <a:lstStyle/>
          <a:p>
            <a:pPr marL="0" indent="0">
              <a:buNone/>
            </a:pPr>
            <a:r>
              <a:rPr lang="en-US" sz="1500" b="1" dirty="0">
                <a:solidFill>
                  <a:srgbClr val="0E7490"/>
                </a:solidFill>
              </a:rPr>
              <a:t>Approach</a:t>
            </a:r>
            <a:endParaRPr lang="en-US" sz="1500" dirty="0"/>
          </a:p>
        </p:txBody>
      </p:sp>
      <p:sp>
        <p:nvSpPr>
          <p:cNvPr id="7" name="Text 4"/>
          <p:cNvSpPr/>
          <p:nvPr/>
        </p:nvSpPr>
        <p:spPr>
          <a:xfrm>
            <a:off x="1005840" y="2240280"/>
            <a:ext cx="6035040" cy="1463040"/>
          </a:xfrm>
          <a:prstGeom prst="rect">
            <a:avLst/>
          </a:prstGeom>
          <a:noFill/>
          <a:ln/>
        </p:spPr>
        <p:txBody>
          <a:bodyPr wrap="square" rtlCol="0" anchor="ctr"/>
          <a:lstStyle/>
          <a:p>
            <a:pPr marL="342900" indent="-342900">
              <a:spcAft>
                <a:spcPts val="700"/>
              </a:spcAft>
              <a:buSzPct val="100000"/>
              <a:buChar char="•"/>
            </a:pPr>
            <a:r>
              <a:rPr lang="en-US" sz="1400" dirty="0">
                <a:solidFill>
                  <a:srgbClr val="222222"/>
                </a:solidFill>
              </a:rPr>
              <a:t>Headset with a small camera + embedded vision board (EoT)</a:t>
            </a:r>
            <a:endParaRPr lang="en-US" sz="1400" dirty="0"/>
          </a:p>
          <a:p>
            <a:pPr marL="342900" indent="-342900">
              <a:spcAft>
                <a:spcPts val="700"/>
              </a:spcAft>
              <a:buSzPct val="100000"/>
              <a:buChar char="•"/>
            </a:pPr>
            <a:r>
              <a:rPr lang="en-US" sz="1400" dirty="0">
                <a:solidFill>
                  <a:srgbClr val="222222"/>
                </a:solidFill>
              </a:rPr>
              <a:t>Recognizes paintings with FAST keypoints + a Random Forest classifier</a:t>
            </a:r>
            <a:endParaRPr lang="en-US" sz="1400" dirty="0"/>
          </a:p>
          <a:p>
            <a:pPr marL="342900" indent="-342900">
              <a:spcAft>
                <a:spcPts val="700"/>
              </a:spcAft>
              <a:buSzPct val="100000"/>
              <a:buChar char="•"/>
            </a:pPr>
            <a:r>
              <a:rPr lang="en-US" sz="1400" dirty="0">
                <a:solidFill>
                  <a:srgbClr val="222222"/>
                </a:solidFill>
              </a:rPr>
              <a:t>Plays the matching audio when a painting is recognized</a:t>
            </a:r>
            <a:endParaRPr lang="en-US" sz="1400" dirty="0"/>
          </a:p>
        </p:txBody>
      </p:sp>
      <p:sp>
        <p:nvSpPr>
          <p:cNvPr id="8" name="Text 5"/>
          <p:cNvSpPr/>
          <p:nvPr/>
        </p:nvSpPr>
        <p:spPr>
          <a:xfrm>
            <a:off x="1005840" y="3840480"/>
            <a:ext cx="6035040" cy="320040"/>
          </a:xfrm>
          <a:prstGeom prst="rect">
            <a:avLst/>
          </a:prstGeom>
          <a:noFill/>
          <a:ln/>
        </p:spPr>
        <p:txBody>
          <a:bodyPr wrap="square" rtlCol="0" anchor="ctr"/>
          <a:lstStyle/>
          <a:p>
            <a:pPr marL="0" indent="0">
              <a:buNone/>
            </a:pPr>
            <a:r>
              <a:rPr lang="en-US" sz="1500" b="1" dirty="0">
                <a:solidFill>
                  <a:srgbClr val="0E7490"/>
                </a:solidFill>
              </a:rPr>
              <a:t>Strengths</a:t>
            </a:r>
            <a:endParaRPr lang="en-US" sz="1500" dirty="0"/>
          </a:p>
        </p:txBody>
      </p:sp>
      <p:sp>
        <p:nvSpPr>
          <p:cNvPr id="9" name="Text 6"/>
          <p:cNvSpPr/>
          <p:nvPr/>
        </p:nvSpPr>
        <p:spPr>
          <a:xfrm>
            <a:off x="1005840" y="4206240"/>
            <a:ext cx="6035040" cy="1554480"/>
          </a:xfrm>
          <a:prstGeom prst="rect">
            <a:avLst/>
          </a:prstGeom>
          <a:noFill/>
          <a:ln/>
        </p:spPr>
        <p:txBody>
          <a:bodyPr wrap="square" rtlCol="0" anchor="ctr"/>
          <a:lstStyle/>
          <a:p>
            <a:pPr marL="342900" indent="-342900">
              <a:spcAft>
                <a:spcPts val="700"/>
              </a:spcAft>
              <a:buSzPct val="100000"/>
              <a:buChar char="•"/>
            </a:pPr>
            <a:r>
              <a:rPr lang="en-US" sz="1400" dirty="0">
                <a:solidFill>
                  <a:srgbClr val="222222"/>
                </a:solidFill>
              </a:rPr>
              <a:t>Truly hands-free; recognition runs continuously</a:t>
            </a:r>
            <a:endParaRPr lang="en-US" sz="1400" dirty="0"/>
          </a:p>
          <a:p>
            <a:pPr marL="342900" indent="-342900">
              <a:spcAft>
                <a:spcPts val="700"/>
              </a:spcAft>
              <a:buSzPct val="100000"/>
              <a:buChar char="•"/>
            </a:pPr>
            <a:r>
              <a:rPr lang="en-US" sz="1400" dirty="0">
                <a:solidFill>
                  <a:srgbClr val="222222"/>
                </a:solidFill>
              </a:rPr>
              <a:t>Very low power - runs a full day on battery</a:t>
            </a:r>
            <a:endParaRPr lang="en-US" sz="1400" dirty="0"/>
          </a:p>
          <a:p>
            <a:pPr marL="342900" indent="-342900">
              <a:spcAft>
                <a:spcPts val="700"/>
              </a:spcAft>
              <a:buSzPct val="100000"/>
              <a:buChar char="•"/>
            </a:pPr>
            <a:r>
              <a:rPr lang="en-US" sz="1400" dirty="0">
                <a:solidFill>
                  <a:srgbClr val="222222"/>
                </a:solidFill>
              </a:rPr>
              <a:t>Validated in a real-museum pilot; users preferred it to classic guides</a:t>
            </a:r>
            <a:endParaRPr lang="en-US" sz="1400" dirty="0"/>
          </a:p>
        </p:txBody>
      </p:sp>
      <p:sp>
        <p:nvSpPr>
          <p:cNvPr id="10" name="Shape 7"/>
          <p:cNvSpPr/>
          <p:nvPr/>
        </p:nvSpPr>
        <p:spPr>
          <a:xfrm>
            <a:off x="7498080" y="1874520"/>
            <a:ext cx="3657600" cy="3840480"/>
          </a:xfrm>
          <a:prstGeom prst="roundRect">
            <a:avLst>
              <a:gd name="adj" fmla="val 1750"/>
            </a:avLst>
          </a:prstGeom>
          <a:solidFill>
            <a:srgbClr val="FBF1E7"/>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1" name="Shape 8"/>
          <p:cNvSpPr/>
          <p:nvPr/>
        </p:nvSpPr>
        <p:spPr>
          <a:xfrm>
            <a:off x="7498080" y="1874520"/>
            <a:ext cx="82296" cy="3840480"/>
          </a:xfrm>
          <a:prstGeom prst="rect">
            <a:avLst/>
          </a:prstGeom>
          <a:solidFill>
            <a:srgbClr val="C2671A"/>
          </a:solidFill>
          <a:ln/>
        </p:spPr>
        <p:txBody>
          <a:bodyPr/>
          <a:lstStyle/>
          <a:p>
            <a:endParaRPr lang="fr-FR"/>
          </a:p>
        </p:txBody>
      </p:sp>
      <p:sp>
        <p:nvSpPr>
          <p:cNvPr id="12" name="Text 9"/>
          <p:cNvSpPr/>
          <p:nvPr/>
        </p:nvSpPr>
        <p:spPr>
          <a:xfrm>
            <a:off x="7726680" y="2057400"/>
            <a:ext cx="3291840" cy="365760"/>
          </a:xfrm>
          <a:prstGeom prst="rect">
            <a:avLst/>
          </a:prstGeom>
          <a:noFill/>
          <a:ln/>
        </p:spPr>
        <p:txBody>
          <a:bodyPr wrap="square" rtlCol="0" anchor="ctr"/>
          <a:lstStyle/>
          <a:p>
            <a:pPr marL="0" indent="0">
              <a:buNone/>
            </a:pPr>
            <a:r>
              <a:rPr lang="en-US" sz="1500" b="1" dirty="0">
                <a:solidFill>
                  <a:srgbClr val="9A5512"/>
                </a:solidFill>
              </a:rPr>
              <a:t>Limitations / Gap</a:t>
            </a:r>
            <a:endParaRPr lang="en-US" sz="1500" dirty="0"/>
          </a:p>
        </p:txBody>
      </p:sp>
      <p:sp>
        <p:nvSpPr>
          <p:cNvPr id="13" name="Text 10"/>
          <p:cNvSpPr/>
          <p:nvPr/>
        </p:nvSpPr>
        <p:spPr>
          <a:xfrm>
            <a:off x="7726680" y="2514600"/>
            <a:ext cx="3246120" cy="3108960"/>
          </a:xfrm>
          <a:prstGeom prst="rect">
            <a:avLst/>
          </a:prstGeom>
          <a:noFill/>
          <a:ln/>
        </p:spPr>
        <p:txBody>
          <a:bodyPr wrap="square" rtlCol="0" anchor="ctr"/>
          <a:lstStyle/>
          <a:p>
            <a:pPr marL="342900" indent="-342900">
              <a:spcAft>
                <a:spcPts val="900"/>
              </a:spcAft>
              <a:buSzPct val="100000"/>
              <a:buChar char="•"/>
            </a:pPr>
            <a:r>
              <a:rPr lang="en-US" sz="1350" dirty="0">
                <a:solidFill>
                  <a:srgbClr val="222222"/>
                </a:solidFill>
              </a:rPr>
              <a:t>Closed-set: only pre-catalogued paintings</a:t>
            </a:r>
            <a:endParaRPr lang="en-US" sz="1350" dirty="0"/>
          </a:p>
          <a:p>
            <a:pPr marL="342900" indent="-342900">
              <a:spcAft>
                <a:spcPts val="900"/>
              </a:spcAft>
              <a:buSzPct val="100000"/>
              <a:buChar char="•"/>
            </a:pPr>
            <a:r>
              <a:rPr lang="en-US" sz="1350" dirty="0">
                <a:solidFill>
                  <a:srgbClr val="222222"/>
                </a:solidFill>
              </a:rPr>
              <a:t>Audio is fixed / pre-recorded per work</a:t>
            </a:r>
            <a:endParaRPr lang="en-US" sz="1350" dirty="0"/>
          </a:p>
          <a:p>
            <a:pPr marL="342900" indent="-342900">
              <a:spcAft>
                <a:spcPts val="900"/>
              </a:spcAft>
              <a:buSzPct val="100000"/>
              <a:buChar char="•"/>
            </a:pPr>
            <a:r>
              <a:rPr lang="en-US" sz="1350" dirty="0">
                <a:solidFill>
                  <a:srgbClr val="222222"/>
                </a:solidFill>
              </a:rPr>
              <a:t>No notion of where the visitor is looking</a:t>
            </a:r>
            <a:endParaRPr lang="en-US" sz="1350" dirty="0"/>
          </a:p>
          <a:p>
            <a:pPr marL="342900" indent="-342900">
              <a:spcAft>
                <a:spcPts val="900"/>
              </a:spcAft>
              <a:buSzPct val="100000"/>
              <a:buChar char="•"/>
            </a:pPr>
            <a:r>
              <a:rPr lang="en-US" sz="1350" dirty="0">
                <a:solidFill>
                  <a:srgbClr val="222222"/>
                </a:solidFill>
              </a:rPr>
              <a:t>Cannot handle unknown / free-visit works</a:t>
            </a:r>
            <a:endParaRPr lang="en-US" sz="1350" dirty="0"/>
          </a:p>
        </p:txBody>
      </p:sp>
      <p:pic>
        <p:nvPicPr>
          <p:cNvPr id="14" name="Image 13">
            <a:extLst>
              <a:ext uri="{FF2B5EF4-FFF2-40B4-BE49-F238E27FC236}">
                <a16:creationId xmlns:a16="http://schemas.microsoft.com/office/drawing/2014/main" id="{E390E501-571D-6F3E-64C7-867914F94046}"/>
              </a:ext>
            </a:extLst>
          </p:cNvPr>
          <p:cNvPicPr>
            <a:picLocks noChangeAspect="1"/>
          </p:cNvPicPr>
          <p:nvPr/>
        </p:nvPicPr>
        <p:blipFill>
          <a:blip r:embed="rId3"/>
          <a:stretch>
            <a:fillRect/>
          </a:stretch>
        </p:blipFill>
        <p:spPr>
          <a:xfrm>
            <a:off x="226678" y="378008"/>
            <a:ext cx="2578357" cy="5729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8</a:t>
            </a:r>
            <a:endParaRPr lang="en-US" sz="1100" dirty="0"/>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ea typeface="Calibri" pitchFamily="34" charset="-122"/>
                <a:cs typeface="Calibri" pitchFamily="34" charset="-120"/>
              </a:rPr>
              <a:t>Literature Survey</a:t>
            </a:r>
            <a:endParaRPr lang="en-US" sz="2700" dirty="0"/>
          </a:p>
        </p:txBody>
      </p:sp>
      <p:sp>
        <p:nvSpPr>
          <p:cNvPr id="5" name="Text 2"/>
          <p:cNvSpPr/>
          <p:nvPr/>
        </p:nvSpPr>
        <p:spPr>
          <a:xfrm>
            <a:off x="1005840" y="1325880"/>
            <a:ext cx="10180015" cy="365760"/>
          </a:xfrm>
          <a:prstGeom prst="rect">
            <a:avLst/>
          </a:prstGeom>
          <a:noFill/>
          <a:ln/>
        </p:spPr>
        <p:txBody>
          <a:bodyPr wrap="square" rtlCol="0" anchor="ctr"/>
          <a:lstStyle/>
          <a:p>
            <a:pPr marL="0" indent="0">
              <a:buNone/>
            </a:pPr>
            <a:r>
              <a:rPr lang="en-US" sz="1600" b="1" i="1" dirty="0">
                <a:solidFill>
                  <a:srgbClr val="002060"/>
                </a:solidFill>
              </a:rPr>
              <a:t>Taverriti et al., 2016 - Real-time Wearable CV for Museums, ACM MM</a:t>
            </a:r>
            <a:endParaRPr lang="en-US" sz="1600" dirty="0"/>
          </a:p>
        </p:txBody>
      </p:sp>
      <p:sp>
        <p:nvSpPr>
          <p:cNvPr id="6" name="Text 3"/>
          <p:cNvSpPr/>
          <p:nvPr/>
        </p:nvSpPr>
        <p:spPr>
          <a:xfrm>
            <a:off x="1005840" y="1874520"/>
            <a:ext cx="6035040" cy="320040"/>
          </a:xfrm>
          <a:prstGeom prst="rect">
            <a:avLst/>
          </a:prstGeom>
          <a:noFill/>
          <a:ln/>
        </p:spPr>
        <p:txBody>
          <a:bodyPr wrap="square" rtlCol="0" anchor="ctr"/>
          <a:lstStyle/>
          <a:p>
            <a:pPr marL="0" indent="0">
              <a:buNone/>
            </a:pPr>
            <a:r>
              <a:rPr lang="en-US" sz="1500" b="1" dirty="0">
                <a:solidFill>
                  <a:srgbClr val="0E7490"/>
                </a:solidFill>
              </a:rPr>
              <a:t>Approach</a:t>
            </a:r>
            <a:endParaRPr lang="en-US" sz="1500" dirty="0"/>
          </a:p>
        </p:txBody>
      </p:sp>
      <p:sp>
        <p:nvSpPr>
          <p:cNvPr id="7" name="Text 4"/>
          <p:cNvSpPr/>
          <p:nvPr/>
        </p:nvSpPr>
        <p:spPr>
          <a:xfrm>
            <a:off x="1005840" y="2240280"/>
            <a:ext cx="6035040" cy="1463040"/>
          </a:xfrm>
          <a:prstGeom prst="rect">
            <a:avLst/>
          </a:prstGeom>
          <a:noFill/>
          <a:ln/>
        </p:spPr>
        <p:txBody>
          <a:bodyPr wrap="square" rtlCol="0" anchor="ctr"/>
          <a:lstStyle/>
          <a:p>
            <a:pPr marL="342900" indent="-342900">
              <a:spcAft>
                <a:spcPts val="700"/>
              </a:spcAft>
              <a:buSzPct val="100000"/>
              <a:buChar char="•"/>
            </a:pPr>
            <a:r>
              <a:rPr lang="en-US" sz="1400" dirty="0">
                <a:solidFill>
                  <a:srgbClr val="222222"/>
                </a:solidFill>
              </a:rPr>
              <a:t>Ego-vision wearable camera + motion sensors</a:t>
            </a:r>
            <a:endParaRPr lang="en-US" sz="1400" dirty="0"/>
          </a:p>
          <a:p>
            <a:pPr marL="342900" indent="-342900">
              <a:spcAft>
                <a:spcPts val="700"/>
              </a:spcAft>
              <a:buSzPct val="100000"/>
              <a:buChar char="•"/>
            </a:pPr>
            <a:r>
              <a:rPr lang="en-US" sz="1400" dirty="0">
                <a:solidFill>
                  <a:srgbClr val="222222"/>
                </a:solidFill>
              </a:rPr>
              <a:t>Compact CNN for object classification &amp; artwork recognition</a:t>
            </a:r>
            <a:endParaRPr lang="en-US" sz="1400" dirty="0"/>
          </a:p>
          <a:p>
            <a:pPr marL="342900" indent="-342900">
              <a:spcAft>
                <a:spcPts val="700"/>
              </a:spcAft>
              <a:buSzPct val="100000"/>
              <a:buChar char="•"/>
            </a:pPr>
            <a:r>
              <a:rPr lang="en-US" sz="1400" dirty="0">
                <a:solidFill>
                  <a:srgbClr val="222222"/>
                </a:solidFill>
              </a:rPr>
              <a:t>Infers context: looking at a work vs. walking vs. talking</a:t>
            </a:r>
            <a:endParaRPr lang="en-US" sz="1400" dirty="0"/>
          </a:p>
        </p:txBody>
      </p:sp>
      <p:sp>
        <p:nvSpPr>
          <p:cNvPr id="8" name="Text 5"/>
          <p:cNvSpPr/>
          <p:nvPr/>
        </p:nvSpPr>
        <p:spPr>
          <a:xfrm>
            <a:off x="1005840" y="3840480"/>
            <a:ext cx="6035040" cy="320040"/>
          </a:xfrm>
          <a:prstGeom prst="rect">
            <a:avLst/>
          </a:prstGeom>
          <a:noFill/>
          <a:ln/>
        </p:spPr>
        <p:txBody>
          <a:bodyPr wrap="square" rtlCol="0" anchor="ctr"/>
          <a:lstStyle/>
          <a:p>
            <a:pPr marL="0" indent="0">
              <a:buNone/>
            </a:pPr>
            <a:r>
              <a:rPr lang="en-US" sz="1500" b="1" dirty="0">
                <a:solidFill>
                  <a:srgbClr val="0E7490"/>
                </a:solidFill>
              </a:rPr>
              <a:t>Strengths</a:t>
            </a:r>
            <a:endParaRPr lang="en-US" sz="1500" dirty="0"/>
          </a:p>
        </p:txBody>
      </p:sp>
      <p:sp>
        <p:nvSpPr>
          <p:cNvPr id="9" name="Text 6"/>
          <p:cNvSpPr/>
          <p:nvPr/>
        </p:nvSpPr>
        <p:spPr>
          <a:xfrm>
            <a:off x="1005840" y="4206240"/>
            <a:ext cx="6035040" cy="1554480"/>
          </a:xfrm>
          <a:prstGeom prst="rect">
            <a:avLst/>
          </a:prstGeom>
          <a:noFill/>
          <a:ln/>
        </p:spPr>
        <p:txBody>
          <a:bodyPr wrap="square" rtlCol="0" anchor="ctr"/>
          <a:lstStyle/>
          <a:p>
            <a:pPr marL="342900" indent="-342900">
              <a:spcAft>
                <a:spcPts val="700"/>
              </a:spcAft>
              <a:buSzPct val="100000"/>
              <a:buChar char="•"/>
            </a:pPr>
            <a:r>
              <a:rPr lang="en-US" sz="1400" dirty="0">
                <a:solidFill>
                  <a:srgbClr val="222222"/>
                </a:solidFill>
              </a:rPr>
              <a:t>Context-aware - reacts only when the visitor attends a work</a:t>
            </a:r>
            <a:endParaRPr lang="en-US" sz="1400" dirty="0"/>
          </a:p>
          <a:p>
            <a:pPr marL="342900" indent="-342900">
              <a:spcAft>
                <a:spcPts val="700"/>
              </a:spcAft>
              <a:buSzPct val="100000"/>
              <a:buChar char="•"/>
            </a:pPr>
            <a:r>
              <a:rPr lang="en-US" sz="1400" dirty="0">
                <a:solidFill>
                  <a:srgbClr val="222222"/>
                </a:solidFill>
              </a:rPr>
              <a:t>Real-time on a mobile device</a:t>
            </a:r>
            <a:endParaRPr lang="en-US" sz="1400" dirty="0"/>
          </a:p>
          <a:p>
            <a:pPr marL="342900" indent="-342900">
              <a:spcAft>
                <a:spcPts val="700"/>
              </a:spcAft>
              <a:buSzPct val="100000"/>
              <a:buChar char="•"/>
            </a:pPr>
            <a:r>
              <a:rPr lang="en-US" sz="1400" dirty="0">
                <a:solidFill>
                  <a:srgbClr val="222222"/>
                </a:solidFill>
              </a:rPr>
              <a:t>Builds an interest profile from what / how long is observed</a:t>
            </a:r>
            <a:endParaRPr lang="en-US" sz="1400" dirty="0"/>
          </a:p>
        </p:txBody>
      </p:sp>
      <p:sp>
        <p:nvSpPr>
          <p:cNvPr id="10" name="Shape 7"/>
          <p:cNvSpPr/>
          <p:nvPr/>
        </p:nvSpPr>
        <p:spPr>
          <a:xfrm>
            <a:off x="7498080" y="1874520"/>
            <a:ext cx="3657600" cy="3840480"/>
          </a:xfrm>
          <a:prstGeom prst="roundRect">
            <a:avLst>
              <a:gd name="adj" fmla="val 1750"/>
            </a:avLst>
          </a:prstGeom>
          <a:solidFill>
            <a:srgbClr val="FBF1E7"/>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1" name="Shape 8"/>
          <p:cNvSpPr/>
          <p:nvPr/>
        </p:nvSpPr>
        <p:spPr>
          <a:xfrm>
            <a:off x="7498080" y="1874520"/>
            <a:ext cx="82296" cy="3840480"/>
          </a:xfrm>
          <a:prstGeom prst="rect">
            <a:avLst/>
          </a:prstGeom>
          <a:solidFill>
            <a:srgbClr val="C2671A"/>
          </a:solidFill>
          <a:ln/>
        </p:spPr>
        <p:txBody>
          <a:bodyPr/>
          <a:lstStyle/>
          <a:p>
            <a:endParaRPr lang="fr-FR"/>
          </a:p>
        </p:txBody>
      </p:sp>
      <p:sp>
        <p:nvSpPr>
          <p:cNvPr id="12" name="Text 9"/>
          <p:cNvSpPr/>
          <p:nvPr/>
        </p:nvSpPr>
        <p:spPr>
          <a:xfrm>
            <a:off x="7726680" y="2057400"/>
            <a:ext cx="3291840" cy="365760"/>
          </a:xfrm>
          <a:prstGeom prst="rect">
            <a:avLst/>
          </a:prstGeom>
          <a:noFill/>
          <a:ln/>
        </p:spPr>
        <p:txBody>
          <a:bodyPr wrap="square" rtlCol="0" anchor="ctr"/>
          <a:lstStyle/>
          <a:p>
            <a:pPr marL="0" indent="0">
              <a:buNone/>
            </a:pPr>
            <a:r>
              <a:rPr lang="en-US" sz="1500" b="1" dirty="0">
                <a:solidFill>
                  <a:srgbClr val="9A5512"/>
                </a:solidFill>
              </a:rPr>
              <a:t>Limitations / Gap</a:t>
            </a:r>
            <a:endParaRPr lang="en-US" sz="1500" dirty="0"/>
          </a:p>
        </p:txBody>
      </p:sp>
      <p:sp>
        <p:nvSpPr>
          <p:cNvPr id="13" name="Text 10"/>
          <p:cNvSpPr/>
          <p:nvPr/>
        </p:nvSpPr>
        <p:spPr>
          <a:xfrm>
            <a:off x="7726680" y="2514600"/>
            <a:ext cx="3246120" cy="3108960"/>
          </a:xfrm>
          <a:prstGeom prst="rect">
            <a:avLst/>
          </a:prstGeom>
          <a:noFill/>
          <a:ln/>
        </p:spPr>
        <p:txBody>
          <a:bodyPr wrap="square" rtlCol="0" anchor="ctr"/>
          <a:lstStyle/>
          <a:p>
            <a:pPr marL="342900" indent="-342900">
              <a:spcAft>
                <a:spcPts val="900"/>
              </a:spcAft>
              <a:buSzPct val="100000"/>
              <a:buChar char="•"/>
            </a:pPr>
            <a:r>
              <a:rPr lang="en-US" sz="1350" dirty="0">
                <a:solidFill>
                  <a:srgbClr val="222222"/>
                </a:solidFill>
              </a:rPr>
              <a:t>Recognition trained per collection (closed-set)</a:t>
            </a:r>
            <a:endParaRPr lang="en-US" sz="1350" dirty="0"/>
          </a:p>
          <a:p>
            <a:pPr marL="342900" indent="-342900">
              <a:spcAft>
                <a:spcPts val="900"/>
              </a:spcAft>
              <a:buSzPct val="100000"/>
              <a:buChar char="•"/>
            </a:pPr>
            <a:r>
              <a:rPr lang="en-US" sz="1350" dirty="0">
                <a:solidFill>
                  <a:srgbClr val="222222"/>
                </a:solidFill>
              </a:rPr>
              <a:t>Delivered content is still pre-defined</a:t>
            </a:r>
            <a:endParaRPr lang="en-US" sz="1350" dirty="0"/>
          </a:p>
          <a:p>
            <a:pPr marL="342900" indent="-342900">
              <a:spcAft>
                <a:spcPts val="900"/>
              </a:spcAft>
              <a:buSzPct val="100000"/>
              <a:buChar char="•"/>
            </a:pPr>
            <a:r>
              <a:rPr lang="en-US" sz="1350" dirty="0">
                <a:solidFill>
                  <a:srgbClr val="222222"/>
                </a:solidFill>
              </a:rPr>
              <a:t>Uses coarse context, not an explicit gaze signal</a:t>
            </a:r>
            <a:endParaRPr lang="en-US" sz="1350" dirty="0"/>
          </a:p>
          <a:p>
            <a:pPr marL="342900" indent="-342900">
              <a:spcAft>
                <a:spcPts val="900"/>
              </a:spcAft>
              <a:buSzPct val="100000"/>
              <a:buChar char="•"/>
            </a:pPr>
            <a:r>
              <a:rPr lang="en-US" sz="1350" dirty="0">
                <a:solidFill>
                  <a:srgbClr val="222222"/>
                </a:solidFill>
              </a:rPr>
              <a:t>No generative, on-the-fly narration</a:t>
            </a:r>
            <a:endParaRPr lang="en-US" sz="1350" dirty="0"/>
          </a:p>
        </p:txBody>
      </p:sp>
      <p:pic>
        <p:nvPicPr>
          <p:cNvPr id="14" name="Image 13">
            <a:extLst>
              <a:ext uri="{FF2B5EF4-FFF2-40B4-BE49-F238E27FC236}">
                <a16:creationId xmlns:a16="http://schemas.microsoft.com/office/drawing/2014/main" id="{10FE96DC-753E-FF25-F2DD-57D225D832D6}"/>
              </a:ext>
            </a:extLst>
          </p:cNvPr>
          <p:cNvPicPr>
            <a:picLocks noChangeAspect="1"/>
          </p:cNvPicPr>
          <p:nvPr/>
        </p:nvPicPr>
        <p:blipFill>
          <a:blip r:embed="rId3"/>
          <a:stretch>
            <a:fillRect/>
          </a:stretch>
        </p:blipFill>
        <p:spPr>
          <a:xfrm>
            <a:off x="226678" y="378008"/>
            <a:ext cx="2578357" cy="5729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9</a:t>
            </a:r>
            <a:endParaRPr lang="en-US" sz="1100" dirty="0"/>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ea typeface="Calibri" pitchFamily="34" charset="-122"/>
                <a:cs typeface="Calibri" pitchFamily="34" charset="-120"/>
              </a:rPr>
              <a:t>Literature Survey</a:t>
            </a:r>
            <a:endParaRPr lang="en-US" sz="2700" dirty="0"/>
          </a:p>
        </p:txBody>
      </p:sp>
      <p:sp>
        <p:nvSpPr>
          <p:cNvPr id="5" name="Text 2"/>
          <p:cNvSpPr/>
          <p:nvPr/>
        </p:nvSpPr>
        <p:spPr>
          <a:xfrm>
            <a:off x="1005840" y="1325880"/>
            <a:ext cx="10180015" cy="365760"/>
          </a:xfrm>
          <a:prstGeom prst="rect">
            <a:avLst/>
          </a:prstGeom>
          <a:noFill/>
          <a:ln/>
        </p:spPr>
        <p:txBody>
          <a:bodyPr wrap="square" rtlCol="0" anchor="ctr"/>
          <a:lstStyle/>
          <a:p>
            <a:pPr marL="0" indent="0">
              <a:buNone/>
            </a:pPr>
            <a:r>
              <a:rPr lang="en-US" sz="1600" b="1" i="1" dirty="0">
                <a:solidFill>
                  <a:srgbClr val="002060"/>
                </a:solidFill>
              </a:rPr>
              <a:t>Zhang, Tas &amp; Koniusz, 2017 - Artwork ID from Wearable Cameras, arXiv</a:t>
            </a:r>
            <a:endParaRPr lang="en-US" sz="1600" dirty="0"/>
          </a:p>
        </p:txBody>
      </p:sp>
      <p:sp>
        <p:nvSpPr>
          <p:cNvPr id="6" name="Text 3"/>
          <p:cNvSpPr/>
          <p:nvPr/>
        </p:nvSpPr>
        <p:spPr>
          <a:xfrm>
            <a:off x="1005840" y="1874520"/>
            <a:ext cx="6035040" cy="320040"/>
          </a:xfrm>
          <a:prstGeom prst="rect">
            <a:avLst/>
          </a:prstGeom>
          <a:noFill/>
          <a:ln/>
        </p:spPr>
        <p:txBody>
          <a:bodyPr wrap="square" rtlCol="0" anchor="ctr"/>
          <a:lstStyle/>
          <a:p>
            <a:pPr marL="0" indent="0">
              <a:buNone/>
            </a:pPr>
            <a:r>
              <a:rPr lang="en-US" sz="1500" b="1" dirty="0">
                <a:solidFill>
                  <a:srgbClr val="0E7490"/>
                </a:solidFill>
              </a:rPr>
              <a:t>Approach</a:t>
            </a:r>
            <a:endParaRPr lang="en-US" sz="1500" dirty="0"/>
          </a:p>
        </p:txBody>
      </p:sp>
      <p:sp>
        <p:nvSpPr>
          <p:cNvPr id="7" name="Text 4"/>
          <p:cNvSpPr/>
          <p:nvPr/>
        </p:nvSpPr>
        <p:spPr>
          <a:xfrm>
            <a:off x="1005840" y="2240280"/>
            <a:ext cx="6035040" cy="1463040"/>
          </a:xfrm>
          <a:prstGeom prst="rect">
            <a:avLst/>
          </a:prstGeom>
          <a:noFill/>
          <a:ln/>
        </p:spPr>
        <p:txBody>
          <a:bodyPr wrap="square" rtlCol="0" anchor="ctr"/>
          <a:lstStyle/>
          <a:p>
            <a:pPr marL="342900" indent="-342900">
              <a:spcAft>
                <a:spcPts val="700"/>
              </a:spcAft>
              <a:buSzPct val="100000"/>
              <a:buChar char="•"/>
            </a:pPr>
            <a:r>
              <a:rPr lang="en-US" sz="1400" dirty="0">
                <a:solidFill>
                  <a:srgbClr val="222222"/>
                </a:solidFill>
              </a:rPr>
              <a:t>Wearable camera captures works as the visitor strolls</a:t>
            </a:r>
            <a:endParaRPr lang="en-US" sz="1400" dirty="0"/>
          </a:p>
          <a:p>
            <a:pPr marL="342900" indent="-342900">
              <a:spcAft>
                <a:spcPts val="700"/>
              </a:spcAft>
              <a:buSzPct val="100000"/>
              <a:buChar char="•"/>
            </a:pPr>
            <a:r>
              <a:rPr lang="en-US" sz="1400" dirty="0">
                <a:solidFill>
                  <a:srgbClr val="222222"/>
                </a:solidFill>
              </a:rPr>
              <a:t>CNN pre-trained on ImageNet, fine-tuned per museum</a:t>
            </a:r>
            <a:endParaRPr lang="en-US" sz="1400" dirty="0"/>
          </a:p>
          <a:p>
            <a:pPr marL="342900" indent="-342900">
              <a:spcAft>
                <a:spcPts val="700"/>
              </a:spcAft>
              <a:buSzPct val="100000"/>
              <a:buChar char="•"/>
            </a:pPr>
            <a:r>
              <a:rPr lang="en-US" sz="1400" dirty="0">
                <a:solidFill>
                  <a:srgbClr val="222222"/>
                </a:solidFill>
              </a:rPr>
              <a:t>Builds a detailed record of the visit</a:t>
            </a:r>
            <a:endParaRPr lang="en-US" sz="1400" dirty="0"/>
          </a:p>
        </p:txBody>
      </p:sp>
      <p:sp>
        <p:nvSpPr>
          <p:cNvPr id="8" name="Text 5"/>
          <p:cNvSpPr/>
          <p:nvPr/>
        </p:nvSpPr>
        <p:spPr>
          <a:xfrm>
            <a:off x="1005840" y="3840480"/>
            <a:ext cx="6035040" cy="320040"/>
          </a:xfrm>
          <a:prstGeom prst="rect">
            <a:avLst/>
          </a:prstGeom>
          <a:noFill/>
          <a:ln/>
        </p:spPr>
        <p:txBody>
          <a:bodyPr wrap="square" rtlCol="0" anchor="ctr"/>
          <a:lstStyle/>
          <a:p>
            <a:pPr marL="0" indent="0">
              <a:buNone/>
            </a:pPr>
            <a:r>
              <a:rPr lang="en-US" sz="1500" b="1" dirty="0">
                <a:solidFill>
                  <a:srgbClr val="0E7490"/>
                </a:solidFill>
              </a:rPr>
              <a:t>Strengths</a:t>
            </a:r>
            <a:endParaRPr lang="en-US" sz="1500" dirty="0"/>
          </a:p>
        </p:txBody>
      </p:sp>
      <p:sp>
        <p:nvSpPr>
          <p:cNvPr id="9" name="Text 6"/>
          <p:cNvSpPr/>
          <p:nvPr/>
        </p:nvSpPr>
        <p:spPr>
          <a:xfrm>
            <a:off x="1005840" y="4206240"/>
            <a:ext cx="6035040" cy="1554480"/>
          </a:xfrm>
          <a:prstGeom prst="rect">
            <a:avLst/>
          </a:prstGeom>
          <a:noFill/>
          <a:ln/>
        </p:spPr>
        <p:txBody>
          <a:bodyPr wrap="square" rtlCol="0" anchor="ctr"/>
          <a:lstStyle/>
          <a:p>
            <a:pPr marL="342900" indent="-342900">
              <a:spcAft>
                <a:spcPts val="700"/>
              </a:spcAft>
              <a:buSzPct val="100000"/>
              <a:buChar char="•"/>
            </a:pPr>
            <a:r>
              <a:rPr lang="en-US" sz="1400" dirty="0">
                <a:solidFill>
                  <a:srgbClr val="222222"/>
                </a:solidFill>
              </a:rPr>
              <a:t>Studies real wearable-camera conditions (blur, angle, glare)</a:t>
            </a:r>
            <a:endParaRPr lang="en-US" sz="1400" dirty="0"/>
          </a:p>
          <a:p>
            <a:pPr marL="342900" indent="-342900">
              <a:spcAft>
                <a:spcPts val="700"/>
              </a:spcAft>
              <a:buSzPct val="100000"/>
              <a:buChar char="•"/>
            </a:pPr>
            <a:r>
              <a:rPr lang="en-US" sz="1400" dirty="0">
                <a:solidFill>
                  <a:srgbClr val="222222"/>
                </a:solidFill>
              </a:rPr>
              <a:t>Quantifies how museum space affects recognition accuracy</a:t>
            </a:r>
            <a:endParaRPr lang="en-US" sz="1400" dirty="0"/>
          </a:p>
          <a:p>
            <a:pPr marL="342900" indent="-342900">
              <a:spcAft>
                <a:spcPts val="700"/>
              </a:spcAft>
              <a:buSzPct val="100000"/>
              <a:buChar char="•"/>
            </a:pPr>
            <a:r>
              <a:rPr lang="en-US" sz="1400" dirty="0">
                <a:solidFill>
                  <a:srgbClr val="222222"/>
                </a:solidFill>
              </a:rPr>
              <a:t>Practical guidance for robust artwork ID</a:t>
            </a:r>
            <a:endParaRPr lang="en-US" sz="1400" dirty="0"/>
          </a:p>
        </p:txBody>
      </p:sp>
      <p:sp>
        <p:nvSpPr>
          <p:cNvPr id="10" name="Shape 7"/>
          <p:cNvSpPr/>
          <p:nvPr/>
        </p:nvSpPr>
        <p:spPr>
          <a:xfrm>
            <a:off x="7498080" y="1874520"/>
            <a:ext cx="3657600" cy="3840480"/>
          </a:xfrm>
          <a:prstGeom prst="roundRect">
            <a:avLst>
              <a:gd name="adj" fmla="val 1750"/>
            </a:avLst>
          </a:prstGeom>
          <a:solidFill>
            <a:srgbClr val="FBF1E7"/>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1" name="Shape 8"/>
          <p:cNvSpPr/>
          <p:nvPr/>
        </p:nvSpPr>
        <p:spPr>
          <a:xfrm>
            <a:off x="7498080" y="1874520"/>
            <a:ext cx="82296" cy="3840480"/>
          </a:xfrm>
          <a:prstGeom prst="rect">
            <a:avLst/>
          </a:prstGeom>
          <a:solidFill>
            <a:srgbClr val="C2671A"/>
          </a:solidFill>
          <a:ln/>
        </p:spPr>
        <p:txBody>
          <a:bodyPr/>
          <a:lstStyle/>
          <a:p>
            <a:endParaRPr lang="fr-FR"/>
          </a:p>
        </p:txBody>
      </p:sp>
      <p:sp>
        <p:nvSpPr>
          <p:cNvPr id="12" name="Text 9"/>
          <p:cNvSpPr/>
          <p:nvPr/>
        </p:nvSpPr>
        <p:spPr>
          <a:xfrm>
            <a:off x="7726680" y="2057400"/>
            <a:ext cx="3291840" cy="365760"/>
          </a:xfrm>
          <a:prstGeom prst="rect">
            <a:avLst/>
          </a:prstGeom>
          <a:noFill/>
          <a:ln/>
        </p:spPr>
        <p:txBody>
          <a:bodyPr wrap="square" rtlCol="0" anchor="ctr"/>
          <a:lstStyle/>
          <a:p>
            <a:pPr marL="0" indent="0">
              <a:buNone/>
            </a:pPr>
            <a:r>
              <a:rPr lang="en-US" sz="1500" b="1" dirty="0">
                <a:solidFill>
                  <a:srgbClr val="9A5512"/>
                </a:solidFill>
              </a:rPr>
              <a:t>Limitations / Gap</a:t>
            </a:r>
            <a:endParaRPr lang="en-US" sz="1500" dirty="0"/>
          </a:p>
        </p:txBody>
      </p:sp>
      <p:sp>
        <p:nvSpPr>
          <p:cNvPr id="13" name="Text 10"/>
          <p:cNvSpPr/>
          <p:nvPr/>
        </p:nvSpPr>
        <p:spPr>
          <a:xfrm>
            <a:off x="7726680" y="2514600"/>
            <a:ext cx="3246120" cy="3108960"/>
          </a:xfrm>
          <a:prstGeom prst="rect">
            <a:avLst/>
          </a:prstGeom>
          <a:noFill/>
          <a:ln/>
        </p:spPr>
        <p:txBody>
          <a:bodyPr wrap="square" rtlCol="0" anchor="ctr"/>
          <a:lstStyle/>
          <a:p>
            <a:pPr marL="342900" indent="-342900">
              <a:spcAft>
                <a:spcPts val="900"/>
              </a:spcAft>
              <a:buSzPct val="100000"/>
              <a:buChar char="•"/>
            </a:pPr>
            <a:r>
              <a:rPr lang="en-US" sz="1350" dirty="0">
                <a:solidFill>
                  <a:srgbClr val="222222"/>
                </a:solidFill>
              </a:rPr>
              <a:t>Requires fine-tuning on each museum's collection</a:t>
            </a:r>
            <a:endParaRPr lang="en-US" sz="1350" dirty="0"/>
          </a:p>
          <a:p>
            <a:pPr marL="342900" indent="-342900">
              <a:spcAft>
                <a:spcPts val="900"/>
              </a:spcAft>
              <a:buSzPct val="100000"/>
              <a:buChar char="•"/>
            </a:pPr>
            <a:r>
              <a:rPr lang="en-US" sz="1350" dirty="0">
                <a:solidFill>
                  <a:srgbClr val="222222"/>
                </a:solidFill>
              </a:rPr>
              <a:t>Closed-set recognition; no open-set ability</a:t>
            </a:r>
            <a:endParaRPr lang="en-US" sz="1350" dirty="0"/>
          </a:p>
          <a:p>
            <a:pPr marL="342900" indent="-342900">
              <a:spcAft>
                <a:spcPts val="900"/>
              </a:spcAft>
              <a:buSzPct val="100000"/>
              <a:buChar char="•"/>
            </a:pPr>
            <a:r>
              <a:rPr lang="en-US" sz="1350" dirty="0">
                <a:solidFill>
                  <a:srgbClr val="222222"/>
                </a:solidFill>
              </a:rPr>
              <a:t>Focus on identification, not narration</a:t>
            </a:r>
            <a:endParaRPr lang="en-US" sz="1350" dirty="0"/>
          </a:p>
          <a:p>
            <a:pPr marL="342900" indent="-342900">
              <a:spcAft>
                <a:spcPts val="900"/>
              </a:spcAft>
              <a:buSzPct val="100000"/>
              <a:buChar char="•"/>
            </a:pPr>
            <a:r>
              <a:rPr lang="en-US" sz="1350" dirty="0">
                <a:solidFill>
                  <a:srgbClr val="222222"/>
                </a:solidFill>
              </a:rPr>
              <a:t>No real-time audio delivery</a:t>
            </a:r>
            <a:endParaRPr lang="en-US" sz="1350" dirty="0"/>
          </a:p>
        </p:txBody>
      </p:sp>
      <p:pic>
        <p:nvPicPr>
          <p:cNvPr id="14" name="Image 13">
            <a:extLst>
              <a:ext uri="{FF2B5EF4-FFF2-40B4-BE49-F238E27FC236}">
                <a16:creationId xmlns:a16="http://schemas.microsoft.com/office/drawing/2014/main" id="{63056FE8-4FDF-EE42-7D3E-DF2ED1616180}"/>
              </a:ext>
            </a:extLst>
          </p:cNvPr>
          <p:cNvPicPr>
            <a:picLocks noChangeAspect="1"/>
          </p:cNvPicPr>
          <p:nvPr/>
        </p:nvPicPr>
        <p:blipFill>
          <a:blip r:embed="rId3"/>
          <a:stretch>
            <a:fillRect/>
          </a:stretch>
        </p:blipFill>
        <p:spPr>
          <a:xfrm>
            <a:off x="226678" y="378008"/>
            <a:ext cx="2578357" cy="5729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10</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ea typeface="Calibri" pitchFamily="34" charset="-122"/>
                <a:cs typeface="Calibri" pitchFamily="34" charset="-120"/>
              </a:rPr>
              <a:t>Literature Survey: Summary &amp; Our Contribution</a:t>
            </a:r>
            <a:endParaRPr lang="en-US" sz="2700" dirty="0"/>
          </a:p>
        </p:txBody>
      </p:sp>
      <p:graphicFrame>
        <p:nvGraphicFramePr>
          <p:cNvPr id="11" name="Table 0"/>
          <p:cNvGraphicFramePr>
            <a:graphicFrameLocks noGrp="1"/>
          </p:cNvGraphicFramePr>
          <p:nvPr>
            <p:extLst>
              <p:ext uri="{D42A27DB-BD31-4B8C-83A1-F6EECF244321}">
                <p14:modId xmlns:p14="http://schemas.microsoft.com/office/powerpoint/2010/main" val="525070320"/>
              </p:ext>
            </p:extLst>
          </p:nvPr>
        </p:nvGraphicFramePr>
        <p:xfrm>
          <a:off x="640080" y="1554480"/>
          <a:ext cx="10881360" cy="3937000"/>
        </p:xfrm>
        <a:graphic>
          <a:graphicData uri="http://schemas.openxmlformats.org/drawingml/2006/table">
            <a:tbl>
              <a:tblPr/>
              <a:tblGrid>
                <a:gridCol w="1554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787400">
                <a:tc>
                  <a:txBody>
                    <a:bodyPr/>
                    <a:lstStyle/>
                    <a:p>
                      <a:pPr marL="0" indent="0" algn="ctr">
                        <a:buNone/>
                      </a:pPr>
                      <a:r>
                        <a:rPr lang="en-US" sz="1300" b="1" dirty="0">
                          <a:solidFill>
                            <a:srgbClr val="FFFFFF"/>
                          </a:solidFill>
                        </a:rPr>
                        <a:t>Work</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002060"/>
                    </a:solidFill>
                  </a:tcPr>
                </a:tc>
                <a:tc>
                  <a:txBody>
                    <a:bodyPr/>
                    <a:lstStyle/>
                    <a:p>
                      <a:pPr marL="0" indent="0" algn="ctr">
                        <a:buNone/>
                      </a:pPr>
                      <a:r>
                        <a:rPr lang="en-US" sz="1300" b="1" dirty="0">
                          <a:solidFill>
                            <a:srgbClr val="FFFFFF"/>
                          </a:solidFill>
                        </a:rPr>
                        <a:t>Hands-free</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002060"/>
                    </a:solidFill>
                  </a:tcPr>
                </a:tc>
                <a:tc>
                  <a:txBody>
                    <a:bodyPr/>
                    <a:lstStyle/>
                    <a:p>
                      <a:pPr marL="0" indent="0" algn="ctr">
                        <a:buNone/>
                      </a:pPr>
                      <a:r>
                        <a:rPr lang="en-US" sz="1300" b="1" dirty="0">
                          <a:solidFill>
                            <a:srgbClr val="FFFFFF"/>
                          </a:solidFill>
                        </a:rPr>
                        <a:t>Recognition</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002060"/>
                    </a:solidFill>
                  </a:tcPr>
                </a:tc>
                <a:tc>
                  <a:txBody>
                    <a:bodyPr/>
                    <a:lstStyle/>
                    <a:p>
                      <a:pPr marL="0" indent="0" algn="ctr">
                        <a:buNone/>
                      </a:pPr>
                      <a:r>
                        <a:rPr lang="en-US" sz="1300" b="1" dirty="0">
                          <a:solidFill>
                            <a:srgbClr val="FFFFFF"/>
                          </a:solidFill>
                        </a:rPr>
                        <a:t>Coverage</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002060"/>
                    </a:solidFill>
                  </a:tcPr>
                </a:tc>
                <a:tc>
                  <a:txBody>
                    <a:bodyPr/>
                    <a:lstStyle/>
                    <a:p>
                      <a:pPr marL="0" indent="0" algn="ctr">
                        <a:buNone/>
                      </a:pPr>
                      <a:r>
                        <a:rPr lang="en-US" sz="1300" b="1" dirty="0">
                          <a:solidFill>
                            <a:srgbClr val="FFFFFF"/>
                          </a:solidFill>
                        </a:rPr>
                        <a:t>Narration</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002060"/>
                    </a:solidFill>
                  </a:tcPr>
                </a:tc>
                <a:tc>
                  <a:txBody>
                    <a:bodyPr/>
                    <a:lstStyle/>
                    <a:p>
                      <a:pPr marL="0" indent="0" algn="ctr">
                        <a:buNone/>
                      </a:pPr>
                      <a:r>
                        <a:rPr lang="en-US" sz="1300" b="1" dirty="0">
                          <a:solidFill>
                            <a:srgbClr val="FFFFFF"/>
                          </a:solidFill>
                        </a:rPr>
                        <a:t>Trigger</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787400">
                <a:tc>
                  <a:txBody>
                    <a:bodyPr/>
                    <a:lstStyle/>
                    <a:p>
                      <a:pPr marL="0" indent="0" algn="ctr">
                        <a:buNone/>
                      </a:pPr>
                      <a:r>
                        <a:rPr lang="en-US" sz="1300" dirty="0">
                          <a:solidFill>
                            <a:srgbClr val="222222"/>
                          </a:solidFill>
                        </a:rPr>
                        <a:t>Vallez 2020</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Yes</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FAST + Random Forest</a:t>
                      </a:r>
                      <a:endParaRPr lang="en-US" sz="1300" dirty="0"/>
                    </a:p>
                    <a:p>
                      <a:pPr marL="0" indent="0" algn="ctr">
                        <a:buNone/>
                      </a:pPr>
                      <a:r>
                        <a:rPr lang="en-US" sz="1300" dirty="0">
                          <a:solidFill>
                            <a:srgbClr val="222222"/>
                          </a:solidFill>
                        </a:rPr>
                        <a:t>(closed-set)</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Catalogued only</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Pre-recorded</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Continuous CV</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extLst>
                  <a:ext uri="{0D108BD9-81ED-4DB2-BD59-A6C34878D82A}">
                    <a16:rowId xmlns:a16="http://schemas.microsoft.com/office/drawing/2014/main" val="10001"/>
                  </a:ext>
                </a:extLst>
              </a:tr>
              <a:tr h="787400">
                <a:tc>
                  <a:txBody>
                    <a:bodyPr/>
                    <a:lstStyle/>
                    <a:p>
                      <a:pPr marL="0" indent="0" algn="ctr">
                        <a:buNone/>
                      </a:pPr>
                      <a:r>
                        <a:rPr lang="en-US" sz="1300" dirty="0">
                          <a:solidFill>
                            <a:srgbClr val="222222"/>
                          </a:solidFill>
                        </a:rPr>
                        <a:t>Taverriti 2016</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Yes</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CNN (closed-set)</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Catalogued only</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Pre-defined</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Visit context</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extLst>
                  <a:ext uri="{0D108BD9-81ED-4DB2-BD59-A6C34878D82A}">
                    <a16:rowId xmlns:a16="http://schemas.microsoft.com/office/drawing/2014/main" val="10002"/>
                  </a:ext>
                </a:extLst>
              </a:tr>
              <a:tr h="787400">
                <a:tc>
                  <a:txBody>
                    <a:bodyPr/>
                    <a:lstStyle/>
                    <a:p>
                      <a:pPr marL="0" indent="0" algn="ctr">
                        <a:buNone/>
                      </a:pPr>
                      <a:r>
                        <a:rPr lang="en-US" sz="1300" dirty="0">
                          <a:solidFill>
                            <a:srgbClr val="222222"/>
                          </a:solidFill>
                        </a:rPr>
                        <a:t>Zhang 2017</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Yes (camera)</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Fine-tuned CNN</a:t>
                      </a:r>
                      <a:endParaRPr lang="en-US" sz="1300" dirty="0"/>
                    </a:p>
                    <a:p>
                      <a:pPr marL="0" indent="0" algn="ctr">
                        <a:buNone/>
                      </a:pPr>
                      <a:r>
                        <a:rPr lang="en-US" sz="1300" dirty="0">
                          <a:solidFill>
                            <a:srgbClr val="222222"/>
                          </a:solidFill>
                        </a:rPr>
                        <a:t>(closed-set)</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Catalogued only</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Record / none</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300" dirty="0">
                          <a:solidFill>
                            <a:srgbClr val="222222"/>
                          </a:solidFill>
                        </a:rPr>
                        <a:t>Continuous</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extLst>
                  <a:ext uri="{0D108BD9-81ED-4DB2-BD59-A6C34878D82A}">
                    <a16:rowId xmlns:a16="http://schemas.microsoft.com/office/drawing/2014/main" val="10003"/>
                  </a:ext>
                </a:extLst>
              </a:tr>
              <a:tr h="787400">
                <a:tc>
                  <a:txBody>
                    <a:bodyPr/>
                    <a:lstStyle/>
                    <a:p>
                      <a:pPr marL="0" indent="0" algn="ctr">
                        <a:buNone/>
                      </a:pPr>
                      <a:r>
                        <a:rPr lang="en-US" sz="1300" b="1" dirty="0">
                          <a:solidFill>
                            <a:srgbClr val="002060"/>
                          </a:solidFill>
                        </a:rPr>
                        <a:t>Ours (Aria)</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E7F1F1"/>
                    </a:solidFill>
                  </a:tcPr>
                </a:tc>
                <a:tc>
                  <a:txBody>
                    <a:bodyPr/>
                    <a:lstStyle/>
                    <a:p>
                      <a:pPr marL="0" indent="0" algn="ctr">
                        <a:buNone/>
                      </a:pPr>
                      <a:r>
                        <a:rPr lang="en-US" sz="1300" b="1" dirty="0">
                          <a:solidFill>
                            <a:srgbClr val="002060"/>
                          </a:solidFill>
                        </a:rPr>
                        <a:t>Yes</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E7F1F1"/>
                    </a:solidFill>
                  </a:tcPr>
                </a:tc>
                <a:tc>
                  <a:txBody>
                    <a:bodyPr/>
                    <a:lstStyle/>
                    <a:p>
                      <a:pPr marL="0" indent="0" algn="ctr">
                        <a:buNone/>
                      </a:pPr>
                      <a:r>
                        <a:rPr lang="en-US" sz="1300" b="1" dirty="0">
                          <a:solidFill>
                            <a:srgbClr val="002060"/>
                          </a:solidFill>
                        </a:rPr>
                        <a:t>Vision-Language Model</a:t>
                      </a:r>
                      <a:endParaRPr lang="en-US" sz="1300" dirty="0"/>
                    </a:p>
                    <a:p>
                      <a:pPr marL="0" indent="0" algn="ctr">
                        <a:buNone/>
                      </a:pPr>
                      <a:r>
                        <a:rPr lang="en-US" sz="1300" b="1" dirty="0">
                          <a:solidFill>
                            <a:srgbClr val="002060"/>
                          </a:solidFill>
                        </a:rPr>
                        <a:t>(open-set + closed catalog)</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E7F1F1"/>
                    </a:solidFill>
                  </a:tcPr>
                </a:tc>
                <a:tc>
                  <a:txBody>
                    <a:bodyPr/>
                    <a:lstStyle/>
                    <a:p>
                      <a:pPr marL="0" indent="0" algn="ctr">
                        <a:buNone/>
                      </a:pPr>
                      <a:r>
                        <a:rPr lang="en-US" sz="1300" b="1" dirty="0">
                          <a:solidFill>
                            <a:srgbClr val="002060"/>
                          </a:solidFill>
                        </a:rPr>
                        <a:t>Catalogued + free visit</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E7F1F1"/>
                    </a:solidFill>
                  </a:tcPr>
                </a:tc>
                <a:tc>
                  <a:txBody>
                    <a:bodyPr/>
                    <a:lstStyle/>
                    <a:p>
                      <a:pPr marL="0" indent="0" algn="ctr">
                        <a:buNone/>
                      </a:pPr>
                      <a:r>
                        <a:rPr lang="en-US" sz="1300" b="1" dirty="0">
                          <a:solidFill>
                            <a:srgbClr val="002060"/>
                          </a:solidFill>
                        </a:rPr>
                        <a:t>Generative + personalized</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E7F1F1"/>
                    </a:solidFill>
                  </a:tcPr>
                </a:tc>
                <a:tc>
                  <a:txBody>
                    <a:bodyPr/>
                    <a:lstStyle/>
                    <a:p>
                      <a:pPr marL="0" indent="0" algn="ctr">
                        <a:buNone/>
                      </a:pPr>
                      <a:r>
                        <a:rPr lang="en-US" sz="1300" b="1" dirty="0">
                          <a:solidFill>
                            <a:srgbClr val="002060"/>
                          </a:solidFill>
                        </a:rPr>
                        <a:t>Stop &amp; dwell (IMU)</a:t>
                      </a:r>
                      <a:endParaRPr lang="en-US" sz="1300" dirty="0"/>
                    </a:p>
                  </a:txBody>
                  <a:tcPr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E7F1F1"/>
                    </a:solidFill>
                  </a:tcPr>
                </a:tc>
                <a:extLst>
                  <a:ext uri="{0D108BD9-81ED-4DB2-BD59-A6C34878D82A}">
                    <a16:rowId xmlns:a16="http://schemas.microsoft.com/office/drawing/2014/main" val="10004"/>
                  </a:ext>
                </a:extLst>
              </a:tr>
            </a:tbl>
          </a:graphicData>
        </a:graphic>
      </p:graphicFrame>
      <p:sp>
        <p:nvSpPr>
          <p:cNvPr id="6" name="Text 2"/>
          <p:cNvSpPr/>
          <p:nvPr/>
        </p:nvSpPr>
        <p:spPr>
          <a:xfrm>
            <a:off x="822960" y="5989320"/>
            <a:ext cx="10545775" cy="457200"/>
          </a:xfrm>
          <a:prstGeom prst="rect">
            <a:avLst/>
          </a:prstGeom>
          <a:noFill/>
          <a:ln/>
        </p:spPr>
        <p:txBody>
          <a:bodyPr wrap="square" rtlCol="0" anchor="ctr"/>
          <a:lstStyle/>
          <a:p>
            <a:pPr marL="0" indent="0" algn="ctr">
              <a:buNone/>
            </a:pPr>
            <a:r>
              <a:rPr lang="en-US" sz="1400" b="1" dirty="0">
                <a:solidFill>
                  <a:srgbClr val="002060"/>
                </a:solidFill>
              </a:rPr>
              <a:t>Our contribution:  </a:t>
            </a:r>
            <a:r>
              <a:rPr lang="en-US" sz="1400" dirty="0">
                <a:solidFill>
                  <a:srgbClr val="222222"/>
                </a:solidFill>
              </a:rPr>
              <a:t>motion-triggered playback, generative narration personalized per visitor, and a plain-text catalog that makes recognition work on any collection - no per-museum training, no infrastructure in the gallery.</a:t>
            </a:r>
          </a:p>
        </p:txBody>
      </p:sp>
      <p:pic>
        <p:nvPicPr>
          <p:cNvPr id="5" name="Image 4">
            <a:extLst>
              <a:ext uri="{FF2B5EF4-FFF2-40B4-BE49-F238E27FC236}">
                <a16:creationId xmlns:a16="http://schemas.microsoft.com/office/drawing/2014/main" id="{B3090917-456C-8D40-CA6D-93574B324238}"/>
              </a:ext>
            </a:extLst>
          </p:cNvPr>
          <p:cNvPicPr>
            <a:picLocks noChangeAspect="1"/>
          </p:cNvPicPr>
          <p:nvPr/>
        </p:nvPicPr>
        <p:blipFill>
          <a:blip r:embed="rId3"/>
          <a:stretch>
            <a:fillRect/>
          </a:stretch>
        </p:blipFill>
        <p:spPr>
          <a:xfrm>
            <a:off x="0" y="378008"/>
            <a:ext cx="2578357" cy="572968"/>
          </a:xfrm>
          <a:prstGeom prst="rect">
            <a:avLst/>
          </a:prstGeom>
        </p:spPr>
      </p:pic>
    </p:spTree>
    <p:extLst>
      <p:ext uri="{BB962C8B-B14F-4D97-AF65-F5344CB8AC3E}">
        <p14:creationId xmlns:p14="http://schemas.microsoft.com/office/powerpoint/2010/main" val="3267538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11</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ea typeface="Calibri" pitchFamily="34" charset="-122"/>
                <a:cs typeface="Calibri" pitchFamily="34" charset="-120"/>
              </a:rPr>
              <a:t>Our Solution: System Overview</a:t>
            </a:r>
            <a:endParaRPr lang="en-US" sz="2700" dirty="0"/>
          </a:p>
        </p:txBody>
      </p:sp>
      <p:sp>
        <p:nvSpPr>
          <p:cNvPr id="5" name="Text 2"/>
          <p:cNvSpPr/>
          <p:nvPr/>
        </p:nvSpPr>
        <p:spPr>
          <a:xfrm>
            <a:off x="914400" y="1234440"/>
            <a:ext cx="10362895" cy="365760"/>
          </a:xfrm>
          <a:prstGeom prst="rect">
            <a:avLst/>
          </a:prstGeom>
          <a:noFill/>
          <a:ln/>
        </p:spPr>
        <p:txBody>
          <a:bodyPr wrap="square" rtlCol="0" anchor="ctr"/>
          <a:lstStyle/>
          <a:p>
            <a:pPr marL="0" indent="0" algn="ctr">
              <a:buNone/>
            </a:pPr>
            <a:r>
              <a:rPr lang="en-US" sz="1400" i="1" dirty="0">
                <a:solidFill>
                  <a:srgbClr val="0E7490"/>
                </a:solidFill>
              </a:rPr>
              <a:t>A multi-threaded streaming pipeline - each stage runs in parallel and communicates through queues.</a:t>
            </a:r>
          </a:p>
        </p:txBody>
      </p:sp>
      <p:sp>
        <p:nvSpPr>
          <p:cNvPr id="6" name="Shape 3"/>
          <p:cNvSpPr/>
          <p:nvPr/>
        </p:nvSpPr>
        <p:spPr>
          <a:xfrm>
            <a:off x="548640" y="2743200"/>
            <a:ext cx="1993392" cy="1554480"/>
          </a:xfrm>
          <a:prstGeom prst="roundRect">
            <a:avLst>
              <a:gd name="adj" fmla="val 4706"/>
            </a:avLst>
          </a:prstGeom>
          <a:solidFill>
            <a:srgbClr val="1F4E79"/>
          </a:solidFill>
          <a:ln/>
          <a:effectLst>
            <a:outerShdw blurRad="88900" dist="38100" dir="8100000" algn="bl" rotWithShape="0">
              <a:srgbClr val="000000">
                <a:alpha val="13000"/>
              </a:srgbClr>
            </a:outerShdw>
          </a:effectLst>
        </p:spPr>
        <p:txBody>
          <a:bodyPr/>
          <a:lstStyle/>
          <a:p>
            <a:endParaRPr lang="fr-FR"/>
          </a:p>
        </p:txBody>
      </p:sp>
      <p:sp>
        <p:nvSpPr>
          <p:cNvPr id="7" name="Text 4"/>
          <p:cNvSpPr/>
          <p:nvPr/>
        </p:nvSpPr>
        <p:spPr>
          <a:xfrm>
            <a:off x="548640" y="2926080"/>
            <a:ext cx="1993392" cy="640080"/>
          </a:xfrm>
          <a:prstGeom prst="rect">
            <a:avLst/>
          </a:prstGeom>
          <a:noFill/>
          <a:ln/>
        </p:spPr>
        <p:txBody>
          <a:bodyPr wrap="square" rtlCol="0" anchor="ctr"/>
          <a:lstStyle/>
          <a:p>
            <a:pPr marL="0" indent="0" algn="ctr">
              <a:buNone/>
            </a:pPr>
            <a:r>
              <a:rPr lang="en-US" sz="1550" b="1" dirty="0">
                <a:solidFill>
                  <a:srgbClr val="FFFFFF"/>
                </a:solidFill>
              </a:rPr>
              <a:t>Aria stream</a:t>
            </a:r>
            <a:endParaRPr lang="en-US" sz="1550" dirty="0"/>
          </a:p>
        </p:txBody>
      </p:sp>
      <p:sp>
        <p:nvSpPr>
          <p:cNvPr id="8" name="Text 5"/>
          <p:cNvSpPr/>
          <p:nvPr/>
        </p:nvSpPr>
        <p:spPr>
          <a:xfrm>
            <a:off x="640080" y="3584448"/>
            <a:ext cx="1810512" cy="594360"/>
          </a:xfrm>
          <a:prstGeom prst="rect">
            <a:avLst/>
          </a:prstGeom>
          <a:noFill/>
          <a:ln/>
        </p:spPr>
        <p:txBody>
          <a:bodyPr wrap="square" rtlCol="0" anchor="t"/>
          <a:lstStyle/>
          <a:p>
            <a:pPr marL="0" indent="0" algn="ctr">
              <a:buNone/>
            </a:pPr>
            <a:r>
              <a:rPr lang="en-US" sz="1150" dirty="0">
                <a:solidFill>
                  <a:srgbClr val="EAF0F6"/>
                </a:solidFill>
              </a:rPr>
              <a:t>RGB POV </a:t>
            </a:r>
            <a:endParaRPr lang="en-US" sz="1150" dirty="0"/>
          </a:p>
          <a:p>
            <a:pPr marL="0" indent="0" algn="ctr">
              <a:buNone/>
            </a:pPr>
            <a:r>
              <a:rPr lang="en-US" sz="1150" dirty="0">
                <a:solidFill>
                  <a:srgbClr val="EAF0F6"/>
                </a:solidFill>
              </a:rPr>
              <a:t>+ IMU</a:t>
            </a:r>
            <a:endParaRPr lang="en-US" sz="1150" dirty="0"/>
          </a:p>
        </p:txBody>
      </p:sp>
      <p:sp>
        <p:nvSpPr>
          <p:cNvPr id="9" name="Shape 6"/>
          <p:cNvSpPr/>
          <p:nvPr/>
        </p:nvSpPr>
        <p:spPr>
          <a:xfrm>
            <a:off x="2578608" y="3520440"/>
            <a:ext cx="208712" cy="0"/>
          </a:xfrm>
          <a:prstGeom prst="line">
            <a:avLst/>
          </a:prstGeom>
          <a:noFill/>
          <a:ln w="31750">
            <a:solidFill>
              <a:srgbClr val="9AA8BC"/>
            </a:solidFill>
            <a:prstDash val="solid"/>
            <a:tailEnd type="triangle"/>
          </a:ln>
        </p:spPr>
        <p:txBody>
          <a:bodyPr/>
          <a:lstStyle/>
          <a:p>
            <a:endParaRPr lang="fr-FR"/>
          </a:p>
        </p:txBody>
      </p:sp>
      <p:sp>
        <p:nvSpPr>
          <p:cNvPr id="10" name="Shape 7"/>
          <p:cNvSpPr/>
          <p:nvPr/>
        </p:nvSpPr>
        <p:spPr>
          <a:xfrm>
            <a:off x="2823896" y="2743200"/>
            <a:ext cx="1993392" cy="1554480"/>
          </a:xfrm>
          <a:prstGeom prst="roundRect">
            <a:avLst>
              <a:gd name="adj" fmla="val 4706"/>
            </a:avLst>
          </a:prstGeom>
          <a:solidFill>
            <a:srgbClr val="2E8B8B"/>
          </a:solidFill>
          <a:ln/>
          <a:effectLst>
            <a:outerShdw blurRad="88900" dist="38100" dir="8100000" algn="bl" rotWithShape="0">
              <a:srgbClr val="000000">
                <a:alpha val="13000"/>
              </a:srgbClr>
            </a:outerShdw>
          </a:effectLst>
        </p:spPr>
        <p:txBody>
          <a:bodyPr/>
          <a:lstStyle/>
          <a:p>
            <a:endParaRPr lang="fr-FR"/>
          </a:p>
        </p:txBody>
      </p:sp>
      <p:sp>
        <p:nvSpPr>
          <p:cNvPr id="11" name="Text 8"/>
          <p:cNvSpPr/>
          <p:nvPr/>
        </p:nvSpPr>
        <p:spPr>
          <a:xfrm>
            <a:off x="2823896" y="2926080"/>
            <a:ext cx="1993392" cy="640080"/>
          </a:xfrm>
          <a:prstGeom prst="rect">
            <a:avLst/>
          </a:prstGeom>
          <a:noFill/>
          <a:ln/>
        </p:spPr>
        <p:txBody>
          <a:bodyPr wrap="square" rtlCol="0" anchor="ctr"/>
          <a:lstStyle/>
          <a:p>
            <a:pPr marL="0" indent="0" algn="ctr">
              <a:buNone/>
            </a:pPr>
            <a:r>
              <a:rPr lang="en-US" sz="1550" b="1" dirty="0">
                <a:solidFill>
                  <a:srgbClr val="FFFFFF"/>
                </a:solidFill>
              </a:rPr>
              <a:t>Motion gate</a:t>
            </a:r>
          </a:p>
        </p:txBody>
      </p:sp>
      <p:sp>
        <p:nvSpPr>
          <p:cNvPr id="12" name="Text 9"/>
          <p:cNvSpPr/>
          <p:nvPr/>
        </p:nvSpPr>
        <p:spPr>
          <a:xfrm>
            <a:off x="2915336" y="3584448"/>
            <a:ext cx="1810512" cy="594360"/>
          </a:xfrm>
          <a:prstGeom prst="rect">
            <a:avLst/>
          </a:prstGeom>
          <a:noFill/>
          <a:ln/>
        </p:spPr>
        <p:txBody>
          <a:bodyPr wrap="square" rtlCol="0" anchor="t"/>
          <a:lstStyle/>
          <a:p>
            <a:pPr marL="0" indent="0" algn="ctr">
              <a:buNone/>
            </a:pPr>
            <a:r>
              <a:rPr lang="en-US" sz="1150" dirty="0">
                <a:solidFill>
                  <a:srgbClr val="EAF0F6"/>
                </a:solidFill>
              </a:rPr>
              <a:t>IMU: walking</a:t>
            </a:r>
          </a:p>
          <a:p>
            <a:pPr marL="0" indent="0" algn="ctr">
              <a:buNone/>
            </a:pPr>
            <a:r>
              <a:rPr lang="en-US" sz="1150" dirty="0">
                <a:solidFill>
                  <a:srgbClr val="EAF0F6"/>
                </a:solidFill>
              </a:rPr>
              <a:t>vs. standing still</a:t>
            </a:r>
          </a:p>
        </p:txBody>
      </p:sp>
      <p:sp>
        <p:nvSpPr>
          <p:cNvPr id="13" name="Shape 10"/>
          <p:cNvSpPr/>
          <p:nvPr/>
        </p:nvSpPr>
        <p:spPr>
          <a:xfrm>
            <a:off x="4853864" y="3520440"/>
            <a:ext cx="208712" cy="0"/>
          </a:xfrm>
          <a:prstGeom prst="line">
            <a:avLst/>
          </a:prstGeom>
          <a:noFill/>
          <a:ln w="31750">
            <a:solidFill>
              <a:srgbClr val="9AA8BC"/>
            </a:solidFill>
            <a:prstDash val="solid"/>
            <a:tailEnd type="triangle"/>
          </a:ln>
        </p:spPr>
        <p:txBody>
          <a:bodyPr/>
          <a:lstStyle/>
          <a:p>
            <a:endParaRPr lang="fr-FR"/>
          </a:p>
        </p:txBody>
      </p:sp>
      <p:sp>
        <p:nvSpPr>
          <p:cNvPr id="14" name="Shape 11"/>
          <p:cNvSpPr/>
          <p:nvPr/>
        </p:nvSpPr>
        <p:spPr>
          <a:xfrm>
            <a:off x="5099152" y="2743200"/>
            <a:ext cx="1993392" cy="1554480"/>
          </a:xfrm>
          <a:prstGeom prst="roundRect">
            <a:avLst>
              <a:gd name="adj" fmla="val 4706"/>
            </a:avLst>
          </a:prstGeom>
          <a:solidFill>
            <a:srgbClr val="5B4B8A"/>
          </a:solidFill>
          <a:ln/>
          <a:effectLst>
            <a:outerShdw blurRad="88900" dist="38100" dir="8100000" algn="bl" rotWithShape="0">
              <a:srgbClr val="000000">
                <a:alpha val="13000"/>
              </a:srgbClr>
            </a:outerShdw>
          </a:effectLst>
        </p:spPr>
        <p:txBody>
          <a:bodyPr/>
          <a:lstStyle/>
          <a:p>
            <a:endParaRPr lang="fr-FR"/>
          </a:p>
        </p:txBody>
      </p:sp>
      <p:sp>
        <p:nvSpPr>
          <p:cNvPr id="15" name="Text 12"/>
          <p:cNvSpPr/>
          <p:nvPr/>
        </p:nvSpPr>
        <p:spPr>
          <a:xfrm>
            <a:off x="5099152" y="2926080"/>
            <a:ext cx="1993392" cy="640080"/>
          </a:xfrm>
          <a:prstGeom prst="rect">
            <a:avLst/>
          </a:prstGeom>
          <a:noFill/>
          <a:ln/>
        </p:spPr>
        <p:txBody>
          <a:bodyPr wrap="square" rtlCol="0" anchor="ctr"/>
          <a:lstStyle/>
          <a:p>
            <a:pPr marL="0" indent="0" algn="ctr">
              <a:buNone/>
            </a:pPr>
            <a:r>
              <a:rPr lang="en-US" sz="1550" b="1" dirty="0">
                <a:solidFill>
                  <a:srgbClr val="FFFFFF"/>
                </a:solidFill>
              </a:rPr>
              <a:t>Artwork</a:t>
            </a:r>
            <a:endParaRPr lang="en-US" sz="1550" dirty="0"/>
          </a:p>
          <a:p>
            <a:pPr marL="0" indent="0" algn="ctr">
              <a:buNone/>
            </a:pPr>
            <a:r>
              <a:rPr lang="en-US" sz="1550" b="1" dirty="0">
                <a:solidFill>
                  <a:srgbClr val="FFFFFF"/>
                </a:solidFill>
              </a:rPr>
              <a:t>recognition</a:t>
            </a:r>
            <a:endParaRPr lang="en-US" sz="1550" dirty="0"/>
          </a:p>
        </p:txBody>
      </p:sp>
      <p:sp>
        <p:nvSpPr>
          <p:cNvPr id="16" name="Text 13"/>
          <p:cNvSpPr/>
          <p:nvPr/>
        </p:nvSpPr>
        <p:spPr>
          <a:xfrm>
            <a:off x="5190592" y="3584448"/>
            <a:ext cx="1810512" cy="594360"/>
          </a:xfrm>
          <a:prstGeom prst="rect">
            <a:avLst/>
          </a:prstGeom>
          <a:noFill/>
          <a:ln/>
        </p:spPr>
        <p:txBody>
          <a:bodyPr wrap="square" rtlCol="0" anchor="t"/>
          <a:lstStyle/>
          <a:p>
            <a:pPr marL="0" indent="0" algn="ctr">
              <a:buNone/>
            </a:pPr>
            <a:r>
              <a:rPr lang="en-US" sz="1150" dirty="0">
                <a:solidFill>
                  <a:srgbClr val="EAF0F6"/>
                </a:solidFill>
              </a:rPr>
              <a:t>VLM: ARTWORK +</a:t>
            </a:r>
            <a:endParaRPr lang="en-US" sz="1150" dirty="0"/>
          </a:p>
          <a:p>
            <a:pPr marL="0" indent="0" algn="ctr">
              <a:buNone/>
            </a:pPr>
            <a:r>
              <a:rPr lang="en-US" sz="1150" dirty="0">
                <a:solidFill>
                  <a:srgbClr val="EAF0F6"/>
                </a:solidFill>
              </a:rPr>
              <a:t>description / NONE</a:t>
            </a:r>
            <a:endParaRPr lang="en-US" sz="1150" dirty="0"/>
          </a:p>
        </p:txBody>
      </p:sp>
      <p:sp>
        <p:nvSpPr>
          <p:cNvPr id="17" name="Shape 14"/>
          <p:cNvSpPr/>
          <p:nvPr/>
        </p:nvSpPr>
        <p:spPr>
          <a:xfrm>
            <a:off x="7129120" y="3520440"/>
            <a:ext cx="208712" cy="0"/>
          </a:xfrm>
          <a:prstGeom prst="line">
            <a:avLst/>
          </a:prstGeom>
          <a:noFill/>
          <a:ln w="31750">
            <a:solidFill>
              <a:srgbClr val="9AA8BC"/>
            </a:solidFill>
            <a:prstDash val="solid"/>
            <a:tailEnd type="triangle"/>
          </a:ln>
        </p:spPr>
        <p:txBody>
          <a:bodyPr/>
          <a:lstStyle/>
          <a:p>
            <a:endParaRPr lang="fr-FR"/>
          </a:p>
        </p:txBody>
      </p:sp>
      <p:sp>
        <p:nvSpPr>
          <p:cNvPr id="18" name="Shape 15"/>
          <p:cNvSpPr/>
          <p:nvPr/>
        </p:nvSpPr>
        <p:spPr>
          <a:xfrm>
            <a:off x="7374407" y="2743200"/>
            <a:ext cx="1993392" cy="1554480"/>
          </a:xfrm>
          <a:prstGeom prst="roundRect">
            <a:avLst>
              <a:gd name="adj" fmla="val 4706"/>
            </a:avLst>
          </a:prstGeom>
          <a:solidFill>
            <a:srgbClr val="C2671A"/>
          </a:solidFill>
          <a:ln/>
          <a:effectLst>
            <a:outerShdw blurRad="88900" dist="38100" dir="8100000" algn="bl" rotWithShape="0">
              <a:srgbClr val="000000">
                <a:alpha val="13000"/>
              </a:srgbClr>
            </a:outerShdw>
          </a:effectLst>
        </p:spPr>
        <p:txBody>
          <a:bodyPr/>
          <a:lstStyle/>
          <a:p>
            <a:endParaRPr lang="fr-FR"/>
          </a:p>
        </p:txBody>
      </p:sp>
      <p:sp>
        <p:nvSpPr>
          <p:cNvPr id="19" name="Text 16"/>
          <p:cNvSpPr/>
          <p:nvPr/>
        </p:nvSpPr>
        <p:spPr>
          <a:xfrm>
            <a:off x="7374407" y="2926080"/>
            <a:ext cx="1993392" cy="640080"/>
          </a:xfrm>
          <a:prstGeom prst="rect">
            <a:avLst/>
          </a:prstGeom>
          <a:noFill/>
          <a:ln/>
        </p:spPr>
        <p:txBody>
          <a:bodyPr wrap="square" rtlCol="0" anchor="ctr"/>
          <a:lstStyle/>
          <a:p>
            <a:pPr marL="0" indent="0" algn="ctr">
              <a:buNone/>
            </a:pPr>
            <a:r>
              <a:rPr lang="en-US" sz="1550" b="1" dirty="0">
                <a:solidFill>
                  <a:srgbClr val="FFFFFF"/>
                </a:solidFill>
              </a:rPr>
              <a:t>Narration</a:t>
            </a:r>
          </a:p>
        </p:txBody>
      </p:sp>
      <p:sp>
        <p:nvSpPr>
          <p:cNvPr id="20" name="Text 17"/>
          <p:cNvSpPr/>
          <p:nvPr/>
        </p:nvSpPr>
        <p:spPr>
          <a:xfrm>
            <a:off x="7465847" y="3584448"/>
            <a:ext cx="1810512" cy="594360"/>
          </a:xfrm>
          <a:prstGeom prst="rect">
            <a:avLst/>
          </a:prstGeom>
          <a:noFill/>
          <a:ln/>
        </p:spPr>
        <p:txBody>
          <a:bodyPr wrap="square" rtlCol="0" anchor="t"/>
          <a:lstStyle/>
          <a:p>
            <a:pPr marL="0" indent="0" algn="ctr">
              <a:buNone/>
            </a:pPr>
            <a:r>
              <a:rPr lang="en-US" sz="1150" dirty="0">
                <a:solidFill>
                  <a:srgbClr val="EAF0F6"/>
                </a:solidFill>
              </a:rPr>
              <a:t>LLM stream -&gt;</a:t>
            </a:r>
          </a:p>
          <a:p>
            <a:pPr marL="0" indent="0" algn="ctr">
              <a:buNone/>
            </a:pPr>
            <a:r>
              <a:rPr lang="en-US" sz="1150" dirty="0">
                <a:solidFill>
                  <a:srgbClr val="EAF0F6"/>
                </a:solidFill>
              </a:rPr>
              <a:t>TTS (profile voice)</a:t>
            </a:r>
          </a:p>
        </p:txBody>
      </p:sp>
      <p:sp>
        <p:nvSpPr>
          <p:cNvPr id="21" name="Shape 18"/>
          <p:cNvSpPr/>
          <p:nvPr/>
        </p:nvSpPr>
        <p:spPr>
          <a:xfrm>
            <a:off x="9404375" y="3520440"/>
            <a:ext cx="208712" cy="0"/>
          </a:xfrm>
          <a:prstGeom prst="line">
            <a:avLst/>
          </a:prstGeom>
          <a:noFill/>
          <a:ln w="31750">
            <a:solidFill>
              <a:srgbClr val="9AA8BC"/>
            </a:solidFill>
            <a:prstDash val="solid"/>
            <a:tailEnd type="triangle"/>
          </a:ln>
        </p:spPr>
        <p:txBody>
          <a:bodyPr/>
          <a:lstStyle/>
          <a:p>
            <a:endParaRPr lang="fr-FR"/>
          </a:p>
        </p:txBody>
      </p:sp>
      <p:sp>
        <p:nvSpPr>
          <p:cNvPr id="22" name="Shape 19"/>
          <p:cNvSpPr/>
          <p:nvPr/>
        </p:nvSpPr>
        <p:spPr>
          <a:xfrm>
            <a:off x="9649663" y="2743200"/>
            <a:ext cx="1993392" cy="1554480"/>
          </a:xfrm>
          <a:prstGeom prst="roundRect">
            <a:avLst>
              <a:gd name="adj" fmla="val 4706"/>
            </a:avLst>
          </a:prstGeom>
          <a:solidFill>
            <a:srgbClr val="4B5563"/>
          </a:solidFill>
          <a:ln/>
          <a:effectLst>
            <a:outerShdw blurRad="88900" dist="38100" dir="8100000" algn="bl" rotWithShape="0">
              <a:srgbClr val="000000">
                <a:alpha val="13000"/>
              </a:srgbClr>
            </a:outerShdw>
          </a:effectLst>
        </p:spPr>
        <p:txBody>
          <a:bodyPr/>
          <a:lstStyle/>
          <a:p>
            <a:endParaRPr lang="fr-FR"/>
          </a:p>
        </p:txBody>
      </p:sp>
      <p:sp>
        <p:nvSpPr>
          <p:cNvPr id="23" name="Text 20"/>
          <p:cNvSpPr/>
          <p:nvPr/>
        </p:nvSpPr>
        <p:spPr>
          <a:xfrm>
            <a:off x="9649663" y="2926080"/>
            <a:ext cx="1993392" cy="640080"/>
          </a:xfrm>
          <a:prstGeom prst="rect">
            <a:avLst/>
          </a:prstGeom>
          <a:noFill/>
          <a:ln/>
        </p:spPr>
        <p:txBody>
          <a:bodyPr wrap="square" rtlCol="0" anchor="ctr"/>
          <a:lstStyle/>
          <a:p>
            <a:pPr marL="0" indent="0" algn="ctr">
              <a:buNone/>
            </a:pPr>
            <a:r>
              <a:rPr lang="en-US" sz="1550" b="1" dirty="0">
                <a:solidFill>
                  <a:srgbClr val="FFFFFF"/>
                </a:solidFill>
              </a:rPr>
              <a:t>Audio</a:t>
            </a:r>
            <a:endParaRPr lang="en-US" sz="1550" dirty="0"/>
          </a:p>
          <a:p>
            <a:pPr marL="0" indent="0" algn="ctr">
              <a:buNone/>
            </a:pPr>
            <a:r>
              <a:rPr lang="en-US" sz="1550" b="1" dirty="0">
                <a:solidFill>
                  <a:srgbClr val="FFFFFF"/>
                </a:solidFill>
              </a:rPr>
              <a:t>playback</a:t>
            </a:r>
            <a:endParaRPr lang="en-US" sz="1550" dirty="0"/>
          </a:p>
        </p:txBody>
      </p:sp>
      <p:sp>
        <p:nvSpPr>
          <p:cNvPr id="24" name="Text 21"/>
          <p:cNvSpPr/>
          <p:nvPr/>
        </p:nvSpPr>
        <p:spPr>
          <a:xfrm>
            <a:off x="9741103" y="3584448"/>
            <a:ext cx="1810512" cy="594360"/>
          </a:xfrm>
          <a:prstGeom prst="rect">
            <a:avLst/>
          </a:prstGeom>
          <a:noFill/>
          <a:ln/>
        </p:spPr>
        <p:txBody>
          <a:bodyPr wrap="square" rtlCol="0" anchor="t"/>
          <a:lstStyle/>
          <a:p>
            <a:pPr marL="0" indent="0" algn="ctr">
              <a:buNone/>
            </a:pPr>
            <a:r>
              <a:rPr lang="en-US" sz="1150" dirty="0">
                <a:solidFill>
                  <a:srgbClr val="EAF0F6"/>
                </a:solidFill>
              </a:rPr>
              <a:t>pygame -&gt;</a:t>
            </a:r>
            <a:endParaRPr lang="en-US" sz="1150" dirty="0"/>
          </a:p>
          <a:p>
            <a:pPr marL="0" indent="0" algn="ctr">
              <a:buNone/>
            </a:pPr>
            <a:r>
              <a:rPr lang="en-US" sz="1150" dirty="0">
                <a:solidFill>
                  <a:srgbClr val="EAF0F6"/>
                </a:solidFill>
              </a:rPr>
              <a:t>in-ear audio</a:t>
            </a:r>
            <a:endParaRPr lang="en-US" sz="1150" dirty="0"/>
          </a:p>
        </p:txBody>
      </p:sp>
      <p:sp>
        <p:nvSpPr>
          <p:cNvPr id="25" name="Text 22"/>
          <p:cNvSpPr/>
          <p:nvPr/>
        </p:nvSpPr>
        <p:spPr>
          <a:xfrm>
            <a:off x="548640" y="2286000"/>
            <a:ext cx="4268648" cy="274320"/>
          </a:xfrm>
          <a:prstGeom prst="rect">
            <a:avLst/>
          </a:prstGeom>
          <a:noFill/>
          <a:ln/>
        </p:spPr>
        <p:txBody>
          <a:bodyPr wrap="square" rtlCol="0" anchor="ctr"/>
          <a:lstStyle/>
          <a:p>
            <a:pPr marL="0" indent="0" algn="ctr">
              <a:buNone/>
            </a:pPr>
            <a:r>
              <a:rPr lang="en-US" sz="1100" b="1" kern="0" spc="200" dirty="0">
                <a:solidFill>
                  <a:srgbClr val="6B7280"/>
                </a:solidFill>
              </a:rPr>
              <a:t>PERCEIVE</a:t>
            </a:r>
            <a:endParaRPr lang="en-US" sz="1100" dirty="0"/>
          </a:p>
        </p:txBody>
      </p:sp>
      <p:sp>
        <p:nvSpPr>
          <p:cNvPr id="26" name="Text 23"/>
          <p:cNvSpPr/>
          <p:nvPr/>
        </p:nvSpPr>
        <p:spPr>
          <a:xfrm>
            <a:off x="5099152" y="2286000"/>
            <a:ext cx="1993392" cy="274320"/>
          </a:xfrm>
          <a:prstGeom prst="rect">
            <a:avLst/>
          </a:prstGeom>
          <a:noFill/>
          <a:ln/>
        </p:spPr>
        <p:txBody>
          <a:bodyPr wrap="square" rtlCol="0" anchor="ctr"/>
          <a:lstStyle/>
          <a:p>
            <a:pPr marL="0" indent="0" algn="ctr">
              <a:buNone/>
            </a:pPr>
            <a:r>
              <a:rPr lang="en-US" sz="1100" b="1" kern="0" spc="200" dirty="0">
                <a:solidFill>
                  <a:srgbClr val="6B7280"/>
                </a:solidFill>
              </a:rPr>
              <a:t>UNDERSTAND</a:t>
            </a:r>
            <a:endParaRPr lang="en-US" sz="1100" dirty="0"/>
          </a:p>
        </p:txBody>
      </p:sp>
      <p:sp>
        <p:nvSpPr>
          <p:cNvPr id="27" name="Text 24"/>
          <p:cNvSpPr/>
          <p:nvPr/>
        </p:nvSpPr>
        <p:spPr>
          <a:xfrm>
            <a:off x="7374407" y="2286000"/>
            <a:ext cx="4268648" cy="274320"/>
          </a:xfrm>
          <a:prstGeom prst="rect">
            <a:avLst/>
          </a:prstGeom>
          <a:noFill/>
          <a:ln/>
        </p:spPr>
        <p:txBody>
          <a:bodyPr wrap="square" rtlCol="0" anchor="ctr"/>
          <a:lstStyle/>
          <a:p>
            <a:pPr marL="0" indent="0" algn="ctr">
              <a:buNone/>
            </a:pPr>
            <a:r>
              <a:rPr lang="en-US" sz="1100" b="1" kern="0" spc="200" dirty="0">
                <a:solidFill>
                  <a:srgbClr val="6B7280"/>
                </a:solidFill>
              </a:rPr>
              <a:t>SPEAK</a:t>
            </a:r>
            <a:endParaRPr lang="en-US" sz="1100" dirty="0"/>
          </a:p>
        </p:txBody>
      </p:sp>
      <p:sp>
        <p:nvSpPr>
          <p:cNvPr id="28" name="Shape 25"/>
          <p:cNvSpPr/>
          <p:nvPr/>
        </p:nvSpPr>
        <p:spPr>
          <a:xfrm>
            <a:off x="1097280" y="4800600"/>
            <a:ext cx="9997135" cy="960120"/>
          </a:xfrm>
          <a:prstGeom prst="roundRect">
            <a:avLst>
              <a:gd name="adj" fmla="val 5714"/>
            </a:avLst>
          </a:prstGeom>
          <a:solidFill>
            <a:srgbClr val="EEF3F8"/>
          </a:solidFill>
          <a:ln w="12700">
            <a:solidFill>
              <a:srgbClr val="D7DEE8"/>
            </a:solidFill>
            <a:prstDash val="solid"/>
          </a:ln>
        </p:spPr>
        <p:txBody>
          <a:bodyPr/>
          <a:lstStyle/>
          <a:p>
            <a:endParaRPr lang="fr-FR"/>
          </a:p>
        </p:txBody>
      </p:sp>
      <p:sp>
        <p:nvSpPr>
          <p:cNvPr id="29" name="Text 26"/>
          <p:cNvSpPr/>
          <p:nvPr/>
        </p:nvSpPr>
        <p:spPr>
          <a:xfrm>
            <a:off x="1325880" y="4910328"/>
            <a:ext cx="9539935" cy="731520"/>
          </a:xfrm>
          <a:prstGeom prst="rect">
            <a:avLst/>
          </a:prstGeom>
          <a:noFill/>
          <a:ln/>
        </p:spPr>
        <p:txBody>
          <a:bodyPr wrap="square" rtlCol="0" anchor="ctr"/>
          <a:lstStyle/>
          <a:p>
            <a:pPr marL="0" indent="0">
              <a:buNone/>
            </a:pPr>
            <a:r>
              <a:rPr lang="en-US" sz="1400" b="1" dirty="0">
                <a:solidFill>
                  <a:srgbClr val="002060"/>
                </a:solidFill>
              </a:rPr>
              <a:t>Control logic:  </a:t>
            </a:r>
            <a:r>
              <a:rPr lang="en-US" sz="1350" dirty="0">
                <a:solidFill>
                  <a:srgbClr val="222222"/>
                </a:solidFill>
              </a:rPr>
              <a:t>de-duplicate works already narrated; play a cached opener and announce the title to mask latency; pause the moment the visitor starts walking and resume exactly where the narration stopped; discard frames captured before the last stop so the audio always matches the current view.</a:t>
            </a:r>
          </a:p>
        </p:txBody>
      </p:sp>
      <p:pic>
        <p:nvPicPr>
          <p:cNvPr id="30" name="Image 29">
            <a:extLst>
              <a:ext uri="{FF2B5EF4-FFF2-40B4-BE49-F238E27FC236}">
                <a16:creationId xmlns:a16="http://schemas.microsoft.com/office/drawing/2014/main" id="{AD8CAE88-9424-1B03-63A3-63D446E641EF}"/>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2882606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12</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Our Solution: Attention Detection (IMU)</a:t>
            </a:r>
          </a:p>
        </p:txBody>
      </p:sp>
      <p:sp>
        <p:nvSpPr>
          <p:cNvPr id="5" name="Text 2"/>
          <p:cNvSpPr/>
          <p:nvPr/>
        </p:nvSpPr>
        <p:spPr>
          <a:xfrm>
            <a:off x="914400" y="1280160"/>
            <a:ext cx="10362895" cy="365760"/>
          </a:xfrm>
          <a:prstGeom prst="rect">
            <a:avLst/>
          </a:prstGeom>
          <a:noFill/>
          <a:ln/>
        </p:spPr>
        <p:txBody>
          <a:bodyPr wrap="square" rtlCol="0" anchor="ctr"/>
          <a:lstStyle/>
          <a:p>
            <a:pPr marL="0" indent="0">
              <a:buNone/>
            </a:pPr>
            <a:r>
              <a:rPr lang="en-US" sz="1400" i="1" dirty="0">
                <a:solidFill>
                  <a:srgbClr val="0E7490"/>
                </a:solidFill>
              </a:rPr>
              <a:t>Standing still means interest; walking means move on - the body, not a button, drives the guide.</a:t>
            </a:r>
          </a:p>
        </p:txBody>
      </p:sp>
      <p:sp>
        <p:nvSpPr>
          <p:cNvPr id="6" name="Shape 3"/>
          <p:cNvSpPr/>
          <p:nvPr/>
        </p:nvSpPr>
        <p:spPr>
          <a:xfrm>
            <a:off x="1005840" y="1965960"/>
            <a:ext cx="4846320" cy="2377440"/>
          </a:xfrm>
          <a:prstGeom prst="roundRect">
            <a:avLst>
              <a:gd name="adj" fmla="val 2692"/>
            </a:avLst>
          </a:prstGeom>
          <a:solidFill>
            <a:srgbClr val="EEF3F8"/>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7" name="Shape 4"/>
          <p:cNvSpPr/>
          <p:nvPr/>
        </p:nvSpPr>
        <p:spPr>
          <a:xfrm>
            <a:off x="1234440" y="2194560"/>
            <a:ext cx="502920" cy="502920"/>
          </a:xfrm>
          <a:prstGeom prst="ellipse">
            <a:avLst/>
          </a:prstGeom>
          <a:solidFill>
            <a:srgbClr val="2E8B8B"/>
          </a:solidFill>
          <a:ln/>
        </p:spPr>
        <p:txBody>
          <a:bodyPr/>
          <a:lstStyle/>
          <a:p>
            <a:endParaRPr lang="fr-FR"/>
          </a:p>
        </p:txBody>
      </p:sp>
      <p:sp>
        <p:nvSpPr>
          <p:cNvPr id="8" name="Text 5"/>
          <p:cNvSpPr/>
          <p:nvPr/>
        </p:nvSpPr>
        <p:spPr>
          <a:xfrm>
            <a:off x="1234440" y="2194560"/>
            <a:ext cx="502920" cy="502920"/>
          </a:xfrm>
          <a:prstGeom prst="rect">
            <a:avLst/>
          </a:prstGeom>
          <a:noFill/>
          <a:ln/>
        </p:spPr>
        <p:txBody>
          <a:bodyPr wrap="square" rtlCol="0" anchor="ctr"/>
          <a:lstStyle/>
          <a:p>
            <a:pPr marL="0" indent="0" algn="ctr">
              <a:buNone/>
            </a:pPr>
            <a:r>
              <a:rPr lang="en-US" sz="1800" b="1" dirty="0">
                <a:solidFill>
                  <a:srgbClr val="FFFFFF"/>
                </a:solidFill>
              </a:rPr>
              <a:t>1</a:t>
            </a:r>
            <a:endParaRPr lang="en-US" sz="1800" dirty="0"/>
          </a:p>
        </p:txBody>
      </p:sp>
      <p:sp>
        <p:nvSpPr>
          <p:cNvPr id="9" name="Text 6"/>
          <p:cNvSpPr/>
          <p:nvPr/>
        </p:nvSpPr>
        <p:spPr>
          <a:xfrm>
            <a:off x="1920240" y="2240280"/>
            <a:ext cx="3657600" cy="411480"/>
          </a:xfrm>
          <a:prstGeom prst="rect">
            <a:avLst/>
          </a:prstGeom>
          <a:noFill/>
          <a:ln/>
        </p:spPr>
        <p:txBody>
          <a:bodyPr wrap="square" rtlCol="0" anchor="ctr"/>
          <a:lstStyle/>
          <a:p>
            <a:pPr marL="0" indent="0">
              <a:buNone/>
            </a:pPr>
            <a:r>
              <a:rPr lang="en-US" sz="1600" b="1" dirty="0">
                <a:solidFill>
                  <a:srgbClr val="002060"/>
                </a:solidFill>
              </a:rPr>
              <a:t>Walking detector (motion.py)</a:t>
            </a:r>
          </a:p>
        </p:txBody>
      </p:sp>
      <p:sp>
        <p:nvSpPr>
          <p:cNvPr id="10" name="Text 7"/>
          <p:cNvSpPr/>
          <p:nvPr/>
        </p:nvSpPr>
        <p:spPr>
          <a:xfrm>
            <a:off x="1371600" y="2834640"/>
            <a:ext cx="4297680" cy="1371600"/>
          </a:xfrm>
          <a:prstGeom prst="rect">
            <a:avLst/>
          </a:prstGeom>
          <a:noFill/>
          <a:ln/>
        </p:spPr>
        <p:txBody>
          <a:bodyPr wrap="square" rtlCol="0" anchor="ctr"/>
          <a:lstStyle/>
          <a:p>
            <a:pPr marL="342900" indent="-342900">
              <a:spcAft>
                <a:spcPts val="800"/>
              </a:spcAft>
              <a:buSzPct val="100000"/>
              <a:buChar char="•"/>
            </a:pPr>
            <a:r>
              <a:rPr lang="en-US" sz="1400" dirty="0">
                <a:solidFill>
                  <a:srgbClr val="222222"/>
                </a:solidFill>
              </a:rPr>
              <a:t>Rolling std-dev of accelerometer norm over a 1 s window</a:t>
            </a:r>
          </a:p>
          <a:p>
            <a:pPr marL="342900" indent="-342900">
              <a:spcAft>
                <a:spcPts val="800"/>
              </a:spcAft>
              <a:buSzPct val="100000"/>
              <a:buChar char="•"/>
            </a:pPr>
            <a:r>
              <a:rPr lang="en-US" sz="1400" dirty="0">
                <a:solidFill>
                  <a:srgbClr val="222222"/>
                </a:solidFill>
              </a:rPr>
              <a:t>Still = gravity only; walking = periodic oscillation</a:t>
            </a:r>
          </a:p>
          <a:p>
            <a:pPr marL="342900" indent="-342900">
              <a:spcAft>
                <a:spcPts val="800"/>
              </a:spcAft>
              <a:buSzPct val="100000"/>
              <a:buChar char="•"/>
            </a:pPr>
            <a:r>
              <a:rPr lang="en-US" sz="1400" dirty="0">
                <a:solidFill>
                  <a:srgbClr val="222222"/>
                </a:solidFill>
              </a:rPr>
              <a:t>Runs at ~10 Hz on the Aria IMU stream</a:t>
            </a:r>
          </a:p>
        </p:txBody>
      </p:sp>
      <p:sp>
        <p:nvSpPr>
          <p:cNvPr id="11" name="Shape 8"/>
          <p:cNvSpPr/>
          <p:nvPr/>
        </p:nvSpPr>
        <p:spPr>
          <a:xfrm>
            <a:off x="6309360" y="1965960"/>
            <a:ext cx="4846320" cy="2377440"/>
          </a:xfrm>
          <a:prstGeom prst="roundRect">
            <a:avLst>
              <a:gd name="adj" fmla="val 2692"/>
            </a:avLst>
          </a:prstGeom>
          <a:solidFill>
            <a:srgbClr val="E7F1F1"/>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2" name="Shape 9"/>
          <p:cNvSpPr/>
          <p:nvPr/>
        </p:nvSpPr>
        <p:spPr>
          <a:xfrm>
            <a:off x="6537960" y="2194560"/>
            <a:ext cx="502920" cy="502920"/>
          </a:xfrm>
          <a:prstGeom prst="ellipse">
            <a:avLst/>
          </a:prstGeom>
          <a:solidFill>
            <a:srgbClr val="5B4B8A"/>
          </a:solidFill>
          <a:ln/>
        </p:spPr>
        <p:txBody>
          <a:bodyPr/>
          <a:lstStyle/>
          <a:p>
            <a:endParaRPr lang="fr-FR"/>
          </a:p>
        </p:txBody>
      </p:sp>
      <p:sp>
        <p:nvSpPr>
          <p:cNvPr id="13" name="Text 10"/>
          <p:cNvSpPr/>
          <p:nvPr/>
        </p:nvSpPr>
        <p:spPr>
          <a:xfrm>
            <a:off x="6537960" y="2194560"/>
            <a:ext cx="502920" cy="502920"/>
          </a:xfrm>
          <a:prstGeom prst="rect">
            <a:avLst/>
          </a:prstGeom>
          <a:noFill/>
          <a:ln/>
        </p:spPr>
        <p:txBody>
          <a:bodyPr wrap="square" rtlCol="0" anchor="ctr"/>
          <a:lstStyle/>
          <a:p>
            <a:pPr marL="0" indent="0" algn="ctr">
              <a:buNone/>
            </a:pPr>
            <a:r>
              <a:rPr lang="en-US" sz="1800" b="1" dirty="0">
                <a:solidFill>
                  <a:srgbClr val="FFFFFF"/>
                </a:solidFill>
              </a:rPr>
              <a:t>2</a:t>
            </a:r>
            <a:endParaRPr lang="en-US" sz="1800" dirty="0"/>
          </a:p>
        </p:txBody>
      </p:sp>
      <p:sp>
        <p:nvSpPr>
          <p:cNvPr id="14" name="Text 11"/>
          <p:cNvSpPr/>
          <p:nvPr/>
        </p:nvSpPr>
        <p:spPr>
          <a:xfrm>
            <a:off x="7223760" y="2240280"/>
            <a:ext cx="3657600" cy="411480"/>
          </a:xfrm>
          <a:prstGeom prst="rect">
            <a:avLst/>
          </a:prstGeom>
          <a:noFill/>
          <a:ln/>
        </p:spPr>
        <p:txBody>
          <a:bodyPr wrap="square" rtlCol="0" anchor="ctr"/>
          <a:lstStyle/>
          <a:p>
            <a:pPr marL="0" indent="0">
              <a:buNone/>
            </a:pPr>
            <a:r>
              <a:rPr lang="en-US" sz="1600" b="1" dirty="0">
                <a:solidFill>
                  <a:srgbClr val="002060"/>
                </a:solidFill>
              </a:rPr>
              <a:t>Calibrated hysteresis</a:t>
            </a:r>
          </a:p>
        </p:txBody>
      </p:sp>
      <p:sp>
        <p:nvSpPr>
          <p:cNvPr id="15" name="Text 12"/>
          <p:cNvSpPr/>
          <p:nvPr/>
        </p:nvSpPr>
        <p:spPr>
          <a:xfrm>
            <a:off x="6675120" y="2834640"/>
            <a:ext cx="4297680" cy="1371600"/>
          </a:xfrm>
          <a:prstGeom prst="rect">
            <a:avLst/>
          </a:prstGeom>
          <a:noFill/>
          <a:ln/>
        </p:spPr>
        <p:txBody>
          <a:bodyPr wrap="square" rtlCol="0" anchor="ctr"/>
          <a:lstStyle/>
          <a:p>
            <a:pPr marL="342900" indent="-342900">
              <a:spcAft>
                <a:spcPts val="800"/>
              </a:spcAft>
              <a:buSzPct val="100000"/>
              <a:buChar char="•"/>
            </a:pPr>
            <a:r>
              <a:rPr lang="en-US" sz="1400" dirty="0">
                <a:solidFill>
                  <a:srgbClr val="222222"/>
                </a:solidFill>
              </a:rPr>
              <a:t>Thresholds tuned on the real stream: enter 0.75 / exit 0.30</a:t>
            </a:r>
          </a:p>
          <a:p>
            <a:pPr marL="342900" indent="-342900">
              <a:spcAft>
                <a:spcPts val="800"/>
              </a:spcAft>
              <a:buSzPct val="100000"/>
              <a:buChar char="•"/>
            </a:pPr>
            <a:r>
              <a:rPr lang="en-US" sz="1400" dirty="0">
                <a:solidFill>
                  <a:srgbClr val="222222"/>
                </a:solidFill>
              </a:rPr>
              <a:t>Debounce: 5 consecutive samples to declare walking</a:t>
            </a:r>
          </a:p>
          <a:p>
            <a:pPr marL="342900" indent="-342900">
              <a:spcAft>
                <a:spcPts val="800"/>
              </a:spcAft>
              <a:buSzPct val="100000"/>
              <a:buChar char="•"/>
            </a:pPr>
            <a:r>
              <a:rPr lang="en-US" sz="1400" dirty="0">
                <a:solidFill>
                  <a:srgbClr val="222222"/>
                </a:solidFill>
              </a:rPr>
              <a:t>Stop is immediate - better to mute late than miss a stop</a:t>
            </a:r>
          </a:p>
        </p:txBody>
      </p:sp>
      <p:sp>
        <p:nvSpPr>
          <p:cNvPr id="16" name="Shape 13"/>
          <p:cNvSpPr/>
          <p:nvPr/>
        </p:nvSpPr>
        <p:spPr>
          <a:xfrm>
            <a:off x="1463040" y="4846320"/>
            <a:ext cx="2286000" cy="685800"/>
          </a:xfrm>
          <a:prstGeom prst="roundRect">
            <a:avLst>
              <a:gd name="adj" fmla="val 13333"/>
            </a:avLst>
          </a:prstGeom>
          <a:solidFill>
            <a:srgbClr val="4B5563"/>
          </a:solidFill>
          <a:ln/>
        </p:spPr>
        <p:txBody>
          <a:bodyPr/>
          <a:lstStyle/>
          <a:p>
            <a:endParaRPr lang="fr-FR"/>
          </a:p>
        </p:txBody>
      </p:sp>
      <p:sp>
        <p:nvSpPr>
          <p:cNvPr id="17" name="Text 14"/>
          <p:cNvSpPr/>
          <p:nvPr/>
        </p:nvSpPr>
        <p:spPr>
          <a:xfrm>
            <a:off x="1463040" y="4846320"/>
            <a:ext cx="2286000" cy="685800"/>
          </a:xfrm>
          <a:prstGeom prst="rect">
            <a:avLst/>
          </a:prstGeom>
          <a:noFill/>
          <a:ln/>
        </p:spPr>
        <p:txBody>
          <a:bodyPr wrap="square" rtlCol="0" anchor="ctr"/>
          <a:lstStyle/>
          <a:p>
            <a:pPr marL="0" indent="0" algn="ctr">
              <a:buNone/>
            </a:pPr>
            <a:r>
              <a:rPr lang="en-US" sz="1250" b="1" dirty="0">
                <a:solidFill>
                  <a:srgbClr val="FFFFFF"/>
                </a:solidFill>
              </a:rPr>
              <a:t>IMU stream</a:t>
            </a:r>
          </a:p>
        </p:txBody>
      </p:sp>
      <p:sp>
        <p:nvSpPr>
          <p:cNvPr id="18" name="Shape 15"/>
          <p:cNvSpPr/>
          <p:nvPr/>
        </p:nvSpPr>
        <p:spPr>
          <a:xfrm>
            <a:off x="3776472" y="5189220"/>
            <a:ext cx="0" cy="0"/>
          </a:xfrm>
          <a:prstGeom prst="line">
            <a:avLst/>
          </a:prstGeom>
          <a:noFill/>
          <a:ln w="31750">
            <a:solidFill>
              <a:srgbClr val="9AA8BC"/>
            </a:solidFill>
            <a:prstDash val="solid"/>
            <a:tailEnd type="triangle"/>
          </a:ln>
        </p:spPr>
        <p:txBody>
          <a:bodyPr/>
          <a:lstStyle/>
          <a:p>
            <a:endParaRPr lang="fr-FR"/>
          </a:p>
        </p:txBody>
      </p:sp>
      <p:sp>
        <p:nvSpPr>
          <p:cNvPr id="19" name="Shape 16"/>
          <p:cNvSpPr/>
          <p:nvPr/>
        </p:nvSpPr>
        <p:spPr>
          <a:xfrm>
            <a:off x="3789578" y="4846320"/>
            <a:ext cx="2286000" cy="685800"/>
          </a:xfrm>
          <a:prstGeom prst="roundRect">
            <a:avLst>
              <a:gd name="adj" fmla="val 13333"/>
            </a:avLst>
          </a:prstGeom>
          <a:solidFill>
            <a:srgbClr val="2E8B8B"/>
          </a:solidFill>
          <a:ln/>
        </p:spPr>
        <p:txBody>
          <a:bodyPr/>
          <a:lstStyle/>
          <a:p>
            <a:endParaRPr lang="fr-FR"/>
          </a:p>
        </p:txBody>
      </p:sp>
      <p:sp>
        <p:nvSpPr>
          <p:cNvPr id="20" name="Text 17"/>
          <p:cNvSpPr/>
          <p:nvPr/>
        </p:nvSpPr>
        <p:spPr>
          <a:xfrm>
            <a:off x="3789578" y="4846320"/>
            <a:ext cx="2286000" cy="685800"/>
          </a:xfrm>
          <a:prstGeom prst="rect">
            <a:avLst/>
          </a:prstGeom>
          <a:noFill/>
          <a:ln/>
        </p:spPr>
        <p:txBody>
          <a:bodyPr wrap="square" rtlCol="0" anchor="ctr"/>
          <a:lstStyle/>
          <a:p>
            <a:pPr marL="0" indent="0" algn="ctr">
              <a:buNone/>
            </a:pPr>
            <a:r>
              <a:rPr lang="en-US" sz="1250" b="1" dirty="0">
                <a:solidFill>
                  <a:srgbClr val="FFFFFF"/>
                </a:solidFill>
              </a:rPr>
              <a:t>Walking?</a:t>
            </a:r>
          </a:p>
        </p:txBody>
      </p:sp>
      <p:sp>
        <p:nvSpPr>
          <p:cNvPr id="21" name="Shape 18"/>
          <p:cNvSpPr/>
          <p:nvPr/>
        </p:nvSpPr>
        <p:spPr>
          <a:xfrm>
            <a:off x="6103010" y="5189220"/>
            <a:ext cx="0" cy="0"/>
          </a:xfrm>
          <a:prstGeom prst="line">
            <a:avLst/>
          </a:prstGeom>
          <a:noFill/>
          <a:ln w="31750">
            <a:solidFill>
              <a:srgbClr val="9AA8BC"/>
            </a:solidFill>
            <a:prstDash val="solid"/>
            <a:tailEnd type="triangle"/>
          </a:ln>
        </p:spPr>
        <p:txBody>
          <a:bodyPr/>
          <a:lstStyle/>
          <a:p>
            <a:endParaRPr lang="fr-FR"/>
          </a:p>
        </p:txBody>
      </p:sp>
      <p:sp>
        <p:nvSpPr>
          <p:cNvPr id="22" name="Shape 19"/>
          <p:cNvSpPr/>
          <p:nvPr/>
        </p:nvSpPr>
        <p:spPr>
          <a:xfrm>
            <a:off x="6116117" y="4846320"/>
            <a:ext cx="2286000" cy="685800"/>
          </a:xfrm>
          <a:prstGeom prst="roundRect">
            <a:avLst>
              <a:gd name="adj" fmla="val 13333"/>
            </a:avLst>
          </a:prstGeom>
          <a:solidFill>
            <a:srgbClr val="5B4B8A"/>
          </a:solidFill>
          <a:ln/>
        </p:spPr>
        <p:txBody>
          <a:bodyPr/>
          <a:lstStyle/>
          <a:p>
            <a:endParaRPr lang="fr-FR"/>
          </a:p>
        </p:txBody>
      </p:sp>
      <p:sp>
        <p:nvSpPr>
          <p:cNvPr id="23" name="Text 20"/>
          <p:cNvSpPr/>
          <p:nvPr/>
        </p:nvSpPr>
        <p:spPr>
          <a:xfrm>
            <a:off x="6116117" y="4846320"/>
            <a:ext cx="2286000" cy="685800"/>
          </a:xfrm>
          <a:prstGeom prst="rect">
            <a:avLst/>
          </a:prstGeom>
          <a:noFill/>
          <a:ln/>
        </p:spPr>
        <p:txBody>
          <a:bodyPr wrap="square" rtlCol="0" anchor="ctr"/>
          <a:lstStyle/>
          <a:p>
            <a:pPr marL="0" indent="0" algn="ctr">
              <a:buNone/>
            </a:pPr>
            <a:r>
              <a:rPr lang="en-US" sz="1250" b="1" dirty="0">
                <a:solidFill>
                  <a:srgbClr val="FFFFFF"/>
                </a:solidFill>
              </a:rPr>
              <a:t>Standing still</a:t>
            </a:r>
          </a:p>
        </p:txBody>
      </p:sp>
      <p:sp>
        <p:nvSpPr>
          <p:cNvPr id="24" name="Shape 21"/>
          <p:cNvSpPr/>
          <p:nvPr/>
        </p:nvSpPr>
        <p:spPr>
          <a:xfrm>
            <a:off x="8429549" y="5189220"/>
            <a:ext cx="0" cy="0"/>
          </a:xfrm>
          <a:prstGeom prst="line">
            <a:avLst/>
          </a:prstGeom>
          <a:noFill/>
          <a:ln w="31750">
            <a:solidFill>
              <a:srgbClr val="9AA8BC"/>
            </a:solidFill>
            <a:prstDash val="solid"/>
            <a:tailEnd type="triangle"/>
          </a:ln>
        </p:spPr>
        <p:txBody>
          <a:bodyPr/>
          <a:lstStyle/>
          <a:p>
            <a:endParaRPr lang="fr-FR"/>
          </a:p>
        </p:txBody>
      </p:sp>
      <p:sp>
        <p:nvSpPr>
          <p:cNvPr id="25" name="Shape 22"/>
          <p:cNvSpPr/>
          <p:nvPr/>
        </p:nvSpPr>
        <p:spPr>
          <a:xfrm>
            <a:off x="8442655" y="4846320"/>
            <a:ext cx="2286000" cy="685800"/>
          </a:xfrm>
          <a:prstGeom prst="roundRect">
            <a:avLst>
              <a:gd name="adj" fmla="val 13333"/>
            </a:avLst>
          </a:prstGeom>
          <a:solidFill>
            <a:srgbClr val="C2671A"/>
          </a:solidFill>
          <a:ln/>
        </p:spPr>
        <p:txBody>
          <a:bodyPr/>
          <a:lstStyle/>
          <a:p>
            <a:endParaRPr lang="fr-FR"/>
          </a:p>
        </p:txBody>
      </p:sp>
      <p:sp>
        <p:nvSpPr>
          <p:cNvPr id="26" name="Text 23"/>
          <p:cNvSpPr/>
          <p:nvPr/>
        </p:nvSpPr>
        <p:spPr>
          <a:xfrm>
            <a:off x="8442655" y="4846320"/>
            <a:ext cx="2286000" cy="685800"/>
          </a:xfrm>
          <a:prstGeom prst="rect">
            <a:avLst/>
          </a:prstGeom>
          <a:noFill/>
          <a:ln/>
        </p:spPr>
        <p:txBody>
          <a:bodyPr wrap="square" rtlCol="0" anchor="ctr"/>
          <a:lstStyle/>
          <a:p>
            <a:pPr marL="0" indent="0" algn="ctr">
              <a:buNone/>
            </a:pPr>
            <a:r>
              <a:rPr lang="en-US" sz="1250" b="1" dirty="0">
                <a:solidFill>
                  <a:srgbClr val="FFFFFF"/>
                </a:solidFill>
              </a:rPr>
              <a:t>Analyse &amp; narrate</a:t>
            </a:r>
          </a:p>
        </p:txBody>
      </p:sp>
      <p:sp>
        <p:nvSpPr>
          <p:cNvPr id="27" name="Text 24"/>
          <p:cNvSpPr/>
          <p:nvPr/>
        </p:nvSpPr>
        <p:spPr>
          <a:xfrm>
            <a:off x="914400" y="5760720"/>
            <a:ext cx="10362895" cy="457200"/>
          </a:xfrm>
          <a:prstGeom prst="rect">
            <a:avLst/>
          </a:prstGeom>
          <a:noFill/>
          <a:ln/>
        </p:spPr>
        <p:txBody>
          <a:bodyPr wrap="square" rtlCol="0" anchor="ctr"/>
          <a:lstStyle/>
          <a:p>
            <a:pPr marL="0" indent="0" algn="ctr">
              <a:buNone/>
            </a:pPr>
            <a:r>
              <a:rPr lang="en-US" sz="1300" i="1" dirty="0">
                <a:solidFill>
                  <a:srgbClr val="0E7490"/>
                </a:solidFill>
              </a:rPr>
              <a:t>A cheap sensor signal gates every expensive cloud call - and replaces the earlier out-of-frame trigger, which fired far too often.</a:t>
            </a:r>
          </a:p>
        </p:txBody>
      </p:sp>
      <p:pic>
        <p:nvPicPr>
          <p:cNvPr id="28" name="Image 27">
            <a:extLst>
              <a:ext uri="{FF2B5EF4-FFF2-40B4-BE49-F238E27FC236}">
                <a16:creationId xmlns:a16="http://schemas.microsoft.com/office/drawing/2014/main" id="{28C00A31-9013-1623-B0C8-B1C8DCB80161}"/>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1863733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13</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Our Solution: Walk / Pause / Resume</a:t>
            </a:r>
          </a:p>
        </p:txBody>
      </p:sp>
      <p:sp>
        <p:nvSpPr>
          <p:cNvPr id="5" name="Shape 2"/>
          <p:cNvSpPr/>
          <p:nvPr/>
        </p:nvSpPr>
        <p:spPr>
          <a:xfrm>
            <a:off x="914400" y="1920240"/>
            <a:ext cx="2286000" cy="1097280"/>
          </a:xfrm>
          <a:prstGeom prst="roundRect">
            <a:avLst>
              <a:gd name="adj" fmla="val 6667"/>
            </a:avLst>
          </a:prstGeom>
          <a:solidFill>
            <a:srgbClr val="1F4E79"/>
          </a:solidFill>
          <a:ln/>
          <a:effectLst>
            <a:outerShdw blurRad="88900" dist="38100" dir="8100000" algn="bl" rotWithShape="0">
              <a:srgbClr val="000000">
                <a:alpha val="13000"/>
              </a:srgbClr>
            </a:outerShdw>
          </a:effectLst>
        </p:spPr>
        <p:txBody>
          <a:bodyPr/>
          <a:lstStyle/>
          <a:p>
            <a:endParaRPr lang="fr-FR"/>
          </a:p>
        </p:txBody>
      </p:sp>
      <p:sp>
        <p:nvSpPr>
          <p:cNvPr id="6" name="Text 3"/>
          <p:cNvSpPr/>
          <p:nvPr/>
        </p:nvSpPr>
        <p:spPr>
          <a:xfrm>
            <a:off x="914400" y="2057400"/>
            <a:ext cx="2286000" cy="457200"/>
          </a:xfrm>
          <a:prstGeom prst="rect">
            <a:avLst/>
          </a:prstGeom>
          <a:noFill/>
          <a:ln/>
        </p:spPr>
        <p:txBody>
          <a:bodyPr wrap="square" rtlCol="0" anchor="ctr"/>
          <a:lstStyle/>
          <a:p>
            <a:pPr marL="0" indent="0" algn="ctr">
              <a:buNone/>
            </a:pPr>
            <a:r>
              <a:rPr lang="en-US" sz="1450" b="1" dirty="0">
                <a:solidFill>
                  <a:srgbClr val="FFFFFF"/>
                </a:solidFill>
              </a:rPr>
              <a:t>Standing still</a:t>
            </a:r>
          </a:p>
        </p:txBody>
      </p:sp>
      <p:sp>
        <p:nvSpPr>
          <p:cNvPr id="7" name="Text 4"/>
          <p:cNvSpPr/>
          <p:nvPr/>
        </p:nvSpPr>
        <p:spPr>
          <a:xfrm>
            <a:off x="1005840" y="2487168"/>
            <a:ext cx="2103120" cy="457200"/>
          </a:xfrm>
          <a:prstGeom prst="rect">
            <a:avLst/>
          </a:prstGeom>
          <a:noFill/>
          <a:ln/>
        </p:spPr>
        <p:txBody>
          <a:bodyPr wrap="square" rtlCol="0" anchor="ctr"/>
          <a:lstStyle/>
          <a:p>
            <a:pPr marL="0" indent="0" algn="ctr">
              <a:buNone/>
            </a:pPr>
            <a:r>
              <a:rPr lang="en-US" sz="1100" dirty="0">
                <a:solidFill>
                  <a:srgbClr val="EAF0F6"/>
                </a:solidFill>
              </a:rPr>
              <a:t>artwork detected</a:t>
            </a:r>
          </a:p>
        </p:txBody>
      </p:sp>
      <p:sp>
        <p:nvSpPr>
          <p:cNvPr id="8" name="Shape 5"/>
          <p:cNvSpPr/>
          <p:nvPr/>
        </p:nvSpPr>
        <p:spPr>
          <a:xfrm>
            <a:off x="3218688" y="2468880"/>
            <a:ext cx="369722" cy="0"/>
          </a:xfrm>
          <a:prstGeom prst="line">
            <a:avLst/>
          </a:prstGeom>
          <a:noFill/>
          <a:ln w="31750">
            <a:solidFill>
              <a:srgbClr val="9AA8BC"/>
            </a:solidFill>
            <a:prstDash val="solid"/>
            <a:tailEnd type="triangle"/>
          </a:ln>
        </p:spPr>
        <p:txBody>
          <a:bodyPr/>
          <a:lstStyle/>
          <a:p>
            <a:endParaRPr lang="fr-FR"/>
          </a:p>
        </p:txBody>
      </p:sp>
      <p:sp>
        <p:nvSpPr>
          <p:cNvPr id="9" name="Text 6"/>
          <p:cNvSpPr/>
          <p:nvPr/>
        </p:nvSpPr>
        <p:spPr>
          <a:xfrm>
            <a:off x="3218688" y="2057400"/>
            <a:ext cx="406298" cy="274320"/>
          </a:xfrm>
          <a:prstGeom prst="rect">
            <a:avLst/>
          </a:prstGeom>
          <a:noFill/>
          <a:ln/>
        </p:spPr>
        <p:txBody>
          <a:bodyPr wrap="square" rtlCol="0" anchor="ctr"/>
          <a:lstStyle/>
          <a:p>
            <a:pPr marL="0" indent="0" algn="ctr">
              <a:buNone/>
            </a:pPr>
            <a:r>
              <a:rPr lang="en-US" sz="1050" i="1" dirty="0">
                <a:solidFill>
                  <a:srgbClr val="6B7280"/>
                </a:solidFill>
                <a:latin typeface="Consolas" pitchFamily="34" charset="0"/>
              </a:rPr>
              <a:t>artwork</a:t>
            </a:r>
          </a:p>
        </p:txBody>
      </p:sp>
      <p:sp>
        <p:nvSpPr>
          <p:cNvPr id="10" name="Shape 7"/>
          <p:cNvSpPr/>
          <p:nvPr/>
        </p:nvSpPr>
        <p:spPr>
          <a:xfrm>
            <a:off x="3606698" y="1920240"/>
            <a:ext cx="2286000" cy="1097280"/>
          </a:xfrm>
          <a:prstGeom prst="roundRect">
            <a:avLst>
              <a:gd name="adj" fmla="val 6667"/>
            </a:avLst>
          </a:prstGeom>
          <a:solidFill>
            <a:srgbClr val="5B4B8A"/>
          </a:solidFill>
          <a:ln/>
          <a:effectLst>
            <a:outerShdw blurRad="88900" dist="38100" dir="8100000" algn="bl" rotWithShape="0">
              <a:srgbClr val="000000">
                <a:alpha val="13000"/>
              </a:srgbClr>
            </a:outerShdw>
          </a:effectLst>
        </p:spPr>
        <p:txBody>
          <a:bodyPr/>
          <a:lstStyle/>
          <a:p>
            <a:endParaRPr lang="fr-FR"/>
          </a:p>
        </p:txBody>
      </p:sp>
      <p:sp>
        <p:nvSpPr>
          <p:cNvPr id="11" name="Text 8"/>
          <p:cNvSpPr/>
          <p:nvPr/>
        </p:nvSpPr>
        <p:spPr>
          <a:xfrm>
            <a:off x="3606698" y="2057400"/>
            <a:ext cx="2286000" cy="457200"/>
          </a:xfrm>
          <a:prstGeom prst="rect">
            <a:avLst/>
          </a:prstGeom>
          <a:noFill/>
          <a:ln/>
        </p:spPr>
        <p:txBody>
          <a:bodyPr wrap="square" rtlCol="0" anchor="ctr"/>
          <a:lstStyle/>
          <a:p>
            <a:pPr marL="0" indent="0" algn="ctr">
              <a:buNone/>
            </a:pPr>
            <a:r>
              <a:rPr lang="en-US" sz="1450" b="1" dirty="0">
                <a:solidFill>
                  <a:srgbClr val="FFFFFF"/>
                </a:solidFill>
              </a:rPr>
              <a:t>Narrating</a:t>
            </a:r>
          </a:p>
        </p:txBody>
      </p:sp>
      <p:sp>
        <p:nvSpPr>
          <p:cNvPr id="12" name="Text 9"/>
          <p:cNvSpPr/>
          <p:nvPr/>
        </p:nvSpPr>
        <p:spPr>
          <a:xfrm>
            <a:off x="3698138" y="2487168"/>
            <a:ext cx="2103120" cy="457200"/>
          </a:xfrm>
          <a:prstGeom prst="rect">
            <a:avLst/>
          </a:prstGeom>
          <a:noFill/>
          <a:ln/>
        </p:spPr>
        <p:txBody>
          <a:bodyPr wrap="square" rtlCol="0" anchor="ctr"/>
          <a:lstStyle/>
          <a:p>
            <a:pPr marL="0" indent="0" algn="ctr">
              <a:buNone/>
            </a:pPr>
            <a:r>
              <a:rPr lang="en-US" sz="1100" dirty="0">
                <a:solidFill>
                  <a:srgbClr val="EAF0F6"/>
                </a:solidFill>
              </a:rPr>
              <a:t>sentence by sentence</a:t>
            </a:r>
          </a:p>
        </p:txBody>
      </p:sp>
      <p:sp>
        <p:nvSpPr>
          <p:cNvPr id="13" name="Shape 10"/>
          <p:cNvSpPr/>
          <p:nvPr/>
        </p:nvSpPr>
        <p:spPr>
          <a:xfrm>
            <a:off x="5910986" y="2468880"/>
            <a:ext cx="369722" cy="0"/>
          </a:xfrm>
          <a:prstGeom prst="line">
            <a:avLst/>
          </a:prstGeom>
          <a:noFill/>
          <a:ln w="31750">
            <a:solidFill>
              <a:srgbClr val="9AA8BC"/>
            </a:solidFill>
            <a:prstDash val="solid"/>
            <a:tailEnd type="triangle"/>
          </a:ln>
        </p:spPr>
        <p:txBody>
          <a:bodyPr/>
          <a:lstStyle/>
          <a:p>
            <a:endParaRPr lang="fr-FR"/>
          </a:p>
        </p:txBody>
      </p:sp>
      <p:sp>
        <p:nvSpPr>
          <p:cNvPr id="14" name="Text 11"/>
          <p:cNvSpPr/>
          <p:nvPr/>
        </p:nvSpPr>
        <p:spPr>
          <a:xfrm>
            <a:off x="5910986" y="2057400"/>
            <a:ext cx="406298" cy="274320"/>
          </a:xfrm>
          <a:prstGeom prst="rect">
            <a:avLst/>
          </a:prstGeom>
          <a:noFill/>
          <a:ln/>
        </p:spPr>
        <p:txBody>
          <a:bodyPr wrap="square" rtlCol="0" anchor="ctr"/>
          <a:lstStyle/>
          <a:p>
            <a:pPr marL="0" indent="0" algn="ctr">
              <a:buNone/>
            </a:pPr>
            <a:r>
              <a:rPr lang="en-US" sz="1050" i="1" dirty="0">
                <a:solidFill>
                  <a:srgbClr val="6B7280"/>
                </a:solidFill>
                <a:latin typeface="Consolas" pitchFamily="34" charset="0"/>
              </a:rPr>
              <a:t>walk_event</a:t>
            </a:r>
          </a:p>
        </p:txBody>
      </p:sp>
      <p:sp>
        <p:nvSpPr>
          <p:cNvPr id="15" name="Shape 12"/>
          <p:cNvSpPr/>
          <p:nvPr/>
        </p:nvSpPr>
        <p:spPr>
          <a:xfrm>
            <a:off x="6298997" y="1920240"/>
            <a:ext cx="2286000" cy="1097280"/>
          </a:xfrm>
          <a:prstGeom prst="roundRect">
            <a:avLst>
              <a:gd name="adj" fmla="val 6667"/>
            </a:avLst>
          </a:prstGeom>
          <a:solidFill>
            <a:srgbClr val="C2671A"/>
          </a:solidFill>
          <a:ln/>
          <a:effectLst>
            <a:outerShdw blurRad="88900" dist="38100" dir="8100000" algn="bl" rotWithShape="0">
              <a:srgbClr val="000000">
                <a:alpha val="13000"/>
              </a:srgbClr>
            </a:outerShdw>
          </a:effectLst>
        </p:spPr>
        <p:txBody>
          <a:bodyPr/>
          <a:lstStyle/>
          <a:p>
            <a:endParaRPr lang="fr-FR"/>
          </a:p>
        </p:txBody>
      </p:sp>
      <p:sp>
        <p:nvSpPr>
          <p:cNvPr id="16" name="Text 13"/>
          <p:cNvSpPr/>
          <p:nvPr/>
        </p:nvSpPr>
        <p:spPr>
          <a:xfrm>
            <a:off x="6298997" y="2057400"/>
            <a:ext cx="2286000" cy="457200"/>
          </a:xfrm>
          <a:prstGeom prst="rect">
            <a:avLst/>
          </a:prstGeom>
          <a:noFill/>
          <a:ln/>
        </p:spPr>
        <p:txBody>
          <a:bodyPr wrap="square" rtlCol="0" anchor="ctr"/>
          <a:lstStyle/>
          <a:p>
            <a:pPr marL="0" indent="0" algn="ctr">
              <a:buNone/>
            </a:pPr>
            <a:r>
              <a:rPr lang="en-US" sz="1450" b="1" dirty="0">
                <a:solidFill>
                  <a:srgbClr val="FFFFFF"/>
                </a:solidFill>
              </a:rPr>
              <a:t>Walking</a:t>
            </a:r>
          </a:p>
        </p:txBody>
      </p:sp>
      <p:sp>
        <p:nvSpPr>
          <p:cNvPr id="17" name="Text 14"/>
          <p:cNvSpPr/>
          <p:nvPr/>
        </p:nvSpPr>
        <p:spPr>
          <a:xfrm>
            <a:off x="6390437" y="2487168"/>
            <a:ext cx="2103120" cy="457200"/>
          </a:xfrm>
          <a:prstGeom prst="rect">
            <a:avLst/>
          </a:prstGeom>
          <a:noFill/>
          <a:ln/>
        </p:spPr>
        <p:txBody>
          <a:bodyPr wrap="square" rtlCol="0" anchor="ctr"/>
          <a:lstStyle/>
          <a:p>
            <a:pPr marL="0" indent="0" algn="ctr">
              <a:buNone/>
            </a:pPr>
            <a:r>
              <a:rPr lang="en-US" sz="1100" dirty="0">
                <a:solidFill>
                  <a:srgbClr val="EAF0F6"/>
                </a:solidFill>
              </a:rPr>
              <a:t>finish sentence, pause</a:t>
            </a:r>
          </a:p>
        </p:txBody>
      </p:sp>
      <p:sp>
        <p:nvSpPr>
          <p:cNvPr id="18" name="Shape 15"/>
          <p:cNvSpPr/>
          <p:nvPr/>
        </p:nvSpPr>
        <p:spPr>
          <a:xfrm>
            <a:off x="8603285" y="2468880"/>
            <a:ext cx="369722" cy="0"/>
          </a:xfrm>
          <a:prstGeom prst="line">
            <a:avLst/>
          </a:prstGeom>
          <a:noFill/>
          <a:ln w="31750">
            <a:solidFill>
              <a:srgbClr val="9AA8BC"/>
            </a:solidFill>
            <a:prstDash val="solid"/>
            <a:tailEnd type="triangle"/>
          </a:ln>
        </p:spPr>
        <p:txBody>
          <a:bodyPr/>
          <a:lstStyle/>
          <a:p>
            <a:endParaRPr lang="fr-FR"/>
          </a:p>
        </p:txBody>
      </p:sp>
      <p:sp>
        <p:nvSpPr>
          <p:cNvPr id="19" name="Text 16"/>
          <p:cNvSpPr/>
          <p:nvPr/>
        </p:nvSpPr>
        <p:spPr>
          <a:xfrm>
            <a:off x="8603285" y="2057400"/>
            <a:ext cx="406298" cy="274320"/>
          </a:xfrm>
          <a:prstGeom prst="rect">
            <a:avLst/>
          </a:prstGeom>
          <a:noFill/>
          <a:ln/>
        </p:spPr>
        <p:txBody>
          <a:bodyPr wrap="square" rtlCol="0" anchor="ctr"/>
          <a:lstStyle/>
          <a:p>
            <a:pPr marL="0" indent="0" algn="ctr">
              <a:buNone/>
            </a:pPr>
            <a:r>
              <a:rPr lang="en-US" sz="1050" i="1" dirty="0">
                <a:solidFill>
                  <a:srgbClr val="6B7280"/>
                </a:solidFill>
                <a:latin typeface="Consolas" pitchFamily="34" charset="0"/>
              </a:rPr>
              <a:t>still</a:t>
            </a:r>
          </a:p>
        </p:txBody>
      </p:sp>
      <p:sp>
        <p:nvSpPr>
          <p:cNvPr id="20" name="Shape 17"/>
          <p:cNvSpPr/>
          <p:nvPr/>
        </p:nvSpPr>
        <p:spPr>
          <a:xfrm>
            <a:off x="8991295" y="1920240"/>
            <a:ext cx="2286000" cy="1097280"/>
          </a:xfrm>
          <a:prstGeom prst="roundRect">
            <a:avLst>
              <a:gd name="adj" fmla="val 6667"/>
            </a:avLst>
          </a:prstGeom>
          <a:solidFill>
            <a:srgbClr val="4B5563"/>
          </a:solidFill>
          <a:ln/>
          <a:effectLst>
            <a:outerShdw blurRad="88900" dist="38100" dir="8100000" algn="bl" rotWithShape="0">
              <a:srgbClr val="000000">
                <a:alpha val="13000"/>
              </a:srgbClr>
            </a:outerShdw>
          </a:effectLst>
        </p:spPr>
        <p:txBody>
          <a:bodyPr/>
          <a:lstStyle/>
          <a:p>
            <a:endParaRPr lang="fr-FR"/>
          </a:p>
        </p:txBody>
      </p:sp>
      <p:sp>
        <p:nvSpPr>
          <p:cNvPr id="21" name="Text 18"/>
          <p:cNvSpPr/>
          <p:nvPr/>
        </p:nvSpPr>
        <p:spPr>
          <a:xfrm>
            <a:off x="8991295" y="2057400"/>
            <a:ext cx="2286000" cy="457200"/>
          </a:xfrm>
          <a:prstGeom prst="rect">
            <a:avLst/>
          </a:prstGeom>
          <a:noFill/>
          <a:ln/>
        </p:spPr>
        <p:txBody>
          <a:bodyPr wrap="square" rtlCol="0" anchor="ctr"/>
          <a:lstStyle/>
          <a:p>
            <a:pPr marL="0" indent="0" algn="ctr">
              <a:buNone/>
            </a:pPr>
            <a:r>
              <a:rPr lang="en-US" sz="1450" b="1" dirty="0">
                <a:solidFill>
                  <a:srgbClr val="FFFFFF"/>
                </a:solidFill>
              </a:rPr>
              <a:t>Back in front</a:t>
            </a:r>
          </a:p>
        </p:txBody>
      </p:sp>
      <p:sp>
        <p:nvSpPr>
          <p:cNvPr id="22" name="Text 19"/>
          <p:cNvSpPr/>
          <p:nvPr/>
        </p:nvSpPr>
        <p:spPr>
          <a:xfrm>
            <a:off x="9082735" y="2487168"/>
            <a:ext cx="2103120" cy="457200"/>
          </a:xfrm>
          <a:prstGeom prst="rect">
            <a:avLst/>
          </a:prstGeom>
          <a:noFill/>
          <a:ln/>
        </p:spPr>
        <p:txBody>
          <a:bodyPr wrap="square" rtlCol="0" anchor="ctr"/>
          <a:lstStyle/>
          <a:p>
            <a:pPr marL="0" indent="0" algn="ctr">
              <a:buNone/>
            </a:pPr>
            <a:r>
              <a:rPr lang="en-US" sz="1100" dirty="0">
                <a:solidFill>
                  <a:srgbClr val="EAF0F6"/>
                </a:solidFill>
              </a:rPr>
              <a:t>resume where it stopped</a:t>
            </a:r>
          </a:p>
        </p:txBody>
      </p:sp>
      <p:sp>
        <p:nvSpPr>
          <p:cNvPr id="23" name="Shape 20"/>
          <p:cNvSpPr/>
          <p:nvPr/>
        </p:nvSpPr>
        <p:spPr>
          <a:xfrm>
            <a:off x="914400" y="3520440"/>
            <a:ext cx="4983480" cy="914400"/>
          </a:xfrm>
          <a:prstGeom prst="roundRect">
            <a:avLst>
              <a:gd name="adj" fmla="val 6000"/>
            </a:avLst>
          </a:prstGeom>
          <a:solidFill>
            <a:srgbClr val="EEF3F8"/>
          </a:solidFill>
          <a:ln w="12700">
            <a:solidFill>
              <a:srgbClr val="D7DEE8"/>
            </a:solidFill>
            <a:prstDash val="solid"/>
          </a:ln>
        </p:spPr>
        <p:txBody>
          <a:bodyPr/>
          <a:lstStyle/>
          <a:p>
            <a:endParaRPr lang="fr-FR"/>
          </a:p>
        </p:txBody>
      </p:sp>
      <p:sp>
        <p:nvSpPr>
          <p:cNvPr id="24" name="Shape 21"/>
          <p:cNvSpPr/>
          <p:nvPr/>
        </p:nvSpPr>
        <p:spPr>
          <a:xfrm>
            <a:off x="914400" y="3520440"/>
            <a:ext cx="82296" cy="914400"/>
          </a:xfrm>
          <a:prstGeom prst="rect">
            <a:avLst/>
          </a:prstGeom>
          <a:solidFill>
            <a:srgbClr val="0E7490"/>
          </a:solidFill>
          <a:ln/>
        </p:spPr>
        <p:txBody>
          <a:bodyPr/>
          <a:lstStyle/>
          <a:p>
            <a:endParaRPr lang="fr-FR"/>
          </a:p>
        </p:txBody>
      </p:sp>
      <p:sp>
        <p:nvSpPr>
          <p:cNvPr id="25" name="Text 22"/>
          <p:cNvSpPr/>
          <p:nvPr/>
        </p:nvSpPr>
        <p:spPr>
          <a:xfrm>
            <a:off x="1143000" y="3630168"/>
            <a:ext cx="4617720" cy="320040"/>
          </a:xfrm>
          <a:prstGeom prst="rect">
            <a:avLst/>
          </a:prstGeom>
          <a:noFill/>
          <a:ln/>
        </p:spPr>
        <p:txBody>
          <a:bodyPr wrap="square" rtlCol="0" anchor="ctr"/>
          <a:lstStyle/>
          <a:p>
            <a:pPr marL="0" indent="0">
              <a:buNone/>
            </a:pPr>
            <a:r>
              <a:rPr lang="en-US" sz="1400" b="1" dirty="0">
                <a:solidFill>
                  <a:srgbClr val="002060"/>
                </a:solidFill>
              </a:rPr>
              <a:t>Never cut mid-sentence</a:t>
            </a:r>
          </a:p>
        </p:txBody>
      </p:sp>
      <p:sp>
        <p:nvSpPr>
          <p:cNvPr id="26" name="Text 23"/>
          <p:cNvSpPr/>
          <p:nvPr/>
        </p:nvSpPr>
        <p:spPr>
          <a:xfrm>
            <a:off x="1143000" y="3977640"/>
            <a:ext cx="4617720" cy="411480"/>
          </a:xfrm>
          <a:prstGeom prst="rect">
            <a:avLst/>
          </a:prstGeom>
          <a:noFill/>
          <a:ln/>
        </p:spPr>
        <p:txBody>
          <a:bodyPr wrap="square" rtlCol="0" anchor="ctr"/>
          <a:lstStyle/>
          <a:p>
            <a:pPr marL="0" indent="0">
              <a:buNone/>
            </a:pPr>
            <a:r>
              <a:rPr lang="en-US" sz="1200" dirty="0">
                <a:solidFill>
                  <a:srgbClr val="222222"/>
                </a:solidFill>
              </a:rPr>
              <a:t>The current sentence always finishes; the pause gate is checked before the next one</a:t>
            </a:r>
          </a:p>
        </p:txBody>
      </p:sp>
      <p:sp>
        <p:nvSpPr>
          <p:cNvPr id="27" name="Shape 24"/>
          <p:cNvSpPr/>
          <p:nvPr/>
        </p:nvSpPr>
        <p:spPr>
          <a:xfrm>
            <a:off x="6263640" y="3520440"/>
            <a:ext cx="4983480" cy="914400"/>
          </a:xfrm>
          <a:prstGeom prst="roundRect">
            <a:avLst>
              <a:gd name="adj" fmla="val 6000"/>
            </a:avLst>
          </a:prstGeom>
          <a:solidFill>
            <a:srgbClr val="EEF3F8"/>
          </a:solidFill>
          <a:ln w="12700">
            <a:solidFill>
              <a:srgbClr val="D7DEE8"/>
            </a:solidFill>
            <a:prstDash val="solid"/>
          </a:ln>
        </p:spPr>
        <p:txBody>
          <a:bodyPr/>
          <a:lstStyle/>
          <a:p>
            <a:endParaRPr lang="fr-FR"/>
          </a:p>
        </p:txBody>
      </p:sp>
      <p:sp>
        <p:nvSpPr>
          <p:cNvPr id="28" name="Shape 25"/>
          <p:cNvSpPr/>
          <p:nvPr/>
        </p:nvSpPr>
        <p:spPr>
          <a:xfrm>
            <a:off x="6263640" y="3520440"/>
            <a:ext cx="82296" cy="914400"/>
          </a:xfrm>
          <a:prstGeom prst="rect">
            <a:avLst/>
          </a:prstGeom>
          <a:solidFill>
            <a:srgbClr val="0E7490"/>
          </a:solidFill>
          <a:ln/>
        </p:spPr>
        <p:txBody>
          <a:bodyPr/>
          <a:lstStyle/>
          <a:p>
            <a:endParaRPr lang="fr-FR"/>
          </a:p>
        </p:txBody>
      </p:sp>
      <p:sp>
        <p:nvSpPr>
          <p:cNvPr id="29" name="Text 26"/>
          <p:cNvSpPr/>
          <p:nvPr/>
        </p:nvSpPr>
        <p:spPr>
          <a:xfrm>
            <a:off x="6492240" y="3630168"/>
            <a:ext cx="4617720" cy="320040"/>
          </a:xfrm>
          <a:prstGeom prst="rect">
            <a:avLst/>
          </a:prstGeom>
          <a:noFill/>
          <a:ln/>
        </p:spPr>
        <p:txBody>
          <a:bodyPr wrap="square" rtlCol="0" anchor="ctr"/>
          <a:lstStyle/>
          <a:p>
            <a:pPr marL="0" indent="0">
              <a:buNone/>
            </a:pPr>
            <a:r>
              <a:rPr lang="en-US" sz="1400" b="1" dirty="0">
                <a:solidFill>
                  <a:srgbClr val="002060"/>
                </a:solidFill>
              </a:rPr>
              <a:t>Progress saved per work</a:t>
            </a:r>
          </a:p>
        </p:txBody>
      </p:sp>
      <p:sp>
        <p:nvSpPr>
          <p:cNvPr id="30" name="Text 27"/>
          <p:cNvSpPr/>
          <p:nvPr/>
        </p:nvSpPr>
        <p:spPr>
          <a:xfrm>
            <a:off x="6492240" y="3977640"/>
            <a:ext cx="4617720" cy="411480"/>
          </a:xfrm>
          <a:prstGeom prst="rect">
            <a:avLst/>
          </a:prstGeom>
          <a:noFill/>
          <a:ln/>
        </p:spPr>
        <p:txBody>
          <a:bodyPr wrap="square" rtlCol="0" anchor="ctr"/>
          <a:lstStyle/>
          <a:p>
            <a:pPr marL="0" indent="0">
              <a:buNone/>
            </a:pPr>
            <a:r>
              <a:rPr lang="en-US" sz="1200" dirty="0">
                <a:solidFill>
                  <a:srgbClr val="222222"/>
                </a:solidFill>
              </a:rPr>
              <a:t>Remaining sentences are stored the instant walking is detected</a:t>
            </a:r>
          </a:p>
        </p:txBody>
      </p:sp>
      <p:sp>
        <p:nvSpPr>
          <p:cNvPr id="31" name="Shape 28"/>
          <p:cNvSpPr/>
          <p:nvPr/>
        </p:nvSpPr>
        <p:spPr>
          <a:xfrm>
            <a:off x="914400" y="4663440"/>
            <a:ext cx="4983480" cy="914400"/>
          </a:xfrm>
          <a:prstGeom prst="roundRect">
            <a:avLst>
              <a:gd name="adj" fmla="val 6000"/>
            </a:avLst>
          </a:prstGeom>
          <a:solidFill>
            <a:srgbClr val="EEF3F8"/>
          </a:solidFill>
          <a:ln w="12700">
            <a:solidFill>
              <a:srgbClr val="D7DEE8"/>
            </a:solidFill>
            <a:prstDash val="solid"/>
          </a:ln>
        </p:spPr>
        <p:txBody>
          <a:bodyPr/>
          <a:lstStyle/>
          <a:p>
            <a:endParaRPr lang="fr-FR"/>
          </a:p>
        </p:txBody>
      </p:sp>
      <p:sp>
        <p:nvSpPr>
          <p:cNvPr id="32" name="Shape 29"/>
          <p:cNvSpPr/>
          <p:nvPr/>
        </p:nvSpPr>
        <p:spPr>
          <a:xfrm>
            <a:off x="914400" y="4663440"/>
            <a:ext cx="82296" cy="914400"/>
          </a:xfrm>
          <a:prstGeom prst="rect">
            <a:avLst/>
          </a:prstGeom>
          <a:solidFill>
            <a:srgbClr val="0E7490"/>
          </a:solidFill>
          <a:ln/>
        </p:spPr>
        <p:txBody>
          <a:bodyPr/>
          <a:lstStyle/>
          <a:p>
            <a:endParaRPr lang="fr-FR"/>
          </a:p>
        </p:txBody>
      </p:sp>
      <p:sp>
        <p:nvSpPr>
          <p:cNvPr id="33" name="Text 30"/>
          <p:cNvSpPr/>
          <p:nvPr/>
        </p:nvSpPr>
        <p:spPr>
          <a:xfrm>
            <a:off x="1143000" y="4773168"/>
            <a:ext cx="4617720" cy="320040"/>
          </a:xfrm>
          <a:prstGeom prst="rect">
            <a:avLst/>
          </a:prstGeom>
          <a:noFill/>
          <a:ln/>
        </p:spPr>
        <p:txBody>
          <a:bodyPr wrap="square" rtlCol="0" anchor="ctr"/>
          <a:lstStyle/>
          <a:p>
            <a:pPr marL="0" indent="0">
              <a:buNone/>
            </a:pPr>
            <a:r>
              <a:rPr lang="en-US" sz="1400" b="1" dirty="0">
                <a:solidFill>
                  <a:srgbClr val="002060"/>
                </a:solidFill>
              </a:rPr>
              <a:t>Resume, never regenerate</a:t>
            </a:r>
          </a:p>
        </p:txBody>
      </p:sp>
      <p:sp>
        <p:nvSpPr>
          <p:cNvPr id="34" name="Text 31"/>
          <p:cNvSpPr/>
          <p:nvPr/>
        </p:nvSpPr>
        <p:spPr>
          <a:xfrm>
            <a:off x="1143000" y="5120640"/>
            <a:ext cx="4617720" cy="411480"/>
          </a:xfrm>
          <a:prstGeom prst="rect">
            <a:avLst/>
          </a:prstGeom>
          <a:noFill/>
          <a:ln/>
        </p:spPr>
        <p:txBody>
          <a:bodyPr wrap="square" rtlCol="0" anchor="ctr"/>
          <a:lstStyle/>
          <a:p>
            <a:pPr marL="0" indent="0">
              <a:buNone/>
            </a:pPr>
            <a:r>
              <a:rPr lang="en-US" sz="1200" dirty="0">
                <a:solidFill>
                  <a:srgbClr val="222222"/>
                </a:solidFill>
              </a:rPr>
              <a:t>Welcome-back phrase, then the saved sentences - guide finished means silence</a:t>
            </a:r>
          </a:p>
        </p:txBody>
      </p:sp>
      <p:sp>
        <p:nvSpPr>
          <p:cNvPr id="35" name="Shape 32"/>
          <p:cNvSpPr/>
          <p:nvPr/>
        </p:nvSpPr>
        <p:spPr>
          <a:xfrm>
            <a:off x="6263640" y="4663440"/>
            <a:ext cx="4983480" cy="914400"/>
          </a:xfrm>
          <a:prstGeom prst="roundRect">
            <a:avLst>
              <a:gd name="adj" fmla="val 6000"/>
            </a:avLst>
          </a:prstGeom>
          <a:solidFill>
            <a:srgbClr val="EEF3F8"/>
          </a:solidFill>
          <a:ln w="12700">
            <a:solidFill>
              <a:srgbClr val="D7DEE8"/>
            </a:solidFill>
            <a:prstDash val="solid"/>
          </a:ln>
        </p:spPr>
        <p:txBody>
          <a:bodyPr/>
          <a:lstStyle/>
          <a:p>
            <a:endParaRPr lang="fr-FR"/>
          </a:p>
        </p:txBody>
      </p:sp>
      <p:sp>
        <p:nvSpPr>
          <p:cNvPr id="36" name="Shape 33"/>
          <p:cNvSpPr/>
          <p:nvPr/>
        </p:nvSpPr>
        <p:spPr>
          <a:xfrm>
            <a:off x="6263640" y="4663440"/>
            <a:ext cx="82296" cy="914400"/>
          </a:xfrm>
          <a:prstGeom prst="rect">
            <a:avLst/>
          </a:prstGeom>
          <a:solidFill>
            <a:srgbClr val="0E7490"/>
          </a:solidFill>
          <a:ln/>
        </p:spPr>
        <p:txBody>
          <a:bodyPr/>
          <a:lstStyle/>
          <a:p>
            <a:endParaRPr lang="fr-FR"/>
          </a:p>
        </p:txBody>
      </p:sp>
      <p:sp>
        <p:nvSpPr>
          <p:cNvPr id="37" name="Text 34"/>
          <p:cNvSpPr/>
          <p:nvPr/>
        </p:nvSpPr>
        <p:spPr>
          <a:xfrm>
            <a:off x="6492240" y="4773168"/>
            <a:ext cx="4617720" cy="320040"/>
          </a:xfrm>
          <a:prstGeom prst="rect">
            <a:avLst/>
          </a:prstGeom>
          <a:noFill/>
          <a:ln/>
        </p:spPr>
        <p:txBody>
          <a:bodyPr wrap="square" rtlCol="0" anchor="ctr"/>
          <a:lstStyle/>
          <a:p>
            <a:pPr marL="0" indent="0">
              <a:buNone/>
            </a:pPr>
            <a:r>
              <a:rPr lang="en-US" sz="1400" b="1" dirty="0">
                <a:solidFill>
                  <a:srgbClr val="002060"/>
                </a:solidFill>
              </a:rPr>
              <a:t>Freshness filter</a:t>
            </a:r>
          </a:p>
        </p:txBody>
      </p:sp>
      <p:sp>
        <p:nvSpPr>
          <p:cNvPr id="38" name="Text 35"/>
          <p:cNvSpPr/>
          <p:nvPr/>
        </p:nvSpPr>
        <p:spPr>
          <a:xfrm>
            <a:off x="6492240" y="5120640"/>
            <a:ext cx="4617720" cy="411480"/>
          </a:xfrm>
          <a:prstGeom prst="rect">
            <a:avLst/>
          </a:prstGeom>
          <a:noFill/>
          <a:ln/>
        </p:spPr>
        <p:txBody>
          <a:bodyPr wrap="square" rtlCol="0" anchor="ctr"/>
          <a:lstStyle/>
          <a:p>
            <a:pPr marL="0" indent="0">
              <a:buNone/>
            </a:pPr>
            <a:r>
              <a:rPr lang="en-US" sz="1200" dirty="0">
                <a:solidFill>
                  <a:srgbClr val="222222"/>
                </a:solidFill>
              </a:rPr>
              <a:t>Sentences from frames older than the last stop are dropped, headers included</a:t>
            </a:r>
          </a:p>
        </p:txBody>
      </p:sp>
      <p:pic>
        <p:nvPicPr>
          <p:cNvPr id="39" name="Image 38">
            <a:extLst>
              <a:ext uri="{FF2B5EF4-FFF2-40B4-BE49-F238E27FC236}">
                <a16:creationId xmlns:a16="http://schemas.microsoft.com/office/drawing/2014/main" id="{4EC60AA0-7C72-E062-0ACF-50F9D668CBAC}"/>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4080022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14</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Our Solution: Recognition &amp; Prompt Design</a:t>
            </a:r>
          </a:p>
        </p:txBody>
      </p:sp>
      <p:sp>
        <p:nvSpPr>
          <p:cNvPr id="5" name="Text 2"/>
          <p:cNvSpPr/>
          <p:nvPr/>
        </p:nvSpPr>
        <p:spPr>
          <a:xfrm>
            <a:off x="1005840" y="1371600"/>
            <a:ext cx="5852160" cy="365760"/>
          </a:xfrm>
          <a:prstGeom prst="rect">
            <a:avLst/>
          </a:prstGeom>
          <a:noFill/>
          <a:ln/>
        </p:spPr>
        <p:txBody>
          <a:bodyPr wrap="square" rtlCol="0" anchor="ctr"/>
          <a:lstStyle/>
          <a:p>
            <a:pPr marL="0" indent="0">
              <a:buNone/>
            </a:pPr>
            <a:r>
              <a:rPr lang="en-US" sz="1600" b="1" dirty="0">
                <a:solidFill>
                  <a:srgbClr val="002060"/>
                </a:solidFill>
              </a:rPr>
              <a:t>Open-set recognition (VLM)</a:t>
            </a:r>
          </a:p>
        </p:txBody>
      </p:sp>
      <p:sp>
        <p:nvSpPr>
          <p:cNvPr id="6" name="Text 3"/>
          <p:cNvSpPr/>
          <p:nvPr/>
        </p:nvSpPr>
        <p:spPr>
          <a:xfrm>
            <a:off x="1005840" y="1783080"/>
            <a:ext cx="5852160" cy="822960"/>
          </a:xfrm>
          <a:prstGeom prst="rect">
            <a:avLst/>
          </a:prstGeom>
          <a:noFill/>
          <a:ln/>
        </p:spPr>
        <p:txBody>
          <a:bodyPr wrap="square" rtlCol="0" anchor="ctr"/>
          <a:lstStyle/>
          <a:p>
            <a:pPr marL="0" indent="0">
              <a:buNone/>
            </a:pPr>
            <a:r>
              <a:rPr lang="en-US" sz="1350" dirty="0">
                <a:solidFill>
                  <a:srgbClr val="222222"/>
                </a:solidFill>
              </a:rPr>
              <a:t>One compressed frame per stop is sent to GPT-5.6-terra Vision (Responses API); the system prompt is rebuilt from the visitor profile.</a:t>
            </a:r>
          </a:p>
        </p:txBody>
      </p:sp>
      <p:sp>
        <p:nvSpPr>
          <p:cNvPr id="7" name="Shape 4"/>
          <p:cNvSpPr/>
          <p:nvPr/>
        </p:nvSpPr>
        <p:spPr>
          <a:xfrm>
            <a:off x="1188720" y="2697480"/>
            <a:ext cx="5486400" cy="1143000"/>
          </a:xfrm>
          <a:prstGeom prst="roundRect">
            <a:avLst>
              <a:gd name="adj" fmla="val 4000"/>
            </a:avLst>
          </a:prstGeom>
          <a:solidFill>
            <a:srgbClr val="0B1F3A"/>
          </a:solidFill>
          <a:ln/>
        </p:spPr>
        <p:txBody>
          <a:bodyPr/>
          <a:lstStyle/>
          <a:p>
            <a:endParaRPr lang="fr-FR"/>
          </a:p>
        </p:txBody>
      </p:sp>
      <p:sp>
        <p:nvSpPr>
          <p:cNvPr id="8" name="Text 5"/>
          <p:cNvSpPr/>
          <p:nvPr/>
        </p:nvSpPr>
        <p:spPr>
          <a:xfrm>
            <a:off x="1417320" y="2834640"/>
            <a:ext cx="5120640" cy="914400"/>
          </a:xfrm>
          <a:prstGeom prst="rect">
            <a:avLst/>
          </a:prstGeom>
          <a:noFill/>
          <a:ln/>
        </p:spPr>
        <p:txBody>
          <a:bodyPr wrap="square" rtlCol="0" anchor="ctr"/>
          <a:lstStyle/>
          <a:p>
            <a:pPr marL="0" indent="0">
              <a:lnSpc>
                <a:spcPct val="115000"/>
              </a:lnSpc>
              <a:buNone/>
            </a:pPr>
            <a:r>
              <a:rPr lang="en-US" sz="1350" b="1" dirty="0">
                <a:solidFill>
                  <a:srgbClr val="7FE3C0"/>
                </a:solidFill>
                <a:latin typeface="Consolas" pitchFamily="34" charset="0"/>
              </a:rPr>
              <a:t>ARTWORK: &lt;name&gt;</a:t>
            </a:r>
          </a:p>
          <a:p>
            <a:pPr marL="0" indent="0">
              <a:lnSpc>
                <a:spcPct val="115000"/>
              </a:lnSpc>
              <a:buNone/>
            </a:pPr>
            <a:r>
              <a:rPr lang="en-US" sz="1350" dirty="0">
                <a:solidFill>
                  <a:srgbClr val="E5E7EB"/>
                </a:solidFill>
                <a:latin typeface="Consolas" pitchFamily="34" charset="0"/>
              </a:rPr>
              <a:t>+ description sentences (profile length)</a:t>
            </a:r>
          </a:p>
          <a:p>
            <a:pPr marL="0" indent="0">
              <a:lnSpc>
                <a:spcPct val="115000"/>
              </a:lnSpc>
              <a:buNone/>
            </a:pPr>
            <a:r>
              <a:rPr lang="en-US" sz="1350" dirty="0">
                <a:solidFill>
                  <a:srgbClr val="F3B85F"/>
                </a:solidFill>
                <a:latin typeface="Consolas" pitchFamily="34" charset="0"/>
              </a:rPr>
              <a:t>NONE if nothing notable / END when done</a:t>
            </a:r>
          </a:p>
        </p:txBody>
      </p:sp>
      <p:sp>
        <p:nvSpPr>
          <p:cNvPr id="9" name="Text 6"/>
          <p:cNvSpPr/>
          <p:nvPr/>
        </p:nvSpPr>
        <p:spPr>
          <a:xfrm>
            <a:off x="1005840" y="4069080"/>
            <a:ext cx="5852160" cy="1463040"/>
          </a:xfrm>
          <a:prstGeom prst="rect">
            <a:avLst/>
          </a:prstGeom>
          <a:noFill/>
          <a:ln/>
        </p:spPr>
        <p:txBody>
          <a:bodyPr wrap="square" rtlCol="0" anchor="ctr"/>
          <a:lstStyle/>
          <a:p>
            <a:pPr marL="342900" indent="-342900">
              <a:spcAft>
                <a:spcPts val="1100"/>
              </a:spcAft>
              <a:buSzPct val="100000"/>
              <a:buChar char="•"/>
            </a:pPr>
            <a:r>
              <a:rPr lang="en-US" sz="1350" dirty="0">
                <a:solidFill>
                  <a:srgbClr val="222222"/>
                </a:solidFill>
              </a:rPr>
              <a:t>Exclusion list removes false positives (ceilings, lamps, furniture, people)</a:t>
            </a:r>
          </a:p>
          <a:p>
            <a:pPr marL="342900" indent="-342900">
              <a:spcAft>
                <a:spcPts val="1100"/>
              </a:spcAft>
              <a:buSzPct val="100000"/>
              <a:buChar char="•"/>
            </a:pPr>
            <a:r>
              <a:rPr lang="en-US" sz="1350" dirty="0">
                <a:solidFill>
                  <a:srgbClr val="222222"/>
                </a:solidFill>
              </a:rPr>
              <a:t>Asymmetric doubt: unsure it is art -&gt; NONE; art but unidentified -&gt; describe anyway</a:t>
            </a:r>
          </a:p>
          <a:p>
            <a:pPr marL="342900" indent="-342900">
              <a:spcAft>
                <a:spcPts val="1100"/>
              </a:spcAft>
              <a:buSzPct val="100000"/>
              <a:buChar char="•"/>
            </a:pPr>
            <a:r>
              <a:rPr lang="en-US" sz="1350" dirty="0">
                <a:solidFill>
                  <a:srgbClr val="222222"/>
                </a:solidFill>
              </a:rPr>
              <a:t>Reproductions (screen, poster, postcard) count as the work itself</a:t>
            </a:r>
          </a:p>
          <a:p>
            <a:pPr marL="342900" indent="-342900">
              <a:spcAft>
                <a:spcPts val="1100"/>
              </a:spcAft>
              <a:buSzPct val="100000"/>
              <a:buChar char="•"/>
            </a:pPr>
            <a:r>
              <a:rPr lang="en-US" sz="1350" dirty="0">
                <a:solidFill>
                  <a:srgbClr val="222222"/>
                </a:solidFill>
              </a:rPr>
              <a:t>Optional catalog section narrows recognition to a closed candidate list</a:t>
            </a:r>
          </a:p>
        </p:txBody>
      </p:sp>
      <p:sp>
        <p:nvSpPr>
          <p:cNvPr id="10" name="Shape 7"/>
          <p:cNvSpPr/>
          <p:nvPr/>
        </p:nvSpPr>
        <p:spPr>
          <a:xfrm>
            <a:off x="7223760" y="1371600"/>
            <a:ext cx="3931920" cy="4297680"/>
          </a:xfrm>
          <a:prstGeom prst="roundRect">
            <a:avLst>
              <a:gd name="adj" fmla="val 1628"/>
            </a:avLst>
          </a:prstGeom>
          <a:solidFill>
            <a:srgbClr val="EEF3F8"/>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1" name="Text 8"/>
          <p:cNvSpPr/>
          <p:nvPr/>
        </p:nvSpPr>
        <p:spPr>
          <a:xfrm>
            <a:off x="7452360" y="1554480"/>
            <a:ext cx="3566160" cy="365760"/>
          </a:xfrm>
          <a:prstGeom prst="rect">
            <a:avLst/>
          </a:prstGeom>
          <a:noFill/>
          <a:ln/>
        </p:spPr>
        <p:txBody>
          <a:bodyPr wrap="square" rtlCol="0" anchor="ctr"/>
          <a:lstStyle/>
          <a:p>
            <a:pPr marL="0" indent="0">
              <a:buNone/>
            </a:pPr>
            <a:r>
              <a:rPr lang="en-US" sz="1600" b="1" dirty="0">
                <a:solidFill>
                  <a:srgbClr val="002060"/>
                </a:solidFill>
              </a:rPr>
              <a:t>Latency-hidden narration</a:t>
            </a:r>
          </a:p>
        </p:txBody>
      </p:sp>
      <p:sp>
        <p:nvSpPr>
          <p:cNvPr id="12" name="Text 9"/>
          <p:cNvSpPr/>
          <p:nvPr/>
        </p:nvSpPr>
        <p:spPr>
          <a:xfrm>
            <a:off x="7452360" y="2011680"/>
            <a:ext cx="3566160" cy="3566160"/>
          </a:xfrm>
          <a:prstGeom prst="rect">
            <a:avLst/>
          </a:prstGeom>
          <a:noFill/>
          <a:ln/>
        </p:spPr>
        <p:txBody>
          <a:bodyPr wrap="square" rtlCol="0" anchor="ctr"/>
          <a:lstStyle/>
          <a:p>
            <a:pPr marL="342900" indent="-342900">
              <a:spcAft>
                <a:spcPts val="1100"/>
              </a:spcAft>
              <a:buSzPct val="100000"/>
              <a:buChar char="•"/>
            </a:pPr>
            <a:r>
              <a:rPr lang="en-US" sz="1350" dirty="0">
                <a:solidFill>
                  <a:srgbClr val="222222"/>
                </a:solidFill>
              </a:rPr>
              <a:t>Cached opener plays instantly, then the title: “This is X”</a:t>
            </a:r>
          </a:p>
          <a:p>
            <a:pPr marL="342900" indent="-342900">
              <a:spcAft>
                <a:spcPts val="1100"/>
              </a:spcAft>
              <a:buSzPct val="100000"/>
              <a:buChar char="•"/>
            </a:pPr>
            <a:r>
              <a:rPr lang="en-US" sz="1350" dirty="0">
                <a:solidFill>
                  <a:srgbClr val="222222"/>
                </a:solidFill>
              </a:rPr>
              <a:t>Description streamed sentence by sentence, one TTS call each</a:t>
            </a:r>
          </a:p>
          <a:p>
            <a:pPr marL="342900" indent="-342900">
              <a:spcAft>
                <a:spcPts val="1100"/>
              </a:spcAft>
              <a:buSzPct val="100000"/>
              <a:buChar char="•"/>
            </a:pPr>
            <a:r>
              <a:rPr lang="en-US" sz="1350" dirty="0">
                <a:solidFill>
                  <a:srgbClr val="222222"/>
                </a:solidFill>
              </a:rPr>
              <a:t>5 to 18 sentences depending on the visitor profile</a:t>
            </a:r>
          </a:p>
          <a:p>
            <a:pPr marL="342900" indent="-342900">
              <a:spcAft>
                <a:spcPts val="1100"/>
              </a:spcAft>
              <a:buSzPct val="100000"/>
              <a:buChar char="•"/>
            </a:pPr>
            <a:r>
              <a:rPr lang="en-US" sz="1350" dirty="0">
                <a:solidFill>
                  <a:srgbClr val="222222"/>
                </a:solidFill>
              </a:rPr>
              <a:t>END signal triggers a closing phrase instead of a hard stop</a:t>
            </a:r>
          </a:p>
          <a:p>
            <a:pPr marL="342900" indent="-342900">
              <a:spcAft>
                <a:spcPts val="1100"/>
              </a:spcAft>
              <a:buSzPct val="100000"/>
              <a:buChar char="•"/>
            </a:pPr>
            <a:r>
              <a:rPr lang="en-US" sz="1350" dirty="0">
                <a:solidFill>
                  <a:srgbClr val="222222"/>
                </a:solidFill>
              </a:rPr>
              <a:t>Two latencies measured: UX (opener) and REAL (first true sentence)</a:t>
            </a:r>
          </a:p>
        </p:txBody>
      </p:sp>
      <p:pic>
        <p:nvPicPr>
          <p:cNvPr id="13" name="Image 12">
            <a:extLst>
              <a:ext uri="{FF2B5EF4-FFF2-40B4-BE49-F238E27FC236}">
                <a16:creationId xmlns:a16="http://schemas.microsoft.com/office/drawing/2014/main" id="{F846B263-A176-E1F4-7106-8A3E8C5AB2C7}"/>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712785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15</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Our Solution: The Museum Catalog</a:t>
            </a:r>
          </a:p>
        </p:txBody>
      </p:sp>
      <p:sp>
        <p:nvSpPr>
          <p:cNvPr id="5" name="Text 2"/>
          <p:cNvSpPr/>
          <p:nvPr/>
        </p:nvSpPr>
        <p:spPr>
          <a:xfrm>
            <a:off x="1005840" y="1371600"/>
            <a:ext cx="5852160" cy="365760"/>
          </a:xfrm>
          <a:prstGeom prst="rect">
            <a:avLst/>
          </a:prstGeom>
          <a:noFill/>
          <a:ln/>
        </p:spPr>
        <p:txBody>
          <a:bodyPr wrap="square" rtlCol="0" anchor="ctr"/>
          <a:lstStyle/>
          <a:p>
            <a:pPr marL="0" indent="0">
              <a:buNone/>
            </a:pPr>
            <a:r>
              <a:rPr lang="en-US" sz="1600" b="1" dirty="0">
                <a:solidFill>
                  <a:srgbClr val="002060"/>
                </a:solidFill>
              </a:rPr>
              <a:t>Closed-set matching (museum_db.py)</a:t>
            </a:r>
          </a:p>
        </p:txBody>
      </p:sp>
      <p:sp>
        <p:nvSpPr>
          <p:cNvPr id="6" name="Text 3"/>
          <p:cNvSpPr/>
          <p:nvPr/>
        </p:nvSpPr>
        <p:spPr>
          <a:xfrm>
            <a:off x="1005840" y="1783080"/>
            <a:ext cx="5852160" cy="822960"/>
          </a:xfrm>
          <a:prstGeom prst="rect">
            <a:avLst/>
          </a:prstGeom>
          <a:noFill/>
          <a:ln/>
        </p:spPr>
        <p:txBody>
          <a:bodyPr wrap="square" rtlCol="0" anchor="ctr"/>
          <a:lstStyle/>
          <a:p>
            <a:pPr marL="0" indent="0">
              <a:buNone/>
            </a:pPr>
            <a:r>
              <a:rPr lang="en-US" sz="1350" dirty="0">
                <a:solidFill>
                  <a:srgbClr val="222222"/>
                </a:solidFill>
              </a:rPr>
              <a:t>Matching what the camera sees against a short closed list is a far easier task for the model than open-set recognition.</a:t>
            </a:r>
          </a:p>
        </p:txBody>
      </p:sp>
      <p:sp>
        <p:nvSpPr>
          <p:cNvPr id="7" name="Shape 4"/>
          <p:cNvSpPr/>
          <p:nvPr/>
        </p:nvSpPr>
        <p:spPr>
          <a:xfrm>
            <a:off x="1188720" y="2697480"/>
            <a:ext cx="5486400" cy="1143000"/>
          </a:xfrm>
          <a:prstGeom prst="roundRect">
            <a:avLst>
              <a:gd name="adj" fmla="val 4000"/>
            </a:avLst>
          </a:prstGeom>
          <a:solidFill>
            <a:srgbClr val="0B1F3A"/>
          </a:solidFill>
          <a:ln/>
        </p:spPr>
        <p:txBody>
          <a:bodyPr/>
          <a:lstStyle/>
          <a:p>
            <a:endParaRPr lang="fr-FR"/>
          </a:p>
        </p:txBody>
      </p:sp>
      <p:sp>
        <p:nvSpPr>
          <p:cNvPr id="8" name="Text 5"/>
          <p:cNvSpPr/>
          <p:nvPr/>
        </p:nvSpPr>
        <p:spPr>
          <a:xfrm>
            <a:off x="1417320" y="2834640"/>
            <a:ext cx="5120640" cy="914400"/>
          </a:xfrm>
          <a:prstGeom prst="rect">
            <a:avLst/>
          </a:prstGeom>
          <a:noFill/>
          <a:ln/>
        </p:spPr>
        <p:txBody>
          <a:bodyPr wrap="square" rtlCol="0" anchor="ctr"/>
          <a:lstStyle/>
          <a:p>
            <a:pPr marL="0" indent="0">
              <a:lnSpc>
                <a:spcPct val="115000"/>
              </a:lnSpc>
              <a:buNone/>
            </a:pPr>
            <a:r>
              <a:rPr lang="en-US" sz="1350" b="1" dirty="0">
                <a:solidFill>
                  <a:srgbClr val="7FE3C0"/>
                </a:solidFill>
                <a:latin typeface="Consolas" pitchFamily="34" charset="0"/>
              </a:rPr>
              <a:t>"id", "title"  -&gt; required</a:t>
            </a:r>
          </a:p>
          <a:p>
            <a:pPr marL="0" indent="0">
              <a:lnSpc>
                <a:spcPct val="115000"/>
              </a:lnSpc>
              <a:buNone/>
            </a:pPr>
            <a:r>
              <a:rPr lang="en-US" sz="1350" dirty="0">
                <a:solidFill>
                  <a:srgbClr val="E5E7EB"/>
                </a:solidFill>
                <a:latin typeface="Consolas" pitchFamily="34" charset="0"/>
              </a:rPr>
              <a:t>"artist", "year", "type", "room"</a:t>
            </a:r>
          </a:p>
          <a:p>
            <a:pPr marL="0" indent="0">
              <a:lnSpc>
                <a:spcPct val="115000"/>
              </a:lnSpc>
              <a:buNone/>
            </a:pPr>
            <a:r>
              <a:rPr lang="en-US" sz="1350" dirty="0">
                <a:solidFill>
                  <a:srgbClr val="F3B85F"/>
                </a:solidFill>
                <a:latin typeface="Consolas" pitchFamily="34" charset="0"/>
              </a:rPr>
              <a:t>"visual", "notes"  -&gt; only if needed</a:t>
            </a:r>
          </a:p>
        </p:txBody>
      </p:sp>
      <p:sp>
        <p:nvSpPr>
          <p:cNvPr id="9" name="Text 6"/>
          <p:cNvSpPr/>
          <p:nvPr/>
        </p:nvSpPr>
        <p:spPr>
          <a:xfrm>
            <a:off x="1005840" y="4069080"/>
            <a:ext cx="5852160" cy="1463040"/>
          </a:xfrm>
          <a:prstGeom prst="rect">
            <a:avLst/>
          </a:prstGeom>
          <a:noFill/>
          <a:ln/>
        </p:spPr>
        <p:txBody>
          <a:bodyPr wrap="square" rtlCol="0" anchor="ctr"/>
          <a:lstStyle/>
          <a:p>
            <a:pPr marL="342900" indent="-342900">
              <a:spcAft>
                <a:spcPts val="1100"/>
              </a:spcAft>
              <a:buSzPct val="100000"/>
              <a:buChar char="•"/>
            </a:pPr>
            <a:r>
              <a:rPr lang="en-US" sz="1350" dirty="0">
                <a:solidFill>
                  <a:srgbClr val="222222"/>
                </a:solidFill>
              </a:rPr>
              <a:t>One JSON file per museum, loaded once and injected into the system prompt</a:t>
            </a:r>
          </a:p>
          <a:p>
            <a:pPr marL="342900" indent="-342900">
              <a:spcAft>
                <a:spcPts val="1100"/>
              </a:spcAft>
              <a:buSzPct val="100000"/>
              <a:buChar char="•"/>
            </a:pPr>
            <a:r>
              <a:rPr lang="en-US" sz="1350" dirty="0">
                <a:solidFill>
                  <a:srgbClr val="222222"/>
                </a:solidFill>
              </a:rPr>
              <a:t>Prompt stays static for the session, so the provider cache absorbs its cost</a:t>
            </a:r>
          </a:p>
          <a:p>
            <a:pPr marL="342900" indent="-342900">
              <a:spcAft>
                <a:spcPts val="1100"/>
              </a:spcAft>
              <a:buSzPct val="100000"/>
              <a:buChar char="•"/>
            </a:pPr>
            <a:r>
              <a:rPr lang="en-US" sz="1350" dirty="0">
                <a:solidFill>
                  <a:srgbClr val="222222"/>
                </a:solidFill>
              </a:rPr>
              <a:t>Titles are copied verbatim, giving canonical names that stabilize re-visits</a:t>
            </a:r>
          </a:p>
        </p:txBody>
      </p:sp>
      <p:sp>
        <p:nvSpPr>
          <p:cNvPr id="10" name="Shape 7"/>
          <p:cNvSpPr/>
          <p:nvPr/>
        </p:nvSpPr>
        <p:spPr>
          <a:xfrm>
            <a:off x="7223760" y="1371600"/>
            <a:ext cx="3931920" cy="4297680"/>
          </a:xfrm>
          <a:prstGeom prst="roundRect">
            <a:avLst>
              <a:gd name="adj" fmla="val 1628"/>
            </a:avLst>
          </a:prstGeom>
          <a:solidFill>
            <a:srgbClr val="EEF3F8"/>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1" name="Text 8"/>
          <p:cNvSpPr/>
          <p:nvPr/>
        </p:nvSpPr>
        <p:spPr>
          <a:xfrm>
            <a:off x="7452360" y="1554480"/>
            <a:ext cx="3566160" cy="365760"/>
          </a:xfrm>
          <a:prstGeom prst="rect">
            <a:avLst/>
          </a:prstGeom>
          <a:noFill/>
          <a:ln/>
        </p:spPr>
        <p:txBody>
          <a:bodyPr wrap="square" rtlCol="0" anchor="ctr"/>
          <a:lstStyle/>
          <a:p>
            <a:pPr marL="0" indent="0">
              <a:buNone/>
            </a:pPr>
            <a:r>
              <a:rPr lang="en-US" sz="1600" b="1" dirty="0">
                <a:solidFill>
                  <a:srgbClr val="002060"/>
                </a:solidFill>
              </a:rPr>
              <a:t>Incremental working method</a:t>
            </a:r>
          </a:p>
        </p:txBody>
      </p:sp>
      <p:sp>
        <p:nvSpPr>
          <p:cNvPr id="12" name="Text 9"/>
          <p:cNvSpPr/>
          <p:nvPr/>
        </p:nvSpPr>
        <p:spPr>
          <a:xfrm>
            <a:off x="7452360" y="2011680"/>
            <a:ext cx="3566160" cy="3566160"/>
          </a:xfrm>
          <a:prstGeom prst="rect">
            <a:avLst/>
          </a:prstGeom>
          <a:noFill/>
          <a:ln/>
        </p:spPr>
        <p:txBody>
          <a:bodyPr wrap="square" rtlCol="0" anchor="ctr"/>
          <a:lstStyle/>
          <a:p>
            <a:pPr marL="342900" indent="-342900">
              <a:spcAft>
                <a:spcPts val="1100"/>
              </a:spcAft>
              <a:buSzPct val="100000"/>
              <a:buChar char="•"/>
            </a:pPr>
            <a:r>
              <a:rPr lang="en-US" sz="1350" dirty="0">
                <a:solidFill>
                  <a:srgbClr val="222222"/>
                </a:solidFill>
              </a:rPr>
              <a:t>Start from a bare list of titles and artists - minutes of work from the museum's own checklist</a:t>
            </a:r>
          </a:p>
          <a:p>
            <a:pPr marL="342900" indent="-342900">
              <a:spcAft>
                <a:spcPts val="1100"/>
              </a:spcAft>
              <a:buSzPct val="100000"/>
              <a:buChar char="•"/>
            </a:pPr>
            <a:r>
              <a:rPr lang="en-US" sz="1350" dirty="0">
                <a:solidFill>
                  <a:srgbClr val="222222"/>
                </a:solidFill>
              </a:rPr>
              <a:t>Test in the gallery, then enrich only the works the model misses</a:t>
            </a:r>
          </a:p>
          <a:p>
            <a:pPr marL="342900" indent="-342900">
              <a:spcAft>
                <a:spcPts val="1100"/>
              </a:spcAft>
              <a:buSzPct val="100000"/>
              <a:buChar char="•"/>
            </a:pPr>
            <a:r>
              <a:rPr lang="en-US" sz="1350" dirty="0">
                <a:solidFill>
                  <a:srgbClr val="222222"/>
                </a:solidFill>
              </a:rPr>
              <a:t>Add visual and notes fields to suppress invented details</a:t>
            </a:r>
          </a:p>
          <a:p>
            <a:pPr marL="342900" indent="-342900">
              <a:spcAft>
                <a:spcPts val="1100"/>
              </a:spcAft>
              <a:buSzPct val="100000"/>
              <a:buChar char="•"/>
            </a:pPr>
            <a:r>
              <a:rPr lang="en-US" sz="1350" dirty="0">
                <a:solidFill>
                  <a:srgbClr val="222222"/>
                </a:solidFill>
              </a:rPr>
              <a:t>Text only: no reference photographs of the collection needed</a:t>
            </a:r>
          </a:p>
          <a:p>
            <a:pPr marL="342900" indent="-342900">
              <a:spcAft>
                <a:spcPts val="1100"/>
              </a:spcAft>
              <a:buSzPct val="100000"/>
              <a:buChar char="•"/>
            </a:pPr>
            <a:r>
              <a:rPr lang="en-US" sz="1350" dirty="0">
                <a:solidFill>
                  <a:srgbClr val="222222"/>
                </a:solidFill>
              </a:rPr>
              <a:t>Records missing a required field are filtered and reported at load time</a:t>
            </a:r>
          </a:p>
        </p:txBody>
      </p:sp>
      <p:pic>
        <p:nvPicPr>
          <p:cNvPr id="13" name="Image 12">
            <a:extLst>
              <a:ext uri="{FF2B5EF4-FFF2-40B4-BE49-F238E27FC236}">
                <a16:creationId xmlns:a16="http://schemas.microsoft.com/office/drawing/2014/main" id="{F846B263-A176-E1F4-7106-8A3E8C5AB2C7}"/>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3117407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16</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Personalized Visitor Experience</a:t>
            </a:r>
          </a:p>
        </p:txBody>
      </p:sp>
      <p:sp>
        <p:nvSpPr>
          <p:cNvPr id="5" name="Text 2"/>
          <p:cNvSpPr/>
          <p:nvPr/>
        </p:nvSpPr>
        <p:spPr>
          <a:xfrm>
            <a:off x="1005840" y="1371600"/>
            <a:ext cx="5852160" cy="365760"/>
          </a:xfrm>
          <a:prstGeom prst="rect">
            <a:avLst/>
          </a:prstGeom>
          <a:noFill/>
          <a:ln/>
        </p:spPr>
        <p:txBody>
          <a:bodyPr wrap="square" rtlCol="0" anchor="ctr"/>
          <a:lstStyle/>
          <a:p>
            <a:pPr marL="0" indent="0">
              <a:buNone/>
            </a:pPr>
            <a:r>
              <a:rPr lang="en-US" sz="1600" b="1" dirty="0">
                <a:solidFill>
                  <a:srgbClr val="002060"/>
                </a:solidFill>
              </a:rPr>
              <a:t>Five questions at launch</a:t>
            </a:r>
          </a:p>
        </p:txBody>
      </p:sp>
      <p:sp>
        <p:nvSpPr>
          <p:cNvPr id="6" name="Text 3"/>
          <p:cNvSpPr/>
          <p:nvPr/>
        </p:nvSpPr>
        <p:spPr>
          <a:xfrm>
            <a:off x="1005840" y="1783080"/>
            <a:ext cx="5852160" cy="822960"/>
          </a:xfrm>
          <a:prstGeom prst="rect">
            <a:avLst/>
          </a:prstGeom>
          <a:noFill/>
          <a:ln/>
        </p:spPr>
        <p:txBody>
          <a:bodyPr wrap="square" rtlCol="0" anchor="ctr"/>
          <a:lstStyle/>
          <a:p>
            <a:pPr marL="0" indent="0">
              <a:buNone/>
            </a:pPr>
            <a:r>
              <a:rPr lang="en-US" sz="1350" dirty="0">
                <a:solidFill>
                  <a:srgbClr val="222222"/>
                </a:solidFill>
              </a:rPr>
              <a:t>A short questionnaire builds a visitor profile that is frozen for the whole visit.</a:t>
            </a:r>
          </a:p>
        </p:txBody>
      </p:sp>
      <p:sp>
        <p:nvSpPr>
          <p:cNvPr id="7" name="Shape 4"/>
          <p:cNvSpPr/>
          <p:nvPr/>
        </p:nvSpPr>
        <p:spPr>
          <a:xfrm>
            <a:off x="1188720" y="2697480"/>
            <a:ext cx="5486400" cy="1143000"/>
          </a:xfrm>
          <a:prstGeom prst="roundRect">
            <a:avLst>
              <a:gd name="adj" fmla="val 4000"/>
            </a:avLst>
          </a:prstGeom>
          <a:solidFill>
            <a:srgbClr val="0B1F3A"/>
          </a:solidFill>
          <a:ln/>
        </p:spPr>
        <p:txBody>
          <a:bodyPr/>
          <a:lstStyle/>
          <a:p>
            <a:endParaRPr lang="fr-FR"/>
          </a:p>
        </p:txBody>
      </p:sp>
      <p:sp>
        <p:nvSpPr>
          <p:cNvPr id="8" name="Text 5"/>
          <p:cNvSpPr/>
          <p:nvPr/>
        </p:nvSpPr>
        <p:spPr>
          <a:xfrm>
            <a:off x="1417320" y="2834640"/>
            <a:ext cx="5120640" cy="914400"/>
          </a:xfrm>
          <a:prstGeom prst="rect">
            <a:avLst/>
          </a:prstGeom>
          <a:noFill/>
          <a:ln/>
        </p:spPr>
        <p:txBody>
          <a:bodyPr wrap="square" rtlCol="0" anchor="ctr"/>
          <a:lstStyle/>
          <a:p>
            <a:pPr marL="0" indent="0">
              <a:lnSpc>
                <a:spcPct val="115000"/>
              </a:lnSpc>
              <a:buNone/>
            </a:pPr>
            <a:r>
              <a:rPr lang="en-US" sz="1250" b="1" dirty="0">
                <a:solidFill>
                  <a:srgbClr val="7FE3C0"/>
                </a:solidFill>
                <a:latin typeface="Consolas" pitchFamily="34" charset="0"/>
              </a:rPr>
              <a:t>language: EN / FR / ES</a:t>
            </a:r>
          </a:p>
          <a:p>
            <a:pPr marL="0" indent="0">
              <a:lnSpc>
                <a:spcPct val="115000"/>
              </a:lnSpc>
              <a:buNone/>
            </a:pPr>
            <a:r>
              <a:rPr lang="en-US" sz="1250" dirty="0">
                <a:solidFill>
                  <a:srgbClr val="E5E7EB"/>
                </a:solidFill>
                <a:latin typeface="Consolas" pitchFamily="34" charset="0"/>
              </a:rPr>
              <a:t>age: child / teen / adult / senior</a:t>
            </a:r>
          </a:p>
          <a:p>
            <a:pPr marL="0" indent="0">
              <a:lnSpc>
                <a:spcPct val="115000"/>
              </a:lnSpc>
              <a:buNone/>
            </a:pPr>
            <a:r>
              <a:rPr lang="en-US" sz="1250" dirty="0">
                <a:solidFill>
                  <a:srgbClr val="E5E7EB"/>
                </a:solidFill>
                <a:latin typeface="Consolas" pitchFamily="34" charset="0"/>
              </a:rPr>
              <a:t>knowledge: novice / intermediate / expert</a:t>
            </a:r>
          </a:p>
          <a:p>
            <a:pPr marL="0" indent="0">
              <a:lnSpc>
                <a:spcPct val="115000"/>
              </a:lnSpc>
              <a:buNone/>
            </a:pPr>
            <a:r>
              <a:rPr lang="en-US" sz="1250" dirty="0">
                <a:solidFill>
                  <a:srgbClr val="F3B85F"/>
                </a:solidFill>
                <a:latin typeface="Consolas" pitchFamily="34" charset="0"/>
              </a:rPr>
              <a:t>length: short / medium / long</a:t>
            </a:r>
          </a:p>
          <a:p>
            <a:pPr marL="0" indent="0">
              <a:lnSpc>
                <a:spcPct val="115000"/>
              </a:lnSpc>
              <a:buNone/>
            </a:pPr>
            <a:r>
              <a:rPr lang="en-US" sz="1250" dirty="0">
                <a:solidFill>
                  <a:srgbClr val="F3B85F"/>
                </a:solidFill>
                <a:latin typeface="Consolas" pitchFamily="34" charset="0"/>
              </a:rPr>
              <a:t>museum: catalog used as recognition aid</a:t>
            </a:r>
          </a:p>
        </p:txBody>
      </p:sp>
      <p:sp>
        <p:nvSpPr>
          <p:cNvPr id="9" name="Text 6"/>
          <p:cNvSpPr/>
          <p:nvPr/>
        </p:nvSpPr>
        <p:spPr>
          <a:xfrm>
            <a:off x="1005840" y="4069080"/>
            <a:ext cx="5852160" cy="1463040"/>
          </a:xfrm>
          <a:prstGeom prst="rect">
            <a:avLst/>
          </a:prstGeom>
          <a:noFill/>
          <a:ln/>
        </p:spPr>
        <p:txBody>
          <a:bodyPr wrap="square" rtlCol="0" anchor="ctr"/>
          <a:lstStyle/>
          <a:p>
            <a:pPr marL="342900" indent="-342900">
              <a:spcAft>
                <a:spcPts val="1100"/>
              </a:spcAft>
              <a:buSzPct val="100000"/>
              <a:buChar char="•"/>
            </a:pPr>
            <a:r>
              <a:rPr lang="en-US" sz="1350" dirty="0">
                <a:solidFill>
                  <a:srgbClr val="222222"/>
                </a:solidFill>
              </a:rPr>
              <a:t>Length presets of 5-8, 9-13 or 14-18 sentences, enforced in prompt and playback</a:t>
            </a:r>
          </a:p>
          <a:p>
            <a:pPr marL="342900" indent="-342900">
              <a:spcAft>
                <a:spcPts val="1100"/>
              </a:spcAft>
              <a:buSzPct val="100000"/>
              <a:buChar char="•"/>
            </a:pPr>
            <a:r>
              <a:rPr lang="en-US" sz="1350" dirty="0">
                <a:solidFill>
                  <a:srgbClr val="222222"/>
                </a:solidFill>
              </a:rPr>
              <a:t>Age and expertise are independent axes - a child can be an expert</a:t>
            </a:r>
          </a:p>
          <a:p>
            <a:pPr marL="342900" indent="-342900">
              <a:spcAft>
                <a:spcPts val="1100"/>
              </a:spcAft>
              <a:buSzPct val="100000"/>
              <a:buChar char="•"/>
            </a:pPr>
            <a:r>
              <a:rPr lang="en-US" sz="1350" dirty="0">
                <a:solidFill>
                  <a:srgbClr val="222222"/>
                </a:solidFill>
              </a:rPr>
              <a:t>Museum choice loads the catalog injected into the recognition prompt</a:t>
            </a:r>
          </a:p>
        </p:txBody>
      </p:sp>
      <p:sp>
        <p:nvSpPr>
          <p:cNvPr id="10" name="Shape 7"/>
          <p:cNvSpPr/>
          <p:nvPr/>
        </p:nvSpPr>
        <p:spPr>
          <a:xfrm>
            <a:off x="7223760" y="1371600"/>
            <a:ext cx="3931920" cy="4297680"/>
          </a:xfrm>
          <a:prstGeom prst="roundRect">
            <a:avLst>
              <a:gd name="adj" fmla="val 1628"/>
            </a:avLst>
          </a:prstGeom>
          <a:solidFill>
            <a:srgbClr val="EEF3F8"/>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1" name="Text 8"/>
          <p:cNvSpPr/>
          <p:nvPr/>
        </p:nvSpPr>
        <p:spPr>
          <a:xfrm>
            <a:off x="7452360" y="1554480"/>
            <a:ext cx="3566160" cy="365760"/>
          </a:xfrm>
          <a:prstGeom prst="rect">
            <a:avLst/>
          </a:prstGeom>
          <a:noFill/>
          <a:ln/>
        </p:spPr>
        <p:txBody>
          <a:bodyPr wrap="square" rtlCol="0" anchor="ctr"/>
          <a:lstStyle/>
          <a:p>
            <a:pPr marL="0" indent="0">
              <a:buNone/>
            </a:pPr>
            <a:r>
              <a:rPr lang="en-US" sz="1600" b="1" dirty="0">
                <a:solidFill>
                  <a:srgbClr val="002060"/>
                </a:solidFill>
              </a:rPr>
              <a:t>What the visitor hears</a:t>
            </a:r>
          </a:p>
        </p:txBody>
      </p:sp>
      <p:sp>
        <p:nvSpPr>
          <p:cNvPr id="12" name="Text 9"/>
          <p:cNvSpPr/>
          <p:nvPr/>
        </p:nvSpPr>
        <p:spPr>
          <a:xfrm>
            <a:off x="7452360" y="2011680"/>
            <a:ext cx="3566160" cy="3566160"/>
          </a:xfrm>
          <a:prstGeom prst="rect">
            <a:avLst/>
          </a:prstGeom>
          <a:noFill/>
          <a:ln/>
        </p:spPr>
        <p:txBody>
          <a:bodyPr wrap="square" rtlCol="0" anchor="ctr"/>
          <a:lstStyle/>
          <a:p>
            <a:pPr marL="342900" indent="-342900">
              <a:spcAft>
                <a:spcPts val="1100"/>
              </a:spcAft>
              <a:buSzPct val="100000"/>
              <a:buChar char="•"/>
            </a:pPr>
            <a:r>
              <a:rPr lang="en-US" sz="1350" dirty="0">
                <a:solidFill>
                  <a:srgbClr val="222222"/>
                </a:solidFill>
              </a:rPr>
              <a:t>Vision prompt rebuilt per profile: output language, register, depth</a:t>
            </a:r>
          </a:p>
          <a:p>
            <a:pPr marL="342900" indent="-342900">
              <a:spcAft>
                <a:spcPts val="1100"/>
              </a:spcAft>
              <a:buSzPct val="100000"/>
              <a:buChar char="•"/>
            </a:pPr>
            <a:r>
              <a:rPr lang="en-US" sz="1350" dirty="0">
                <a:solidFill>
                  <a:srgbClr val="222222"/>
                </a:solidFill>
              </a:rPr>
              <a:t>Voice per age group: fable (child), nova (teen / adult), shimmer (senior)</a:t>
            </a:r>
          </a:p>
          <a:p>
            <a:pPr marL="342900" indent="-342900">
              <a:spcAft>
                <a:spcPts val="1100"/>
              </a:spcAft>
              <a:buSzPct val="100000"/>
              <a:buChar char="•"/>
            </a:pPr>
            <a:r>
              <a:rPr lang="en-US" sz="1350" dirty="0">
                <a:solidFill>
                  <a:srgbClr val="222222"/>
                </a:solidFill>
              </a:rPr>
              <a:t>Native accent and speaking style passed as TTS instructions</a:t>
            </a:r>
          </a:p>
          <a:p>
            <a:pPr marL="342900" indent="-342900">
              <a:spcAft>
                <a:spcPts val="1100"/>
              </a:spcAft>
              <a:buSzPct val="100000"/>
              <a:buChar char="•"/>
            </a:pPr>
            <a:r>
              <a:rPr lang="en-US" sz="1350" dirty="0">
                <a:solidFill>
                  <a:srgbClr val="222222"/>
                </a:solidFill>
              </a:rPr>
              <a:t>Opener, welcome-back and closing phrases localized EN / FR / ES</a:t>
            </a:r>
          </a:p>
          <a:p>
            <a:pPr marL="342900" indent="-342900">
              <a:spcAft>
                <a:spcPts val="1100"/>
              </a:spcAft>
              <a:buSzPct val="100000"/>
              <a:buChar char="•"/>
            </a:pPr>
            <a:r>
              <a:rPr lang="en-US" sz="1350" dirty="0">
                <a:solidFill>
                  <a:srgbClr val="222222"/>
                </a:solidFill>
              </a:rPr>
              <a:t>Control tokens stay in English, so the pipeline parsing never changes</a:t>
            </a:r>
          </a:p>
          <a:p>
            <a:pPr marL="342900" indent="-342900">
              <a:spcAft>
                <a:spcPts val="1100"/>
              </a:spcAft>
              <a:buSzPct val="100000"/>
              <a:buChar char="•"/>
            </a:pPr>
            <a:r>
              <a:rPr lang="en-US" sz="1350" dirty="0">
                <a:solidFill>
                  <a:srgbClr val="222222"/>
                </a:solidFill>
              </a:rPr>
              <a:t>Adding a language = one entry plus a phrase set, no code change</a:t>
            </a:r>
          </a:p>
        </p:txBody>
      </p:sp>
      <p:pic>
        <p:nvPicPr>
          <p:cNvPr id="13" name="Image 12">
            <a:extLst>
              <a:ext uri="{FF2B5EF4-FFF2-40B4-BE49-F238E27FC236}">
                <a16:creationId xmlns:a16="http://schemas.microsoft.com/office/drawing/2014/main" id="{F846B263-A176-E1F4-7106-8A3E8C5AB2C7}"/>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3145415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17</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Latency Hiding &amp; Pre-generated Audio</a:t>
            </a:r>
          </a:p>
        </p:txBody>
      </p:sp>
      <p:sp>
        <p:nvSpPr>
          <p:cNvPr id="5" name="Text 2"/>
          <p:cNvSpPr/>
          <p:nvPr/>
        </p:nvSpPr>
        <p:spPr>
          <a:xfrm>
            <a:off x="1005840" y="1371600"/>
            <a:ext cx="5852160" cy="365760"/>
          </a:xfrm>
          <a:prstGeom prst="rect">
            <a:avLst/>
          </a:prstGeom>
          <a:noFill/>
          <a:ln/>
        </p:spPr>
        <p:txBody>
          <a:bodyPr wrap="square" rtlCol="0" anchor="ctr"/>
          <a:lstStyle/>
          <a:p>
            <a:pPr marL="0" indent="0">
              <a:buNone/>
            </a:pPr>
            <a:r>
              <a:rPr lang="en-US" sz="1600" b="1" dirty="0">
                <a:solidFill>
                  <a:srgbClr val="002060"/>
                </a:solidFill>
              </a:rPr>
              <a:t>Pre-generated TTS cache</a:t>
            </a:r>
          </a:p>
        </p:txBody>
      </p:sp>
      <p:sp>
        <p:nvSpPr>
          <p:cNvPr id="6" name="Text 3"/>
          <p:cNvSpPr/>
          <p:nvPr/>
        </p:nvSpPr>
        <p:spPr>
          <a:xfrm>
            <a:off x="1005840" y="1783080"/>
            <a:ext cx="5852160" cy="822960"/>
          </a:xfrm>
          <a:prstGeom prst="rect">
            <a:avLst/>
          </a:prstGeom>
          <a:noFill/>
          <a:ln/>
        </p:spPr>
        <p:txBody>
          <a:bodyPr wrap="square" rtlCol="0" anchor="ctr"/>
          <a:lstStyle/>
          <a:p>
            <a:pPr marL="0" indent="0">
              <a:buNone/>
            </a:pPr>
            <a:r>
              <a:rPr lang="en-US" sz="1350" dirty="0">
                <a:solidFill>
                  <a:srgbClr val="222222"/>
                </a:solidFill>
              </a:rPr>
              <a:t>Opening, welcome-back and closing phrases are synthesized once with gpt-4o-mini-tts instead of at every launch.</a:t>
            </a:r>
          </a:p>
        </p:txBody>
      </p:sp>
      <p:sp>
        <p:nvSpPr>
          <p:cNvPr id="7" name="Shape 4"/>
          <p:cNvSpPr/>
          <p:nvPr/>
        </p:nvSpPr>
        <p:spPr>
          <a:xfrm>
            <a:off x="1188720" y="2697480"/>
            <a:ext cx="5486400" cy="1143000"/>
          </a:xfrm>
          <a:prstGeom prst="roundRect">
            <a:avLst>
              <a:gd name="adj" fmla="val 4000"/>
            </a:avLst>
          </a:prstGeom>
          <a:solidFill>
            <a:srgbClr val="0B1F3A"/>
          </a:solidFill>
          <a:ln/>
        </p:spPr>
        <p:txBody>
          <a:bodyPr/>
          <a:lstStyle/>
          <a:p>
            <a:endParaRPr lang="fr-FR"/>
          </a:p>
        </p:txBody>
      </p:sp>
      <p:sp>
        <p:nvSpPr>
          <p:cNvPr id="8" name="Text 5"/>
          <p:cNvSpPr/>
          <p:nvPr/>
        </p:nvSpPr>
        <p:spPr>
          <a:xfrm>
            <a:off x="1417320" y="2834640"/>
            <a:ext cx="5120640" cy="914400"/>
          </a:xfrm>
          <a:prstGeom prst="rect">
            <a:avLst/>
          </a:prstGeom>
          <a:noFill/>
          <a:ln/>
        </p:spPr>
        <p:txBody>
          <a:bodyPr wrap="square" rtlCol="0" anchor="ctr"/>
          <a:lstStyle/>
          <a:p>
            <a:pPr marL="0" indent="0">
              <a:lnSpc>
                <a:spcPct val="115000"/>
              </a:lnSpc>
              <a:buNone/>
            </a:pPr>
            <a:r>
              <a:rPr lang="en-US" sz="1350" b="1" dirty="0">
                <a:solidFill>
                  <a:srgbClr val="7FE3C0"/>
                </a:solidFill>
                <a:latin typeface="Consolas" pitchFamily="34" charset="0"/>
              </a:rPr>
              <a:t>tts_cache/&lt;lang&gt;/&lt;age&gt;/&lt;pool&gt;/&lt;sha1&gt;.mp3</a:t>
            </a:r>
          </a:p>
          <a:p>
            <a:pPr marL="0" indent="0">
              <a:lnSpc>
                <a:spcPct val="115000"/>
              </a:lnSpc>
              <a:buNone/>
            </a:pPr>
            <a:r>
              <a:rPr lang="en-US" sz="1350" dirty="0">
                <a:solidFill>
                  <a:srgbClr val="E5E7EB"/>
                </a:solidFill>
                <a:latin typeface="Consolas" pitchFamily="34" charset="0"/>
              </a:rPr>
              <a:t>288 clips, ~20 MB, versioned with the code</a:t>
            </a:r>
          </a:p>
          <a:p>
            <a:pPr marL="0" indent="0">
              <a:lnSpc>
                <a:spcPct val="115000"/>
              </a:lnSpc>
              <a:buNone/>
            </a:pPr>
            <a:r>
              <a:rPr lang="en-US" sz="1350" dirty="0">
                <a:solidFill>
                  <a:srgbClr val="F3B85F"/>
                </a:solidFill>
                <a:latin typeface="Consolas" pitchFamily="34" charset="0"/>
              </a:rPr>
              <a:t>missing clip -&gt; logged, never a live call</a:t>
            </a:r>
          </a:p>
        </p:txBody>
      </p:sp>
      <p:sp>
        <p:nvSpPr>
          <p:cNvPr id="9" name="Text 6"/>
          <p:cNvSpPr/>
          <p:nvPr/>
        </p:nvSpPr>
        <p:spPr>
          <a:xfrm>
            <a:off x="1005840" y="4069080"/>
            <a:ext cx="5852160" cy="1463040"/>
          </a:xfrm>
          <a:prstGeom prst="rect">
            <a:avLst/>
          </a:prstGeom>
          <a:noFill/>
          <a:ln/>
        </p:spPr>
        <p:txBody>
          <a:bodyPr wrap="square" rtlCol="0" anchor="ctr"/>
          <a:lstStyle/>
          <a:p>
            <a:pPr marL="342900" indent="-342900">
              <a:spcAft>
                <a:spcPts val="1100"/>
              </a:spcAft>
              <a:buSzPct val="100000"/>
              <a:buChar char="•"/>
            </a:pPr>
            <a:r>
              <a:rPr lang="en-US" sz="1350" dirty="0">
                <a:solidFill>
                  <a:srgbClr val="222222"/>
                </a:solidFill>
              </a:rPr>
              <a:t>Idempotent script: a new language or phrase only generates what is missing</a:t>
            </a:r>
          </a:p>
        </p:txBody>
      </p:sp>
      <p:sp>
        <p:nvSpPr>
          <p:cNvPr id="10" name="Shape 7"/>
          <p:cNvSpPr/>
          <p:nvPr/>
        </p:nvSpPr>
        <p:spPr>
          <a:xfrm>
            <a:off x="7223760" y="1371600"/>
            <a:ext cx="3931920" cy="4297680"/>
          </a:xfrm>
          <a:prstGeom prst="roundRect">
            <a:avLst>
              <a:gd name="adj" fmla="val 1628"/>
            </a:avLst>
          </a:prstGeom>
          <a:solidFill>
            <a:srgbClr val="EEF3F8"/>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1" name="Text 8"/>
          <p:cNvSpPr/>
          <p:nvPr/>
        </p:nvSpPr>
        <p:spPr>
          <a:xfrm>
            <a:off x="7452360" y="1554480"/>
            <a:ext cx="3566160" cy="365760"/>
          </a:xfrm>
          <a:prstGeom prst="rect">
            <a:avLst/>
          </a:prstGeom>
          <a:noFill/>
          <a:ln/>
        </p:spPr>
        <p:txBody>
          <a:bodyPr wrap="square" rtlCol="0" anchor="ctr"/>
          <a:lstStyle/>
          <a:p>
            <a:pPr marL="0" indent="0">
              <a:buNone/>
            </a:pPr>
            <a:r>
              <a:rPr lang="en-US" sz="1600" b="1" dirty="0">
                <a:solidFill>
                  <a:srgbClr val="002060"/>
                </a:solidFill>
              </a:rPr>
              <a:t>Hiding the cloud round-trip</a:t>
            </a:r>
          </a:p>
        </p:txBody>
      </p:sp>
      <p:sp>
        <p:nvSpPr>
          <p:cNvPr id="12" name="Text 9"/>
          <p:cNvSpPr/>
          <p:nvPr/>
        </p:nvSpPr>
        <p:spPr>
          <a:xfrm>
            <a:off x="7452360" y="2011680"/>
            <a:ext cx="3566160" cy="3566160"/>
          </a:xfrm>
          <a:prstGeom prst="rect">
            <a:avLst/>
          </a:prstGeom>
          <a:noFill/>
          <a:ln/>
        </p:spPr>
        <p:txBody>
          <a:bodyPr wrap="square" rtlCol="0" anchor="ctr"/>
          <a:lstStyle/>
          <a:p>
            <a:pPr marL="342900" indent="-342900">
              <a:spcAft>
                <a:spcPts val="1100"/>
              </a:spcAft>
              <a:buSzPct val="100000"/>
              <a:buChar char="•"/>
            </a:pPr>
            <a:r>
              <a:rPr lang="en-US" sz="1350" dirty="0">
                <a:solidFill>
                  <a:srgbClr val="222222"/>
                </a:solidFill>
              </a:rPr>
              <a:t>Cached opener plays in under 3 s, before any model has answered</a:t>
            </a:r>
          </a:p>
          <a:p>
            <a:pPr marL="342900" indent="-342900">
              <a:spcAft>
                <a:spcPts val="1100"/>
              </a:spcAft>
              <a:buSzPct val="100000"/>
              <a:buChar char="•"/>
            </a:pPr>
            <a:r>
              <a:rPr lang="en-US" sz="1350" dirty="0">
                <a:solidFill>
                  <a:srgbClr val="222222"/>
                </a:solidFill>
              </a:rPr>
              <a:t>Artwork title announced live - content-dependent, cannot be cached</a:t>
            </a:r>
          </a:p>
          <a:p>
            <a:pPr marL="342900" indent="-342900">
              <a:spcAft>
                <a:spcPts val="1100"/>
              </a:spcAft>
              <a:buSzPct val="100000"/>
              <a:buChar char="•"/>
            </a:pPr>
            <a:r>
              <a:rPr lang="en-US" sz="1350" dirty="0">
                <a:solidFill>
                  <a:srgbClr val="222222"/>
                </a:solidFill>
              </a:rPr>
              <a:t>Sentence streaming: audio plays while the next sentence is still written</a:t>
            </a:r>
          </a:p>
          <a:p>
            <a:pPr marL="342900" indent="-342900">
              <a:spcAft>
                <a:spcPts val="1100"/>
              </a:spcAft>
              <a:buSzPct val="100000"/>
              <a:buChar char="•"/>
            </a:pPr>
            <a:r>
              <a:rPr lang="en-US" sz="1350" dirty="0">
                <a:solidFill>
                  <a:srgbClr val="222222"/>
                </a:solidFill>
              </a:rPr>
              <a:t>Small queues keep the narration aligned with what is in view now</a:t>
            </a:r>
          </a:p>
          <a:p>
            <a:pPr marL="342900" indent="-342900">
              <a:spcAft>
                <a:spcPts val="1100"/>
              </a:spcAft>
              <a:buSzPct val="100000"/>
              <a:buChar char="•"/>
            </a:pPr>
            <a:r>
              <a:rPr lang="en-US" sz="1350" dirty="0">
                <a:solidFill>
                  <a:srgbClr val="222222"/>
                </a:solidFill>
              </a:rPr>
              <a:t>Stale frames are skipped outright - a full vision pass costs 10-20 s</a:t>
            </a:r>
          </a:p>
        </p:txBody>
      </p:sp>
      <p:pic>
        <p:nvPicPr>
          <p:cNvPr id="13" name="Image 12">
            <a:extLst>
              <a:ext uri="{FF2B5EF4-FFF2-40B4-BE49-F238E27FC236}">
                <a16:creationId xmlns:a16="http://schemas.microsoft.com/office/drawing/2014/main" id="{F846B263-A176-E1F4-7106-8A3E8C5AB2C7}"/>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3143958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18</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Engineering &amp; Robustness</a:t>
            </a:r>
          </a:p>
        </p:txBody>
      </p:sp>
      <p:sp>
        <p:nvSpPr>
          <p:cNvPr id="5" name="Shape 2"/>
          <p:cNvSpPr/>
          <p:nvPr/>
        </p:nvSpPr>
        <p:spPr>
          <a:xfrm>
            <a:off x="1097280" y="1508760"/>
            <a:ext cx="310896" cy="310896"/>
          </a:xfrm>
          <a:prstGeom prst="ellipse">
            <a:avLst/>
          </a:prstGeom>
          <a:solidFill>
            <a:srgbClr val="0E7490"/>
          </a:solidFill>
          <a:ln/>
        </p:spPr>
        <p:txBody>
          <a:bodyPr/>
          <a:lstStyle/>
          <a:p>
            <a:endParaRPr lang="fr-FR"/>
          </a:p>
        </p:txBody>
      </p:sp>
      <p:sp>
        <p:nvSpPr>
          <p:cNvPr id="6" name="Text 3"/>
          <p:cNvSpPr/>
          <p:nvPr/>
        </p:nvSpPr>
        <p:spPr>
          <a:xfrm>
            <a:off x="1097280" y="1481328"/>
            <a:ext cx="310896" cy="310896"/>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7" name="Text 4"/>
          <p:cNvSpPr/>
          <p:nvPr/>
        </p:nvSpPr>
        <p:spPr>
          <a:xfrm>
            <a:off x="1600200" y="1463040"/>
            <a:ext cx="9692640" cy="365760"/>
          </a:xfrm>
          <a:prstGeom prst="rect">
            <a:avLst/>
          </a:prstGeom>
          <a:noFill/>
          <a:ln/>
        </p:spPr>
        <p:txBody>
          <a:bodyPr wrap="square" rtlCol="0" anchor="ctr"/>
          <a:lstStyle/>
          <a:p>
            <a:pPr marL="0" indent="0">
              <a:buNone/>
            </a:pPr>
            <a:r>
              <a:rPr lang="en-US" sz="1500" b="1" dirty="0">
                <a:solidFill>
                  <a:srgbClr val="002060"/>
                </a:solidFill>
              </a:rPr>
              <a:t>Zero-friction launch</a:t>
            </a:r>
          </a:p>
        </p:txBody>
      </p:sp>
      <p:sp>
        <p:nvSpPr>
          <p:cNvPr id="8" name="Text 5"/>
          <p:cNvSpPr/>
          <p:nvPr/>
        </p:nvSpPr>
        <p:spPr>
          <a:xfrm>
            <a:off x="1600200" y="1792224"/>
            <a:ext cx="9692640" cy="365760"/>
          </a:xfrm>
          <a:prstGeom prst="rect">
            <a:avLst/>
          </a:prstGeom>
          <a:noFill/>
          <a:ln/>
        </p:spPr>
        <p:txBody>
          <a:bodyPr wrap="square" rtlCol="0" anchor="ctr"/>
          <a:lstStyle/>
          <a:p>
            <a:pPr marL="0" indent="0">
              <a:buNone/>
            </a:pPr>
            <a:r>
              <a:rPr lang="en-US" sz="1250" dirty="0">
                <a:solidFill>
                  <a:srgbClr val="222222"/>
                </a:solidFill>
              </a:rPr>
              <a:t>run.sh checks and installs dependencies, pairs the SDK and finds the glasses by ARP scan with a cached IP</a:t>
            </a:r>
          </a:p>
        </p:txBody>
      </p:sp>
      <p:sp>
        <p:nvSpPr>
          <p:cNvPr id="9" name="Shape 6"/>
          <p:cNvSpPr/>
          <p:nvPr/>
        </p:nvSpPr>
        <p:spPr>
          <a:xfrm>
            <a:off x="1097280" y="2295144"/>
            <a:ext cx="310896" cy="310896"/>
          </a:xfrm>
          <a:prstGeom prst="ellipse">
            <a:avLst/>
          </a:prstGeom>
          <a:solidFill>
            <a:srgbClr val="0E7490"/>
          </a:solidFill>
          <a:ln/>
        </p:spPr>
        <p:txBody>
          <a:bodyPr/>
          <a:lstStyle/>
          <a:p>
            <a:endParaRPr lang="fr-FR"/>
          </a:p>
        </p:txBody>
      </p:sp>
      <p:sp>
        <p:nvSpPr>
          <p:cNvPr id="10" name="Text 7"/>
          <p:cNvSpPr/>
          <p:nvPr/>
        </p:nvSpPr>
        <p:spPr>
          <a:xfrm>
            <a:off x="1097280" y="2267712"/>
            <a:ext cx="310896" cy="310896"/>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11" name="Text 8"/>
          <p:cNvSpPr/>
          <p:nvPr/>
        </p:nvSpPr>
        <p:spPr>
          <a:xfrm>
            <a:off x="1600200" y="2249424"/>
            <a:ext cx="9692640" cy="365760"/>
          </a:xfrm>
          <a:prstGeom prst="rect">
            <a:avLst/>
          </a:prstGeom>
          <a:noFill/>
          <a:ln/>
        </p:spPr>
        <p:txBody>
          <a:bodyPr wrap="square" rtlCol="0" anchor="ctr"/>
          <a:lstStyle/>
          <a:p>
            <a:pPr marL="0" indent="0">
              <a:buNone/>
            </a:pPr>
            <a:r>
              <a:rPr lang="en-US" sz="1500" b="1" dirty="0">
                <a:solidFill>
                  <a:srgbClr val="002060"/>
                </a:solidFill>
              </a:rPr>
              <a:t>Wireless streaming</a:t>
            </a:r>
          </a:p>
        </p:txBody>
      </p:sp>
      <p:sp>
        <p:nvSpPr>
          <p:cNvPr id="12" name="Text 9"/>
          <p:cNvSpPr/>
          <p:nvPr/>
        </p:nvSpPr>
        <p:spPr>
          <a:xfrm>
            <a:off x="1600200" y="2578608"/>
            <a:ext cx="9692640" cy="365760"/>
          </a:xfrm>
          <a:prstGeom prst="rect">
            <a:avLst/>
          </a:prstGeom>
          <a:noFill/>
          <a:ln/>
        </p:spPr>
        <p:txBody>
          <a:bodyPr wrap="square" rtlCol="0" anchor="ctr"/>
          <a:lstStyle/>
          <a:p>
            <a:pPr marL="0" indent="0">
              <a:buNone/>
            </a:pPr>
            <a:r>
              <a:rPr lang="en-US" sz="1250" dirty="0">
                <a:solidFill>
                  <a:srgbClr val="222222"/>
                </a:solidFill>
              </a:rPr>
              <a:t>Phone hotspot is the reference setup </a:t>
            </a:r>
          </a:p>
        </p:txBody>
      </p:sp>
      <p:sp>
        <p:nvSpPr>
          <p:cNvPr id="13" name="Shape 10"/>
          <p:cNvSpPr/>
          <p:nvPr/>
        </p:nvSpPr>
        <p:spPr>
          <a:xfrm>
            <a:off x="1097280" y="3081528"/>
            <a:ext cx="310896" cy="310896"/>
          </a:xfrm>
          <a:prstGeom prst="ellipse">
            <a:avLst/>
          </a:prstGeom>
          <a:solidFill>
            <a:srgbClr val="0E7490"/>
          </a:solidFill>
          <a:ln/>
        </p:spPr>
        <p:txBody>
          <a:bodyPr/>
          <a:lstStyle/>
          <a:p>
            <a:endParaRPr lang="fr-FR"/>
          </a:p>
        </p:txBody>
      </p:sp>
      <p:sp>
        <p:nvSpPr>
          <p:cNvPr id="14" name="Text 11"/>
          <p:cNvSpPr/>
          <p:nvPr/>
        </p:nvSpPr>
        <p:spPr>
          <a:xfrm>
            <a:off x="1097280" y="3054096"/>
            <a:ext cx="310896" cy="310896"/>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15" name="Text 12"/>
          <p:cNvSpPr/>
          <p:nvPr/>
        </p:nvSpPr>
        <p:spPr>
          <a:xfrm>
            <a:off x="1600200" y="3035808"/>
            <a:ext cx="9692640" cy="365760"/>
          </a:xfrm>
          <a:prstGeom prst="rect">
            <a:avLst/>
          </a:prstGeom>
          <a:noFill/>
          <a:ln/>
        </p:spPr>
        <p:txBody>
          <a:bodyPr wrap="square" rtlCol="0" anchor="ctr"/>
          <a:lstStyle/>
          <a:p>
            <a:pPr marL="0" indent="0">
              <a:buNone/>
            </a:pPr>
            <a:r>
              <a:rPr lang="en-US" sz="1500" b="1" dirty="0">
                <a:solidFill>
                  <a:srgbClr val="002060"/>
                </a:solidFill>
              </a:rPr>
              <a:t>Clean shutdown</a:t>
            </a:r>
          </a:p>
        </p:txBody>
      </p:sp>
      <p:sp>
        <p:nvSpPr>
          <p:cNvPr id="16" name="Text 13"/>
          <p:cNvSpPr/>
          <p:nvPr/>
        </p:nvSpPr>
        <p:spPr>
          <a:xfrm>
            <a:off x="1600200" y="3364992"/>
            <a:ext cx="9692640" cy="365760"/>
          </a:xfrm>
          <a:prstGeom prst="rect">
            <a:avLst/>
          </a:prstGeom>
          <a:noFill/>
          <a:ln/>
        </p:spPr>
        <p:txBody>
          <a:bodyPr wrap="square" rtlCol="0" anchor="ctr"/>
          <a:lstStyle/>
          <a:p>
            <a:pPr marL="0" indent="0">
              <a:buNone/>
            </a:pPr>
            <a:r>
              <a:rPr lang="en-US" sz="1250" dirty="0">
                <a:solidFill>
                  <a:srgbClr val="222222"/>
                </a:solidFill>
              </a:rPr>
              <a:t>Ctrl+C unsubscribes the Aria client then stops the stream</a:t>
            </a:r>
          </a:p>
        </p:txBody>
      </p:sp>
      <p:sp>
        <p:nvSpPr>
          <p:cNvPr id="17" name="Shape 14"/>
          <p:cNvSpPr/>
          <p:nvPr/>
        </p:nvSpPr>
        <p:spPr>
          <a:xfrm>
            <a:off x="1097280" y="3867912"/>
            <a:ext cx="310896" cy="310896"/>
          </a:xfrm>
          <a:prstGeom prst="ellipse">
            <a:avLst/>
          </a:prstGeom>
          <a:solidFill>
            <a:srgbClr val="0E7490"/>
          </a:solidFill>
          <a:ln/>
        </p:spPr>
        <p:txBody>
          <a:bodyPr/>
          <a:lstStyle/>
          <a:p>
            <a:endParaRPr lang="fr-FR"/>
          </a:p>
        </p:txBody>
      </p:sp>
      <p:sp>
        <p:nvSpPr>
          <p:cNvPr id="18" name="Text 15"/>
          <p:cNvSpPr/>
          <p:nvPr/>
        </p:nvSpPr>
        <p:spPr>
          <a:xfrm>
            <a:off x="1097280" y="3840480"/>
            <a:ext cx="310896" cy="310896"/>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19" name="Text 16"/>
          <p:cNvSpPr/>
          <p:nvPr/>
        </p:nvSpPr>
        <p:spPr>
          <a:xfrm>
            <a:off x="1600200" y="3822192"/>
            <a:ext cx="9692640" cy="365760"/>
          </a:xfrm>
          <a:prstGeom prst="rect">
            <a:avLst/>
          </a:prstGeom>
          <a:noFill/>
          <a:ln/>
        </p:spPr>
        <p:txBody>
          <a:bodyPr wrap="square" rtlCol="0" anchor="ctr"/>
          <a:lstStyle/>
          <a:p>
            <a:pPr marL="0" indent="0">
              <a:buNone/>
            </a:pPr>
            <a:r>
              <a:rPr lang="en-US" sz="1500" b="1" dirty="0">
                <a:solidFill>
                  <a:srgbClr val="002060"/>
                </a:solidFill>
              </a:rPr>
              <a:t>Session audio recording</a:t>
            </a:r>
          </a:p>
        </p:txBody>
      </p:sp>
      <p:sp>
        <p:nvSpPr>
          <p:cNvPr id="20" name="Text 17"/>
          <p:cNvSpPr/>
          <p:nvPr/>
        </p:nvSpPr>
        <p:spPr>
          <a:xfrm>
            <a:off x="1600200" y="4151376"/>
            <a:ext cx="9692640" cy="365760"/>
          </a:xfrm>
          <a:prstGeom prst="rect">
            <a:avLst/>
          </a:prstGeom>
          <a:noFill/>
          <a:ln/>
        </p:spPr>
        <p:txBody>
          <a:bodyPr wrap="square" rtlCol="0" anchor="ctr"/>
          <a:lstStyle/>
          <a:p>
            <a:pPr marL="0" indent="0">
              <a:buNone/>
            </a:pPr>
            <a:r>
              <a:rPr lang="en-US" sz="1250" dirty="0">
                <a:solidFill>
                  <a:srgbClr val="222222"/>
                </a:solidFill>
              </a:rPr>
              <a:t>Every clip actually heard is saved with a pre-playback timestamp, ready to align with the demo video</a:t>
            </a:r>
          </a:p>
        </p:txBody>
      </p:sp>
      <p:sp>
        <p:nvSpPr>
          <p:cNvPr id="25" name="Shape 22"/>
          <p:cNvSpPr/>
          <p:nvPr/>
        </p:nvSpPr>
        <p:spPr>
          <a:xfrm>
            <a:off x="1097280" y="4678680"/>
            <a:ext cx="310896" cy="310896"/>
          </a:xfrm>
          <a:prstGeom prst="ellipse">
            <a:avLst/>
          </a:prstGeom>
          <a:solidFill>
            <a:srgbClr val="0E7490"/>
          </a:solidFill>
          <a:ln/>
        </p:spPr>
        <p:txBody>
          <a:bodyPr/>
          <a:lstStyle/>
          <a:p>
            <a:endParaRPr lang="fr-FR"/>
          </a:p>
        </p:txBody>
      </p:sp>
      <p:sp>
        <p:nvSpPr>
          <p:cNvPr id="26" name="Text 23"/>
          <p:cNvSpPr/>
          <p:nvPr/>
        </p:nvSpPr>
        <p:spPr>
          <a:xfrm>
            <a:off x="1097280" y="4651248"/>
            <a:ext cx="310896" cy="310896"/>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27" name="Text 24"/>
          <p:cNvSpPr/>
          <p:nvPr/>
        </p:nvSpPr>
        <p:spPr>
          <a:xfrm>
            <a:off x="1600200" y="4632960"/>
            <a:ext cx="9692640" cy="365760"/>
          </a:xfrm>
          <a:prstGeom prst="rect">
            <a:avLst/>
          </a:prstGeom>
          <a:noFill/>
          <a:ln/>
        </p:spPr>
        <p:txBody>
          <a:bodyPr wrap="square" rtlCol="0" anchor="ctr"/>
          <a:lstStyle/>
          <a:p>
            <a:pPr marL="0" indent="0">
              <a:buNone/>
            </a:pPr>
            <a:r>
              <a:rPr lang="en-US" sz="1500" b="1" dirty="0">
                <a:solidFill>
                  <a:srgbClr val="002060"/>
                </a:solidFill>
              </a:rPr>
              <a:t>Hardened de-duplication and logging</a:t>
            </a:r>
          </a:p>
        </p:txBody>
      </p:sp>
      <p:sp>
        <p:nvSpPr>
          <p:cNvPr id="28" name="Text 25"/>
          <p:cNvSpPr/>
          <p:nvPr/>
        </p:nvSpPr>
        <p:spPr>
          <a:xfrm>
            <a:off x="1600200" y="4962144"/>
            <a:ext cx="9692640" cy="365760"/>
          </a:xfrm>
          <a:prstGeom prst="rect">
            <a:avLst/>
          </a:prstGeom>
          <a:noFill/>
          <a:ln/>
        </p:spPr>
        <p:txBody>
          <a:bodyPr wrap="square" rtlCol="0" anchor="ctr"/>
          <a:lstStyle/>
          <a:p>
            <a:pPr marL="0" indent="0">
              <a:buNone/>
            </a:pPr>
            <a:r>
              <a:rPr lang="en-US" sz="1250" dirty="0">
                <a:solidFill>
                  <a:srgbClr val="222222"/>
                </a:solidFill>
              </a:rPr>
              <a:t>EN / FR / ES stop-words removed and threshold raised to 0.6; every played clip is logged with its type and text</a:t>
            </a:r>
          </a:p>
        </p:txBody>
      </p:sp>
      <p:pic>
        <p:nvPicPr>
          <p:cNvPr id="29" name="Image 28">
            <a:extLst>
              <a:ext uri="{FF2B5EF4-FFF2-40B4-BE49-F238E27FC236}">
                <a16:creationId xmlns:a16="http://schemas.microsoft.com/office/drawing/2014/main" id="{5A5ECF21-DF01-BF4A-56A5-E4CC6DF33BC1}"/>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3503727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19</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a:rPr>
              <a:t>Live Demo: Three Scenarios</a:t>
            </a:r>
          </a:p>
        </p:txBody>
      </p:sp>
      <p:pic>
        <p:nvPicPr>
          <p:cNvPr id="12" name="Image 11">
            <a:extLst>
              <a:ext uri="{FF2B5EF4-FFF2-40B4-BE49-F238E27FC236}">
                <a16:creationId xmlns:a16="http://schemas.microsoft.com/office/drawing/2014/main" id="{C5770AFA-D6EE-DBE5-C432-B7CDCAA417F9}"/>
              </a:ext>
            </a:extLst>
          </p:cNvPr>
          <p:cNvPicPr>
            <a:picLocks noChangeAspect="1"/>
          </p:cNvPicPr>
          <p:nvPr/>
        </p:nvPicPr>
        <p:blipFill>
          <a:blip r:embed="rId6"/>
          <a:stretch>
            <a:fillRect/>
          </a:stretch>
        </p:blipFill>
        <p:spPr>
          <a:xfrm>
            <a:off x="226678" y="378008"/>
            <a:ext cx="2578357" cy="572968"/>
          </a:xfrm>
          <a:prstGeom prst="rect">
            <a:avLst/>
          </a:prstGeom>
        </p:spPr>
      </p:pic>
      <p:sp>
        <p:nvSpPr>
          <p:cNvPr id="61" name="Clip caption"/>
          <p:cNvSpPr txBox="1"/>
          <p:nvPr/>
        </p:nvSpPr>
        <p:spPr>
          <a:xfrm>
            <a:off x="1143000" y="5435600"/>
            <a:ext cx="2921000" cy="838200"/>
          </a:xfrm>
          <a:prstGeom prst="roundRect">
            <a:avLst>
              <a:gd name="adj" fmla="val 3000"/>
            </a:avLst>
          </a:prstGeom>
          <a:noFill/>
          <a:ln>
            <a:noFill/>
          </a:ln>
        </p:spPr>
        <p:txBody>
          <a:bodyPr wrap="square" lIns="0" tIns="0" rIns="0" bIns="0" anchor="t"/>
          <a:lstStyle/>
          <a:p>
            <a:pPr marL="0" indent="0" algn="ctr">
              <a:buNone/>
            </a:pPr>
            <a:r>
              <a:rPr lang="en-US" sz="1300" b="1" dirty="0">
                <a:solidFill>
                  <a:srgbClr val="002060"/>
                </a:solidFill>
              </a:rPr>
              <a:t>1 · Novice, age 8</a:t>
            </a:r>
          </a:p>
          <a:p>
            <a:pPr marL="0" indent="0" algn="ctr">
              <a:buNone/>
            </a:pPr>
            <a:r>
              <a:rPr lang="en-US" sz="1200" dirty="0">
                <a:solidFill>
                  <a:srgbClr val="222222"/>
                </a:solidFill>
              </a:rPr>
              <a:t>Short wording, child voice and pace</a:t>
            </a:r>
          </a:p>
        </p:txBody>
      </p:sp>
      <p:sp>
        <p:nvSpPr>
          <p:cNvPr id="62" name="Demo note"/>
          <p:cNvSpPr txBox="1"/>
          <p:nvPr/>
        </p:nvSpPr>
        <p:spPr>
          <a:xfrm>
            <a:off x="914400" y="1066800"/>
            <a:ext cx="10363200" cy="304800"/>
          </a:xfrm>
          <a:prstGeom prst="roundRect">
            <a:avLst>
              <a:gd name="adj" fmla="val 3000"/>
            </a:avLst>
          </a:prstGeom>
          <a:noFill/>
          <a:ln>
            <a:noFill/>
          </a:ln>
        </p:spPr>
        <p:txBody>
          <a:bodyPr lIns="91440" tIns="45720" rIns="91440" bIns="45720" anchor="ctr">
            <a:normAutofit/>
          </a:bodyPr>
          <a:lstStyle/>
          <a:p>
            <a:pPr marL="0" indent="0" algn="ctr">
              <a:buNone/>
            </a:pPr>
            <a:r>
              <a:rPr lang="en-US" sz="1300" i="1" dirty="0">
                <a:solidFill>
                  <a:srgbClr val="0E7490"/>
                </a:solidFill>
              </a:rPr>
              <a:t>Recorded on site at the Tel Aviv Museum of Art, in collaboration with the museum. Audio is the guide track captured during the session.</a:t>
            </a:r>
          </a:p>
        </p:txBody>
      </p:sp>
      <p:sp>
        <p:nvSpPr>
          <p:cNvPr id="202" name="Caption 2"/>
          <p:cNvSpPr txBox="1"/>
          <p:nvPr/>
        </p:nvSpPr>
        <p:spPr>
          <a:xfrm>
            <a:off x="4635500" y="5435600"/>
            <a:ext cx="2921000" cy="838200"/>
          </a:xfrm>
          <a:prstGeom prst="rect">
            <a:avLst/>
          </a:prstGeom>
          <a:noFill/>
        </p:spPr>
        <p:txBody>
          <a:bodyPr wrap="square" lIns="0" tIns="0" rIns="0" bIns="0"/>
          <a:lstStyle/>
          <a:p>
            <a:pPr marL="0" indent="0" algn="ctr">
              <a:buNone/>
            </a:pPr>
            <a:r>
              <a:rPr lang="en-US" sz="1300" b="1" dirty="0">
                <a:solidFill>
                  <a:srgbClr val="002060"/>
                </a:solidFill>
              </a:rPr>
              <a:t>2 · Artwork to artwork</a:t>
            </a:r>
          </a:p>
          <a:p>
            <a:pPr marL="0" indent="0" algn="ctr">
              <a:buNone/>
            </a:pPr>
            <a:r>
              <a:rPr lang="en-US" sz="1200" dirty="0">
                <a:solidFill>
                  <a:srgbClr val="222222"/>
                </a:solidFill>
              </a:rPr>
              <a:t>Walking pauses at the end of the sentence; the next work starts a new description</a:t>
            </a:r>
          </a:p>
        </p:txBody>
      </p:sp>
      <p:sp>
        <p:nvSpPr>
          <p:cNvPr id="203" name="Caption 3"/>
          <p:cNvSpPr txBox="1"/>
          <p:nvPr/>
        </p:nvSpPr>
        <p:spPr>
          <a:xfrm>
            <a:off x="8128000" y="5435600"/>
            <a:ext cx="2921000" cy="838200"/>
          </a:xfrm>
          <a:prstGeom prst="rect">
            <a:avLst/>
          </a:prstGeom>
          <a:noFill/>
        </p:spPr>
        <p:txBody>
          <a:bodyPr wrap="square" lIns="0" tIns="0" rIns="0" bIns="0"/>
          <a:lstStyle/>
          <a:p>
            <a:pPr marL="0" indent="0" algn="ctr">
              <a:buNone/>
            </a:pPr>
            <a:r>
              <a:rPr lang="en-US" sz="1300" b="1" dirty="0">
                <a:solidFill>
                  <a:srgbClr val="002060"/>
                </a:solidFill>
              </a:rPr>
              <a:t>3 · Expert mode: interrupt &amp; return</a:t>
            </a:r>
          </a:p>
          <a:p>
            <a:pPr marL="0" indent="0" algn="ctr">
              <a:buNone/>
            </a:pPr>
            <a:r>
              <a:rPr lang="en-US" sz="1200" dirty="0">
                <a:solidFill>
                  <a:srgbClr val="222222"/>
                </a:solidFill>
              </a:rPr>
              <a:t>Deeper description; walking away interrupts, returning resumes where it stopped</a:t>
            </a:r>
          </a:p>
        </p:txBody>
      </p:sp>
      <p:pic>
        <p:nvPicPr>
          <p:cNvPr id="10" name="Média en ligne 9" descr="Museum Audio Guide Aria Glasses - Child Mode">
            <a:hlinkClick r:id="" action="ppaction://media"/>
            <a:extLst>
              <a:ext uri="{FF2B5EF4-FFF2-40B4-BE49-F238E27FC236}">
                <a16:creationId xmlns:a16="http://schemas.microsoft.com/office/drawing/2014/main" id="{82712A6B-0A5D-CB14-E41F-318930E973CE}"/>
              </a:ext>
            </a:extLst>
          </p:cNvPr>
          <p:cNvPicPr>
            <a:picLocks noRot="1" noChangeAspect="1"/>
          </p:cNvPicPr>
          <p:nvPr>
            <a:videoFile r:link="rId1"/>
          </p:nvPr>
        </p:nvPicPr>
        <p:blipFill>
          <a:blip r:embed="rId7"/>
          <a:stretch>
            <a:fillRect/>
          </a:stretch>
        </p:blipFill>
        <p:spPr>
          <a:xfrm>
            <a:off x="1143000" y="2866433"/>
            <a:ext cx="2540000" cy="1435100"/>
          </a:xfrm>
          <a:prstGeom prst="roundRect">
            <a:avLst>
              <a:gd name="adj" fmla="val 5299"/>
            </a:avLst>
          </a:prstGeom>
          <a:ln>
            <a:noFill/>
          </a:ln>
          <a:effectLst/>
          <a:scene3d>
            <a:camera prst="orthographicFront"/>
            <a:lightRig rig="balanced" dir="t"/>
          </a:scene3d>
          <a:sp3d prstMaterial="plastic">
            <a:bevelT/>
            <a:contourClr>
              <a:srgbClr val="FFFFFF"/>
            </a:contourClr>
          </a:sp3d>
        </p:spPr>
      </p:pic>
      <p:pic>
        <p:nvPicPr>
          <p:cNvPr id="11" name="Média en ligne 10" descr="Museum Audio Guide Aria Glasses - Classic Mode">
            <a:hlinkClick r:id="" action="ppaction://media"/>
            <a:extLst>
              <a:ext uri="{FF2B5EF4-FFF2-40B4-BE49-F238E27FC236}">
                <a16:creationId xmlns:a16="http://schemas.microsoft.com/office/drawing/2014/main" id="{4CF1960A-F37F-E642-68F4-FA128CEC3555}"/>
              </a:ext>
            </a:extLst>
          </p:cNvPr>
          <p:cNvPicPr>
            <a:picLocks noRot="1" noChangeAspect="1"/>
          </p:cNvPicPr>
          <p:nvPr>
            <a:videoFile r:link="rId2"/>
          </p:nvPr>
        </p:nvPicPr>
        <p:blipFill>
          <a:blip r:embed="rId8"/>
          <a:stretch>
            <a:fillRect/>
          </a:stretch>
        </p:blipFill>
        <p:spPr>
          <a:xfrm>
            <a:off x="4635500" y="2866433"/>
            <a:ext cx="2540000" cy="1435100"/>
          </a:xfrm>
          <a:prstGeom prst="roundRect">
            <a:avLst>
              <a:gd name="adj" fmla="val 5299"/>
            </a:avLst>
          </a:prstGeom>
          <a:ln>
            <a:noFill/>
          </a:ln>
          <a:effectLst/>
          <a:scene3d>
            <a:camera prst="orthographicFront"/>
            <a:lightRig rig="balanced" dir="t"/>
          </a:scene3d>
          <a:sp3d prstMaterial="plastic">
            <a:bevelT/>
            <a:contourClr>
              <a:srgbClr val="FFFFFF"/>
            </a:contourClr>
          </a:sp3d>
        </p:spPr>
      </p:pic>
      <p:pic>
        <p:nvPicPr>
          <p:cNvPr id="13" name="Média en ligne 12" descr="Museum Audio Guide Aria Glasses - Expert Mode">
            <a:hlinkClick r:id="" action="ppaction://media"/>
            <a:extLst>
              <a:ext uri="{FF2B5EF4-FFF2-40B4-BE49-F238E27FC236}">
                <a16:creationId xmlns:a16="http://schemas.microsoft.com/office/drawing/2014/main" id="{E5159837-40BD-F4FE-1445-87873423A8B9}"/>
              </a:ext>
            </a:extLst>
          </p:cNvPr>
          <p:cNvPicPr>
            <a:picLocks noRot="1" noChangeAspect="1"/>
          </p:cNvPicPr>
          <p:nvPr>
            <a:videoFile r:link="rId3"/>
          </p:nvPr>
        </p:nvPicPr>
        <p:blipFill>
          <a:blip r:embed="rId9"/>
          <a:stretch>
            <a:fillRect/>
          </a:stretch>
        </p:blipFill>
        <p:spPr>
          <a:xfrm>
            <a:off x="8318500" y="2866433"/>
            <a:ext cx="2540000" cy="1435100"/>
          </a:xfrm>
          <a:prstGeom prst="roundRect">
            <a:avLst>
              <a:gd name="adj" fmla="val 5299"/>
            </a:avLst>
          </a:prstGeom>
          <a:ln>
            <a:noFill/>
          </a:ln>
          <a:effectLst/>
          <a:scene3d>
            <a:camera prst="orthographicFront"/>
            <a:lightRig rig="balanced" dir="t"/>
          </a:scene3d>
          <a:sp3d prstMaterial="plastic">
            <a:bevelT/>
            <a:contourClr>
              <a:srgbClr val="FFFFFF"/>
            </a:contourClr>
          </a:sp3d>
        </p:spPr>
      </p:pic>
    </p:spTree>
    <p:extLst>
      <p:ext uri="{BB962C8B-B14F-4D97-AF65-F5344CB8AC3E}">
        <p14:creationId xmlns:p14="http://schemas.microsoft.com/office/powerpoint/2010/main" val="3486541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11"/>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10"/>
                </p:tgtEl>
              </p:cMediaNode>
            </p:video>
            <p:seq concurrent="1" nextAc="seek">
              <p:cTn id="16" restart="whenNotActive" fill="hold" evtFilter="cancelBubble" nodeType="interactiveSeq">
                <p:stCondLst>
                  <p:cond evt="onClick" delay="0">
                    <p:tgtEl>
                      <p:spTgt spid="10"/>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0"/>
                                        </p:tgtEl>
                                      </p:cBhvr>
                                    </p:cmd>
                                  </p:childTnLst>
                                </p:cTn>
                              </p:par>
                            </p:childTnLst>
                          </p:cTn>
                        </p:par>
                      </p:childTnLst>
                    </p:cTn>
                  </p:par>
                </p:childTnLst>
              </p:cTn>
              <p:nextCondLst>
                <p:cond evt="onClick" delay="0">
                  <p:tgtEl>
                    <p:spTgt spid="10"/>
                  </p:tgtEl>
                </p:cond>
              </p:nextCondLst>
            </p:seq>
            <p:video>
              <p:cMediaNode vol="80000">
                <p:cTn id="21" fill="hold" display="0">
                  <p:stCondLst>
                    <p:cond delay="indefinite"/>
                  </p:stCondLst>
                </p:cTn>
                <p:tgtEl>
                  <p:spTgt spid="11"/>
                </p:tgtEl>
              </p:cMediaNode>
            </p:video>
            <p:seq concurrent="1" nextAc="seek">
              <p:cTn id="22" restart="whenNotActive" fill="hold" evtFilter="cancelBubble" nodeType="interactiveSeq">
                <p:stCondLst>
                  <p:cond evt="onClick" delay="0">
                    <p:tgtEl>
                      <p:spTgt spid="11"/>
                    </p:tgtEl>
                  </p:cond>
                </p:stCondLst>
                <p:endSync evt="end" delay="0">
                  <p:rtn val="all"/>
                </p:endSync>
                <p:childTnLst>
                  <p:par>
                    <p:cTn id="23" fill="hold">
                      <p:stCondLst>
                        <p:cond delay="0"/>
                      </p:stCondLst>
                      <p:childTnLst>
                        <p:par>
                          <p:cTn id="24" fill="hold">
                            <p:stCondLst>
                              <p:cond delay="0"/>
                            </p:stCondLst>
                            <p:childTnLst>
                              <p:par>
                                <p:cTn id="25" presetID="2" presetClass="mediacall" presetSubtype="0" fill="hold" nodeType="clickEffect">
                                  <p:stCondLst>
                                    <p:cond delay="0"/>
                                  </p:stCondLst>
                                  <p:childTnLst>
                                    <p:cmd type="call" cmd="togglePause">
                                      <p:cBhvr>
                                        <p:cTn id="26" dur="1" fill="hold"/>
                                        <p:tgtEl>
                                          <p:spTgt spid="11"/>
                                        </p:tgtEl>
                                      </p:cBhvr>
                                    </p:cmd>
                                  </p:childTnLst>
                                </p:cTn>
                              </p:par>
                            </p:childTnLst>
                          </p:cTn>
                        </p:par>
                      </p:childTnLst>
                    </p:cTn>
                  </p:par>
                </p:childTnLst>
              </p:cTn>
              <p:nextCondLst>
                <p:cond evt="onClick" delay="0">
                  <p:tgtEl>
                    <p:spTgt spid="11"/>
                  </p:tgtEl>
                </p:cond>
              </p:nextCondLst>
            </p:seq>
            <p:video>
              <p:cMediaNode vol="80000">
                <p:cTn id="27" fill="hold" display="0">
                  <p:stCondLst>
                    <p:cond delay="indefinite"/>
                  </p:stCondLst>
                </p:cTn>
                <p:tgtEl>
                  <p:spTgt spid="13"/>
                </p:tgtEl>
              </p:cMediaNode>
            </p:video>
            <p:seq concurrent="1" nextAc="seek">
              <p:cTn id="28" restart="whenNotActive" fill="hold" evtFilter="cancelBubble" nodeType="interactiveSeq">
                <p:stCondLst>
                  <p:cond evt="onClick" delay="0">
                    <p:tgtEl>
                      <p:spTgt spid="13"/>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20</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Results: Measured Latency</a:t>
            </a:r>
          </a:p>
        </p:txBody>
      </p:sp>
      <p:sp>
        <p:nvSpPr>
          <p:cNvPr id="5" name="Text 2"/>
          <p:cNvSpPr/>
          <p:nvPr/>
        </p:nvSpPr>
        <p:spPr>
          <a:xfrm>
            <a:off x="914400" y="1325880"/>
            <a:ext cx="10362895" cy="365760"/>
          </a:xfrm>
          <a:prstGeom prst="rect">
            <a:avLst/>
          </a:prstGeom>
          <a:noFill/>
          <a:ln/>
        </p:spPr>
        <p:txBody>
          <a:bodyPr wrap="square" rtlCol="0" anchor="ctr"/>
          <a:lstStyle/>
          <a:p>
            <a:pPr marL="0" indent="0">
              <a:buNone/>
            </a:pPr>
            <a:r>
              <a:rPr lang="en-US" sz="1350" dirty="0">
                <a:solidFill>
                  <a:srgbClr val="222222"/>
                </a:solidFill>
              </a:rPr>
              <a:t>Two metrics were defined: UX = time to the first sound the visitor hears, REAL = time to the first description sentence. Figures below are the delivered setup (gpt-5.6-terra + gpt-4o-mini-tts) over Wi-Fi.</a:t>
            </a:r>
          </a:p>
        </p:txBody>
      </p:sp>
      <p:sp>
        <p:nvSpPr>
          <p:cNvPr id="6" name="Shape 3"/>
          <p:cNvSpPr/>
          <p:nvPr/>
        </p:nvSpPr>
        <p:spPr>
          <a:xfrm>
            <a:off x="1005840" y="2011680"/>
            <a:ext cx="4846320" cy="1737360"/>
          </a:xfrm>
          <a:prstGeom prst="roundRect">
            <a:avLst>
              <a:gd name="adj" fmla="val 3684"/>
            </a:avLst>
          </a:prstGeom>
          <a:solidFill>
            <a:srgbClr val="FFFFFF"/>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7" name="Shape 4"/>
          <p:cNvSpPr/>
          <p:nvPr/>
        </p:nvSpPr>
        <p:spPr>
          <a:xfrm>
            <a:off x="1005840" y="2011680"/>
            <a:ext cx="109728" cy="1737360"/>
          </a:xfrm>
          <a:prstGeom prst="rect">
            <a:avLst/>
          </a:prstGeom>
          <a:solidFill>
            <a:srgbClr val="2E8B8B"/>
          </a:solidFill>
          <a:ln/>
        </p:spPr>
        <p:txBody>
          <a:bodyPr/>
          <a:lstStyle/>
          <a:p>
            <a:endParaRPr lang="fr-FR"/>
          </a:p>
        </p:txBody>
      </p:sp>
      <p:sp>
        <p:nvSpPr>
          <p:cNvPr id="8" name="Text 5"/>
          <p:cNvSpPr/>
          <p:nvPr/>
        </p:nvSpPr>
        <p:spPr>
          <a:xfrm>
            <a:off x="1325880" y="2194560"/>
            <a:ext cx="4297680" cy="365760"/>
          </a:xfrm>
          <a:prstGeom prst="rect">
            <a:avLst/>
          </a:prstGeom>
          <a:noFill/>
          <a:ln/>
        </p:spPr>
        <p:txBody>
          <a:bodyPr wrap="square" rtlCol="0" anchor="ctr"/>
          <a:lstStyle/>
          <a:p>
            <a:pPr marL="0" indent="0">
              <a:buNone/>
            </a:pPr>
            <a:r>
              <a:rPr lang="en-US" sz="1500" b="1" dirty="0">
                <a:solidFill>
                  <a:srgbClr val="002060"/>
                </a:solidFill>
              </a:rPr>
              <a:t>UX latency</a:t>
            </a:r>
            <a:endParaRPr lang="en-US" sz="1500" dirty="0"/>
          </a:p>
        </p:txBody>
      </p:sp>
      <p:sp>
        <p:nvSpPr>
          <p:cNvPr id="9" name="Text 6"/>
          <p:cNvSpPr/>
          <p:nvPr/>
        </p:nvSpPr>
        <p:spPr>
          <a:xfrm>
            <a:off x="1325880" y="2606040"/>
            <a:ext cx="4297680" cy="822960"/>
          </a:xfrm>
          <a:prstGeom prst="rect">
            <a:avLst/>
          </a:prstGeom>
          <a:noFill/>
          <a:ln/>
        </p:spPr>
        <p:txBody>
          <a:bodyPr wrap="square" rtlCol="0" anchor="ctr"/>
          <a:lstStyle/>
          <a:p>
            <a:pPr marL="0" indent="0" algn="l">
              <a:buNone/>
            </a:pPr>
            <a:r>
              <a:rPr lang="en-US" sz="4000" b="1" dirty="0">
                <a:solidFill>
                  <a:srgbClr val="6B7280"/>
                </a:solidFill>
              </a:rPr>
              <a:t>≈ </a:t>
            </a:r>
            <a:r>
              <a:rPr lang="en-US" sz="4000" b="1" dirty="0">
                <a:solidFill>
                  <a:srgbClr val="2E8B8B"/>
                </a:solidFill>
              </a:rPr>
              <a:t>3</a:t>
            </a:r>
            <a:r>
              <a:rPr lang="en-US" sz="4000" b="1" dirty="0">
                <a:solidFill>
                  <a:srgbClr val="6B7280"/>
                </a:solidFill>
              </a:rPr>
              <a:t> s</a:t>
            </a:r>
          </a:p>
        </p:txBody>
      </p:sp>
      <p:sp>
        <p:nvSpPr>
          <p:cNvPr id="10" name="Text 7"/>
          <p:cNvSpPr/>
          <p:nvPr/>
        </p:nvSpPr>
        <p:spPr>
          <a:xfrm>
            <a:off x="1325880" y="3429000"/>
            <a:ext cx="4297680" cy="274320"/>
          </a:xfrm>
          <a:prstGeom prst="rect">
            <a:avLst/>
          </a:prstGeom>
          <a:noFill/>
          <a:ln/>
        </p:spPr>
        <p:txBody>
          <a:bodyPr wrap="square" rtlCol="0" anchor="ctr"/>
          <a:lstStyle/>
          <a:p>
            <a:pPr marL="0" indent="0">
              <a:buNone/>
            </a:pPr>
            <a:r>
              <a:rPr lang="en-US" sz="1300" dirty="0">
                <a:solidFill>
                  <a:srgbClr val="222222"/>
                </a:solidFill>
              </a:rPr>
              <a:t>Cached opener - the wait is never silent</a:t>
            </a:r>
          </a:p>
        </p:txBody>
      </p:sp>
      <p:sp>
        <p:nvSpPr>
          <p:cNvPr id="11" name="Shape 8"/>
          <p:cNvSpPr/>
          <p:nvPr/>
        </p:nvSpPr>
        <p:spPr>
          <a:xfrm>
            <a:off x="6309360" y="2011680"/>
            <a:ext cx="4846320" cy="1737360"/>
          </a:xfrm>
          <a:prstGeom prst="roundRect">
            <a:avLst>
              <a:gd name="adj" fmla="val 3684"/>
            </a:avLst>
          </a:prstGeom>
          <a:solidFill>
            <a:srgbClr val="FFFFFF"/>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2" name="Shape 9"/>
          <p:cNvSpPr/>
          <p:nvPr/>
        </p:nvSpPr>
        <p:spPr>
          <a:xfrm>
            <a:off x="6309360" y="2011680"/>
            <a:ext cx="109728" cy="1737360"/>
          </a:xfrm>
          <a:prstGeom prst="rect">
            <a:avLst/>
          </a:prstGeom>
          <a:solidFill>
            <a:srgbClr val="C2671A"/>
          </a:solidFill>
          <a:ln/>
        </p:spPr>
        <p:txBody>
          <a:bodyPr/>
          <a:lstStyle/>
          <a:p>
            <a:endParaRPr lang="fr-FR"/>
          </a:p>
        </p:txBody>
      </p:sp>
      <p:sp>
        <p:nvSpPr>
          <p:cNvPr id="13" name="Text 10"/>
          <p:cNvSpPr/>
          <p:nvPr/>
        </p:nvSpPr>
        <p:spPr>
          <a:xfrm>
            <a:off x="6629400" y="2194560"/>
            <a:ext cx="4297680" cy="365760"/>
          </a:xfrm>
          <a:prstGeom prst="rect">
            <a:avLst/>
          </a:prstGeom>
          <a:noFill/>
          <a:ln/>
        </p:spPr>
        <p:txBody>
          <a:bodyPr wrap="square" rtlCol="0" anchor="ctr"/>
          <a:lstStyle/>
          <a:p>
            <a:pPr marL="0" indent="0">
              <a:buNone/>
            </a:pPr>
            <a:r>
              <a:rPr lang="en-US" sz="1500" b="1" dirty="0">
                <a:solidFill>
                  <a:srgbClr val="002060"/>
                </a:solidFill>
              </a:rPr>
              <a:t>REAL latency</a:t>
            </a:r>
            <a:endParaRPr lang="en-US" sz="1500" dirty="0"/>
          </a:p>
        </p:txBody>
      </p:sp>
      <p:sp>
        <p:nvSpPr>
          <p:cNvPr id="14" name="Text 11"/>
          <p:cNvSpPr/>
          <p:nvPr/>
        </p:nvSpPr>
        <p:spPr>
          <a:xfrm>
            <a:off x="6629400" y="2606040"/>
            <a:ext cx="4297680" cy="822960"/>
          </a:xfrm>
          <a:prstGeom prst="rect">
            <a:avLst/>
          </a:prstGeom>
          <a:noFill/>
          <a:ln/>
        </p:spPr>
        <p:txBody>
          <a:bodyPr wrap="square" rtlCol="0" anchor="ctr"/>
          <a:lstStyle/>
          <a:p>
            <a:pPr marL="0" indent="0" algn="l">
              <a:buNone/>
            </a:pPr>
            <a:r>
              <a:rPr lang="en-US" sz="4000" b="1" dirty="0">
                <a:solidFill>
                  <a:srgbClr val="6B7280"/>
                </a:solidFill>
              </a:rPr>
              <a:t>≈ </a:t>
            </a:r>
            <a:r>
              <a:rPr lang="en-US" sz="4000" b="1" dirty="0">
                <a:solidFill>
                  <a:srgbClr val="2E8B8B"/>
                </a:solidFill>
              </a:rPr>
              <a:t>8</a:t>
            </a:r>
            <a:r>
              <a:rPr lang="en-US" sz="4000" b="1" dirty="0">
                <a:solidFill>
                  <a:srgbClr val="6B7280"/>
                </a:solidFill>
              </a:rPr>
              <a:t> s</a:t>
            </a:r>
          </a:p>
        </p:txBody>
      </p:sp>
      <p:sp>
        <p:nvSpPr>
          <p:cNvPr id="15" name="Text 12"/>
          <p:cNvSpPr/>
          <p:nvPr/>
        </p:nvSpPr>
        <p:spPr>
          <a:xfrm>
            <a:off x="6629400" y="3429000"/>
            <a:ext cx="4297680" cy="274320"/>
          </a:xfrm>
          <a:prstGeom prst="rect">
            <a:avLst/>
          </a:prstGeom>
          <a:noFill/>
          <a:ln/>
        </p:spPr>
        <p:txBody>
          <a:bodyPr wrap="square" rtlCol="0" anchor="ctr"/>
          <a:lstStyle/>
          <a:p>
            <a:pPr marL="0" indent="0">
              <a:buNone/>
            </a:pPr>
            <a:r>
              <a:rPr lang="en-US" sz="1300" dirty="0">
                <a:solidFill>
                  <a:srgbClr val="222222"/>
                </a:solidFill>
              </a:rPr>
              <a:t>First generated description sentence</a:t>
            </a:r>
          </a:p>
        </p:txBody>
      </p:sp>
      <p:sp>
        <p:nvSpPr>
          <p:cNvPr id="16" name="Text 13"/>
          <p:cNvSpPr/>
          <p:nvPr/>
        </p:nvSpPr>
        <p:spPr>
          <a:xfrm>
            <a:off x="1005840" y="4114800"/>
            <a:ext cx="5486400" cy="274320"/>
          </a:xfrm>
          <a:prstGeom prst="rect">
            <a:avLst/>
          </a:prstGeom>
          <a:noFill/>
          <a:ln/>
        </p:spPr>
        <p:txBody>
          <a:bodyPr wrap="square" rtlCol="0" anchor="ctr"/>
          <a:lstStyle/>
          <a:p>
            <a:pPr marL="0" indent="0">
              <a:buNone/>
            </a:pPr>
            <a:r>
              <a:rPr lang="en-US" sz="1300" b="1" dirty="0">
                <a:solidFill>
                  <a:srgbClr val="002060"/>
                </a:solidFill>
              </a:rPr>
              <a:t>Timeline (per new artwork)</a:t>
            </a:r>
            <a:endParaRPr lang="en-US" sz="1300" dirty="0"/>
          </a:p>
        </p:txBody>
      </p:sp>
      <p:sp>
        <p:nvSpPr>
          <p:cNvPr id="17" name="Shape 14"/>
          <p:cNvSpPr/>
          <p:nvPr/>
        </p:nvSpPr>
        <p:spPr>
          <a:xfrm>
            <a:off x="1188720" y="4754880"/>
            <a:ext cx="9692640" cy="0"/>
          </a:xfrm>
          <a:prstGeom prst="line">
            <a:avLst/>
          </a:prstGeom>
          <a:noFill/>
          <a:ln w="38100">
            <a:solidFill>
              <a:srgbClr val="C9D3E0"/>
            </a:solidFill>
            <a:prstDash val="solid"/>
          </a:ln>
        </p:spPr>
        <p:txBody>
          <a:bodyPr/>
          <a:lstStyle/>
          <a:p>
            <a:endParaRPr lang="fr-FR"/>
          </a:p>
        </p:txBody>
      </p:sp>
      <p:sp>
        <p:nvSpPr>
          <p:cNvPr id="18" name="Shape 15"/>
          <p:cNvSpPr/>
          <p:nvPr/>
        </p:nvSpPr>
        <p:spPr>
          <a:xfrm>
            <a:off x="1097280" y="4663440"/>
            <a:ext cx="182880" cy="182880"/>
          </a:xfrm>
          <a:prstGeom prst="ellipse">
            <a:avLst/>
          </a:prstGeom>
          <a:solidFill>
            <a:srgbClr val="1F4E79"/>
          </a:solidFill>
          <a:ln/>
        </p:spPr>
        <p:txBody>
          <a:bodyPr/>
          <a:lstStyle/>
          <a:p>
            <a:endParaRPr lang="fr-FR"/>
          </a:p>
        </p:txBody>
      </p:sp>
      <p:sp>
        <p:nvSpPr>
          <p:cNvPr id="19" name="Text 16"/>
          <p:cNvSpPr/>
          <p:nvPr/>
        </p:nvSpPr>
        <p:spPr>
          <a:xfrm>
            <a:off x="182880" y="4919472"/>
            <a:ext cx="2011680" cy="640080"/>
          </a:xfrm>
          <a:prstGeom prst="rect">
            <a:avLst/>
          </a:prstGeom>
          <a:noFill/>
          <a:ln/>
        </p:spPr>
        <p:txBody>
          <a:bodyPr wrap="square" rtlCol="0" anchor="ctr"/>
          <a:lstStyle/>
          <a:p>
            <a:pPr marL="0" indent="0" algn="ctr">
              <a:buNone/>
            </a:pPr>
            <a:r>
              <a:rPr lang="en-US" sz="1150" dirty="0">
                <a:solidFill>
                  <a:srgbClr val="222222"/>
                </a:solidFill>
              </a:rPr>
              <a:t>Visitor stops</a:t>
            </a:r>
          </a:p>
          <a:p>
            <a:pPr marL="0" indent="0" algn="ctr">
              <a:buNone/>
            </a:pPr>
            <a:r>
              <a:rPr lang="en-US" sz="1150" dirty="0">
                <a:solidFill>
                  <a:srgbClr val="222222"/>
                </a:solidFill>
              </a:rPr>
              <a:t>(t = 0)</a:t>
            </a:r>
          </a:p>
        </p:txBody>
      </p:sp>
      <p:sp>
        <p:nvSpPr>
          <p:cNvPr id="20" name="Shape 17"/>
          <p:cNvSpPr/>
          <p:nvPr/>
        </p:nvSpPr>
        <p:spPr>
          <a:xfrm>
            <a:off x="4005072" y="4663440"/>
            <a:ext cx="182880" cy="182880"/>
          </a:xfrm>
          <a:prstGeom prst="ellipse">
            <a:avLst/>
          </a:prstGeom>
          <a:solidFill>
            <a:srgbClr val="2E8B8B"/>
          </a:solidFill>
          <a:ln/>
        </p:spPr>
        <p:txBody>
          <a:bodyPr/>
          <a:lstStyle/>
          <a:p>
            <a:endParaRPr lang="fr-FR"/>
          </a:p>
        </p:txBody>
      </p:sp>
      <p:sp>
        <p:nvSpPr>
          <p:cNvPr id="21" name="Text 18"/>
          <p:cNvSpPr/>
          <p:nvPr/>
        </p:nvSpPr>
        <p:spPr>
          <a:xfrm>
            <a:off x="3090672" y="4919472"/>
            <a:ext cx="2011680" cy="640080"/>
          </a:xfrm>
          <a:prstGeom prst="rect">
            <a:avLst/>
          </a:prstGeom>
          <a:noFill/>
          <a:ln/>
        </p:spPr>
        <p:txBody>
          <a:bodyPr wrap="square" rtlCol="0" anchor="ctr"/>
          <a:lstStyle/>
          <a:p>
            <a:pPr marL="0" indent="0" algn="ctr">
              <a:buNone/>
            </a:pPr>
            <a:r>
              <a:rPr lang="en-US" sz="1150" dirty="0">
                <a:solidFill>
                  <a:srgbClr val="222222"/>
                </a:solidFill>
              </a:rPr>
              <a:t>Generic opener</a:t>
            </a:r>
            <a:endParaRPr lang="en-US" sz="1150" dirty="0"/>
          </a:p>
          <a:p>
            <a:pPr marL="0" indent="0" algn="ctr">
              <a:buNone/>
            </a:pPr>
            <a:r>
              <a:rPr lang="en-US" sz="1150" dirty="0">
                <a:solidFill>
                  <a:srgbClr val="222222"/>
                </a:solidFill>
              </a:rPr>
              <a:t>= UX latency</a:t>
            </a:r>
            <a:endParaRPr lang="en-US" sz="1150" dirty="0"/>
          </a:p>
        </p:txBody>
      </p:sp>
      <p:sp>
        <p:nvSpPr>
          <p:cNvPr id="22" name="Shape 19"/>
          <p:cNvSpPr/>
          <p:nvPr/>
        </p:nvSpPr>
        <p:spPr>
          <a:xfrm>
            <a:off x="8075981" y="4663440"/>
            <a:ext cx="182880" cy="182880"/>
          </a:xfrm>
          <a:prstGeom prst="ellipse">
            <a:avLst/>
          </a:prstGeom>
          <a:solidFill>
            <a:srgbClr val="C2671A"/>
          </a:solidFill>
          <a:ln/>
        </p:spPr>
        <p:txBody>
          <a:bodyPr/>
          <a:lstStyle/>
          <a:p>
            <a:endParaRPr lang="fr-FR"/>
          </a:p>
        </p:txBody>
      </p:sp>
      <p:sp>
        <p:nvSpPr>
          <p:cNvPr id="23" name="Text 20"/>
          <p:cNvSpPr/>
          <p:nvPr/>
        </p:nvSpPr>
        <p:spPr>
          <a:xfrm>
            <a:off x="7161581" y="4919472"/>
            <a:ext cx="2011680" cy="640080"/>
          </a:xfrm>
          <a:prstGeom prst="rect">
            <a:avLst/>
          </a:prstGeom>
          <a:noFill/>
          <a:ln/>
        </p:spPr>
        <p:txBody>
          <a:bodyPr wrap="square" rtlCol="0" anchor="ctr"/>
          <a:lstStyle/>
          <a:p>
            <a:pPr marL="0" indent="0" algn="ctr">
              <a:buNone/>
            </a:pPr>
            <a:r>
              <a:rPr lang="en-US" sz="1150" dirty="0">
                <a:solidFill>
                  <a:srgbClr val="222222"/>
                </a:solidFill>
              </a:rPr>
              <a:t>First real sentence</a:t>
            </a:r>
            <a:endParaRPr lang="en-US" sz="1150" dirty="0"/>
          </a:p>
          <a:p>
            <a:pPr marL="0" indent="0" algn="ctr">
              <a:buNone/>
            </a:pPr>
            <a:r>
              <a:rPr lang="en-US" sz="1150" dirty="0">
                <a:solidFill>
                  <a:srgbClr val="222222"/>
                </a:solidFill>
              </a:rPr>
              <a:t>= REAL latency</a:t>
            </a:r>
            <a:endParaRPr lang="en-US" sz="1150" dirty="0"/>
          </a:p>
        </p:txBody>
      </p:sp>
      <p:sp>
        <p:nvSpPr>
          <p:cNvPr id="24" name="Text 21"/>
          <p:cNvSpPr/>
          <p:nvPr/>
        </p:nvSpPr>
        <p:spPr>
          <a:xfrm>
            <a:off x="914400" y="5664200"/>
            <a:ext cx="10362895" cy="812800"/>
          </a:xfrm>
          <a:prstGeom prst="rect">
            <a:avLst/>
          </a:prstGeom>
          <a:noFill/>
          <a:ln/>
        </p:spPr>
        <p:txBody>
          <a:bodyPr wrap="square" rtlCol="0" anchor="ctr"/>
          <a:lstStyle/>
          <a:p>
            <a:pPr marL="0" indent="0" algn="ctr">
              <a:buNone/>
            </a:pPr>
            <a:r>
              <a:rPr lang="en-US" sz="1300" i="1" dirty="0">
                <a:solidFill>
                  <a:srgbClr val="0E7490"/>
                </a:solidFill>
              </a:rPr>
              <a:t>Table 4.1 (early comparison, one run each): gpt-5.4-mini + tts-1 2.98 / 7.75 s, gpt-4o-mini + tts-1 4.58 / 10.00 s,</a:t>
            </a:r>
          </a:p>
          <a:p>
            <a:pPr marL="0" indent="0" algn="ctr">
              <a:buNone/>
            </a:pPr>
            <a:r>
              <a:rPr lang="en-US" sz="1300" i="1" dirty="0">
                <a:solidFill>
                  <a:srgbClr val="0E7490"/>
                </a:solidFill>
              </a:rPr>
              <a:t>gpt-5.4-mini + gpt-4o-mini-tts 4.12 / 9.29 s (UX / REAL) - the choice at that point, not the delivered setup.</a:t>
            </a:r>
          </a:p>
        </p:txBody>
      </p:sp>
      <p:pic>
        <p:nvPicPr>
          <p:cNvPr id="25" name="Image 24">
            <a:extLst>
              <a:ext uri="{FF2B5EF4-FFF2-40B4-BE49-F238E27FC236}">
                <a16:creationId xmlns:a16="http://schemas.microsoft.com/office/drawing/2014/main" id="{BA605B44-555B-597A-911B-CFEDCE639E75}"/>
              </a:ext>
            </a:extLst>
          </p:cNvPr>
          <p:cNvPicPr>
            <a:picLocks noChangeAspect="1"/>
          </p:cNvPicPr>
          <p:nvPr/>
        </p:nvPicPr>
        <p:blipFill>
          <a:blip r:embed="rId3"/>
          <a:stretch>
            <a:fillRect/>
          </a:stretch>
        </p:blipFill>
        <p:spPr>
          <a:xfrm>
            <a:off x="226678" y="378008"/>
            <a:ext cx="2331469" cy="518104"/>
          </a:xfrm>
          <a:prstGeom prst="rect">
            <a:avLst/>
          </a:prstGeom>
        </p:spPr>
      </p:pic>
    </p:spTree>
    <p:extLst>
      <p:ext uri="{BB962C8B-B14F-4D97-AF65-F5344CB8AC3E}">
        <p14:creationId xmlns:p14="http://schemas.microsoft.com/office/powerpoint/2010/main" val="3857831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21</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Field Test: Tel Aviv Museum of Art</a:t>
            </a:r>
          </a:p>
        </p:txBody>
      </p:sp>
      <p:sp>
        <p:nvSpPr>
          <p:cNvPr id="5" name="Shape 2"/>
          <p:cNvSpPr/>
          <p:nvPr/>
        </p:nvSpPr>
        <p:spPr>
          <a:xfrm>
            <a:off x="1097280" y="1447800"/>
            <a:ext cx="310896" cy="310896"/>
          </a:xfrm>
          <a:prstGeom prst="ellipse">
            <a:avLst/>
          </a:prstGeom>
          <a:solidFill>
            <a:srgbClr val="0E7490"/>
          </a:solidFill>
          <a:ln/>
        </p:spPr>
        <p:txBody>
          <a:bodyPr/>
          <a:lstStyle/>
          <a:p>
            <a:endParaRPr lang="fr-FR"/>
          </a:p>
        </p:txBody>
      </p:sp>
      <p:sp>
        <p:nvSpPr>
          <p:cNvPr id="6" name="Text 3"/>
          <p:cNvSpPr/>
          <p:nvPr/>
        </p:nvSpPr>
        <p:spPr>
          <a:xfrm>
            <a:off x="1097280" y="1447800"/>
            <a:ext cx="310896" cy="310896"/>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7" name="Text 4"/>
          <p:cNvSpPr/>
          <p:nvPr/>
        </p:nvSpPr>
        <p:spPr>
          <a:xfrm>
            <a:off x="1600200" y="1422400"/>
            <a:ext cx="9692640" cy="365760"/>
          </a:xfrm>
          <a:prstGeom prst="rect">
            <a:avLst/>
          </a:prstGeom>
          <a:noFill/>
          <a:ln/>
        </p:spPr>
        <p:txBody>
          <a:bodyPr wrap="square" rtlCol="0" anchor="ctr"/>
          <a:lstStyle/>
          <a:p>
            <a:pPr marL="0" indent="0">
              <a:buNone/>
            </a:pPr>
            <a:r>
              <a:rPr lang="en-US" sz="1500" b="1" dirty="0">
                <a:solidFill>
                  <a:srgbClr val="002060"/>
                </a:solidFill>
              </a:rPr>
              <a:t>Visit 1 - Year Zero exhibition, no catalog</a:t>
            </a:r>
          </a:p>
        </p:txBody>
      </p:sp>
      <p:sp>
        <p:nvSpPr>
          <p:cNvPr id="8" name="Text 5"/>
          <p:cNvSpPr/>
          <p:nvPr/>
        </p:nvSpPr>
        <p:spPr>
          <a:xfrm>
            <a:off x="1600200" y="1752600"/>
            <a:ext cx="9692640" cy="365760"/>
          </a:xfrm>
          <a:prstGeom prst="rect">
            <a:avLst/>
          </a:prstGeom>
          <a:noFill/>
          <a:ln/>
        </p:spPr>
        <p:txBody>
          <a:bodyPr wrap="square" rtlCol="0" anchor="ctr"/>
          <a:lstStyle/>
          <a:p>
            <a:pPr marL="0" indent="0">
              <a:buNone/>
            </a:pPr>
            <a:r>
              <a:rPr lang="en-US" sz="1250" dirty="0">
                <a:solidFill>
                  <a:srgbClr val="222222"/>
                </a:solidFill>
              </a:rPr>
              <a:t>Open-set recognition returned generic descriptions on works that are not world-famous; famous works were recognized well in the same conditions</a:t>
            </a:r>
          </a:p>
        </p:txBody>
      </p:sp>
      <p:sp>
        <p:nvSpPr>
          <p:cNvPr id="9" name="Shape 6"/>
          <p:cNvSpPr/>
          <p:nvPr/>
        </p:nvSpPr>
        <p:spPr>
          <a:xfrm>
            <a:off x="1097280" y="2438400"/>
            <a:ext cx="310896" cy="310896"/>
          </a:xfrm>
          <a:prstGeom prst="ellipse">
            <a:avLst/>
          </a:prstGeom>
          <a:solidFill>
            <a:srgbClr val="0E7490"/>
          </a:solidFill>
          <a:ln/>
        </p:spPr>
        <p:txBody>
          <a:bodyPr/>
          <a:lstStyle/>
          <a:p>
            <a:endParaRPr lang="fr-FR"/>
          </a:p>
        </p:txBody>
      </p:sp>
      <p:sp>
        <p:nvSpPr>
          <p:cNvPr id="10" name="Text 7"/>
          <p:cNvSpPr/>
          <p:nvPr/>
        </p:nvSpPr>
        <p:spPr>
          <a:xfrm>
            <a:off x="1097280" y="2438400"/>
            <a:ext cx="310896" cy="310896"/>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11" name="Text 8"/>
          <p:cNvSpPr/>
          <p:nvPr/>
        </p:nvSpPr>
        <p:spPr>
          <a:xfrm>
            <a:off x="1600200" y="2413000"/>
            <a:ext cx="9692640" cy="365760"/>
          </a:xfrm>
          <a:prstGeom prst="rect">
            <a:avLst/>
          </a:prstGeom>
          <a:noFill/>
          <a:ln/>
        </p:spPr>
        <p:txBody>
          <a:bodyPr wrap="square" rtlCol="0" anchor="ctr"/>
          <a:lstStyle/>
          <a:p>
            <a:pPr marL="0" indent="0">
              <a:buNone/>
            </a:pPr>
            <a:r>
              <a:rPr lang="en-US" sz="1500" b="1" dirty="0">
                <a:solidFill>
                  <a:srgbClr val="002060"/>
                </a:solidFill>
              </a:rPr>
              <a:t>The finding that shaped the system</a:t>
            </a:r>
          </a:p>
        </p:txBody>
      </p:sp>
      <p:sp>
        <p:nvSpPr>
          <p:cNvPr id="12" name="Text 9"/>
          <p:cNvSpPr/>
          <p:nvPr/>
        </p:nvSpPr>
        <p:spPr>
          <a:xfrm>
            <a:off x="1600200" y="2743200"/>
            <a:ext cx="9692640" cy="365760"/>
          </a:xfrm>
          <a:prstGeom prst="rect">
            <a:avLst/>
          </a:prstGeom>
          <a:noFill/>
          <a:ln/>
        </p:spPr>
        <p:txBody>
          <a:bodyPr wrap="square" rtlCol="0" anchor="ctr"/>
          <a:lstStyle/>
          <a:p>
            <a:pPr marL="0" indent="0">
              <a:buNone/>
            </a:pPr>
            <a:r>
              <a:rPr lang="en-US" sz="1250" dirty="0">
                <a:solidFill>
                  <a:srgbClr val="222222"/>
                </a:solidFill>
              </a:rPr>
              <a:t>A general VLM is limited by what it knows about a given collection - the answer is narrowing the candidate space, not a larger model</a:t>
            </a:r>
          </a:p>
        </p:txBody>
      </p:sp>
      <p:sp>
        <p:nvSpPr>
          <p:cNvPr id="13" name="Shape 10"/>
          <p:cNvSpPr/>
          <p:nvPr/>
        </p:nvSpPr>
        <p:spPr>
          <a:xfrm>
            <a:off x="1097280" y="3429000"/>
            <a:ext cx="310896" cy="310896"/>
          </a:xfrm>
          <a:prstGeom prst="ellipse">
            <a:avLst/>
          </a:prstGeom>
          <a:solidFill>
            <a:srgbClr val="0E7490"/>
          </a:solidFill>
          <a:ln/>
        </p:spPr>
        <p:txBody>
          <a:bodyPr/>
          <a:lstStyle/>
          <a:p>
            <a:endParaRPr lang="fr-FR"/>
          </a:p>
        </p:txBody>
      </p:sp>
      <p:sp>
        <p:nvSpPr>
          <p:cNvPr id="14" name="Text 11"/>
          <p:cNvSpPr/>
          <p:nvPr/>
        </p:nvSpPr>
        <p:spPr>
          <a:xfrm>
            <a:off x="1097280" y="3429000"/>
            <a:ext cx="310896" cy="310896"/>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15" name="Text 12"/>
          <p:cNvSpPr/>
          <p:nvPr/>
        </p:nvSpPr>
        <p:spPr>
          <a:xfrm>
            <a:off x="1600200" y="3403600"/>
            <a:ext cx="9692640" cy="365760"/>
          </a:xfrm>
          <a:prstGeom prst="rect">
            <a:avLst/>
          </a:prstGeom>
          <a:noFill/>
          <a:ln/>
        </p:spPr>
        <p:txBody>
          <a:bodyPr wrap="square" rtlCol="0" anchor="ctr"/>
          <a:lstStyle/>
          <a:p>
            <a:pPr marL="0" indent="0">
              <a:buNone/>
            </a:pPr>
            <a:r>
              <a:rPr lang="en-US" sz="1500" b="1" dirty="0">
                <a:solidFill>
                  <a:srgbClr val="002060"/>
                </a:solidFill>
              </a:rPr>
              <a:t>Mechanism validated off site</a:t>
            </a:r>
          </a:p>
        </p:txBody>
      </p:sp>
      <p:sp>
        <p:nvSpPr>
          <p:cNvPr id="16" name="Text 13"/>
          <p:cNvSpPr/>
          <p:nvPr/>
        </p:nvSpPr>
        <p:spPr>
          <a:xfrm>
            <a:off x="1600200" y="3733800"/>
            <a:ext cx="9692640" cy="365760"/>
          </a:xfrm>
          <a:prstGeom prst="rect">
            <a:avLst/>
          </a:prstGeom>
          <a:noFill/>
          <a:ln/>
        </p:spPr>
        <p:txBody>
          <a:bodyPr wrap="square" rtlCol="0" anchor="ctr"/>
          <a:lstStyle/>
          <a:p>
            <a:pPr marL="0" indent="0">
              <a:buNone/>
            </a:pPr>
            <a:r>
              <a:rPr lang="en-US" sz="1250" dirty="0">
                <a:solidFill>
                  <a:srgbClr val="222222"/>
                </a:solidFill>
              </a:rPr>
              <a:t>A 3-work catalog: all three matched correctly, and a famous work outside the catalog was named without being forced onto any entry</a:t>
            </a:r>
          </a:p>
        </p:txBody>
      </p:sp>
      <p:sp>
        <p:nvSpPr>
          <p:cNvPr id="17" name="Shape 14"/>
          <p:cNvSpPr/>
          <p:nvPr/>
        </p:nvSpPr>
        <p:spPr>
          <a:xfrm>
            <a:off x="1097280" y="4419600"/>
            <a:ext cx="310896" cy="310896"/>
          </a:xfrm>
          <a:prstGeom prst="ellipse">
            <a:avLst/>
          </a:prstGeom>
          <a:solidFill>
            <a:srgbClr val="0E7490"/>
          </a:solidFill>
          <a:ln/>
        </p:spPr>
        <p:txBody>
          <a:bodyPr/>
          <a:lstStyle/>
          <a:p>
            <a:endParaRPr lang="fr-FR"/>
          </a:p>
        </p:txBody>
      </p:sp>
      <p:sp>
        <p:nvSpPr>
          <p:cNvPr id="18" name="Text 15"/>
          <p:cNvSpPr/>
          <p:nvPr/>
        </p:nvSpPr>
        <p:spPr>
          <a:xfrm>
            <a:off x="1097280" y="4419600"/>
            <a:ext cx="310896" cy="310896"/>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19" name="Text 16"/>
          <p:cNvSpPr/>
          <p:nvPr/>
        </p:nvSpPr>
        <p:spPr>
          <a:xfrm>
            <a:off x="1600200" y="4394200"/>
            <a:ext cx="9692640" cy="365760"/>
          </a:xfrm>
          <a:prstGeom prst="rect">
            <a:avLst/>
          </a:prstGeom>
          <a:noFill/>
          <a:ln/>
        </p:spPr>
        <p:txBody>
          <a:bodyPr wrap="square" rtlCol="0" anchor="ctr"/>
          <a:lstStyle/>
          <a:p>
            <a:pPr marL="0" indent="0">
              <a:buNone/>
            </a:pPr>
            <a:r>
              <a:rPr lang="en-US" sz="1500" b="1" dirty="0">
                <a:solidFill>
                  <a:srgbClr val="002060"/>
                </a:solidFill>
              </a:rPr>
              <a:t>Visit 2 - Tom Wesselmann exhibition, 11-work catalog</a:t>
            </a:r>
          </a:p>
        </p:txBody>
      </p:sp>
      <p:sp>
        <p:nvSpPr>
          <p:cNvPr id="20" name="Text 17"/>
          <p:cNvSpPr/>
          <p:nvPr/>
        </p:nvSpPr>
        <p:spPr>
          <a:xfrm>
            <a:off x="1600200" y="4724400"/>
            <a:ext cx="9692640" cy="365760"/>
          </a:xfrm>
          <a:prstGeom prst="rect">
            <a:avLst/>
          </a:prstGeom>
          <a:noFill/>
          <a:ln/>
        </p:spPr>
        <p:txBody>
          <a:bodyPr wrap="square" rtlCol="0" anchor="ctr"/>
          <a:lstStyle/>
          <a:p>
            <a:pPr marL="0" indent="0">
              <a:buNone/>
            </a:pPr>
            <a:r>
              <a:rPr lang="en-US" sz="1250" dirty="0">
                <a:solidFill>
                  <a:srgbClr val="222222"/>
                </a:solidFill>
              </a:rPr>
              <a:t>Minimal schema only (id, title, artist - visual and notes left empty); the 5 works presented on site were all recognized correctly, in gallery lighting and at an angle</a:t>
            </a:r>
          </a:p>
        </p:txBody>
      </p:sp>
      <p:sp>
        <p:nvSpPr>
          <p:cNvPr id="25" name="Shape 22"/>
          <p:cNvSpPr/>
          <p:nvPr/>
        </p:nvSpPr>
        <p:spPr>
          <a:xfrm>
            <a:off x="1097280" y="5410200"/>
            <a:ext cx="310896" cy="310896"/>
          </a:xfrm>
          <a:prstGeom prst="ellipse">
            <a:avLst/>
          </a:prstGeom>
          <a:solidFill>
            <a:srgbClr val="0E7490"/>
          </a:solidFill>
          <a:ln/>
        </p:spPr>
        <p:txBody>
          <a:bodyPr/>
          <a:lstStyle/>
          <a:p>
            <a:endParaRPr lang="fr-FR"/>
          </a:p>
        </p:txBody>
      </p:sp>
      <p:sp>
        <p:nvSpPr>
          <p:cNvPr id="26" name="Text 23"/>
          <p:cNvSpPr/>
          <p:nvPr/>
        </p:nvSpPr>
        <p:spPr>
          <a:xfrm>
            <a:off x="1097280" y="5410200"/>
            <a:ext cx="310896" cy="310896"/>
          </a:xfrm>
          <a:prstGeom prst="rect">
            <a:avLst/>
          </a:prstGeom>
          <a:noFill/>
          <a:ln/>
        </p:spPr>
        <p:txBody>
          <a:bodyPr wrap="square" rtlCol="0" anchor="ctr"/>
          <a:lstStyle/>
          <a:p>
            <a:pPr marL="0" indent="0" algn="ctr">
              <a:buNone/>
            </a:pPr>
            <a:r>
              <a:rPr lang="en-US" sz="1400" b="1" dirty="0">
                <a:solidFill>
                  <a:srgbClr val="FFFFFF"/>
                </a:solidFill>
              </a:rPr>
              <a:t>✓</a:t>
            </a:r>
            <a:endParaRPr lang="en-US" sz="1400" dirty="0"/>
          </a:p>
        </p:txBody>
      </p:sp>
      <p:sp>
        <p:nvSpPr>
          <p:cNvPr id="27" name="Text 24"/>
          <p:cNvSpPr/>
          <p:nvPr/>
        </p:nvSpPr>
        <p:spPr>
          <a:xfrm>
            <a:off x="1600200" y="5384800"/>
            <a:ext cx="9692640" cy="365760"/>
          </a:xfrm>
          <a:prstGeom prst="rect">
            <a:avLst/>
          </a:prstGeom>
          <a:noFill/>
          <a:ln/>
        </p:spPr>
        <p:txBody>
          <a:bodyPr wrap="square" rtlCol="0" anchor="ctr"/>
          <a:lstStyle/>
          <a:p>
            <a:pPr marL="0" indent="0">
              <a:buNone/>
            </a:pPr>
            <a:r>
              <a:rPr lang="en-US" sz="1500" b="1" dirty="0">
                <a:solidFill>
                  <a:srgbClr val="002060"/>
                </a:solidFill>
              </a:rPr>
              <a:t>What the field test proves</a:t>
            </a:r>
          </a:p>
        </p:txBody>
      </p:sp>
      <p:sp>
        <p:nvSpPr>
          <p:cNvPr id="28" name="Text 25"/>
          <p:cNvSpPr/>
          <p:nvPr/>
        </p:nvSpPr>
        <p:spPr>
          <a:xfrm>
            <a:off x="1600200" y="5715000"/>
            <a:ext cx="9692640" cy="365760"/>
          </a:xfrm>
          <a:prstGeom prst="rect">
            <a:avLst/>
          </a:prstGeom>
          <a:noFill/>
          <a:ln/>
        </p:spPr>
        <p:txBody>
          <a:bodyPr wrap="square" rtlCol="0" anchor="ctr"/>
          <a:lstStyle/>
          <a:p>
            <a:pPr marL="0" indent="0">
              <a:buNone/>
            </a:pPr>
            <a:r>
              <a:rPr lang="en-US" sz="1250" dirty="0">
                <a:solidFill>
                  <a:srgbClr val="222222"/>
                </a:solidFill>
              </a:rPr>
              <a:t>The catalog grew almost fourfold with no loss of match quality - a bare title list, produced in minutes, is enough for a museum to adopt the method</a:t>
            </a:r>
          </a:p>
        </p:txBody>
      </p:sp>
      <p:pic>
        <p:nvPicPr>
          <p:cNvPr id="29" name="Image 28">
            <a:extLst>
              <a:ext uri="{FF2B5EF4-FFF2-40B4-BE49-F238E27FC236}">
                <a16:creationId xmlns:a16="http://schemas.microsoft.com/office/drawing/2014/main" id="{5A5ECF21-DF01-BF4A-56A5-E4CC6DF33BC1}"/>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1051405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22</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Business Case &amp; Go-to-Market</a:t>
            </a:r>
          </a:p>
        </p:txBody>
      </p:sp>
      <p:sp>
        <p:nvSpPr>
          <p:cNvPr id="5" name="Text 2"/>
          <p:cNvSpPr/>
          <p:nvPr/>
        </p:nvSpPr>
        <p:spPr>
          <a:xfrm>
            <a:off x="914400" y="1325880"/>
            <a:ext cx="10362895" cy="457200"/>
          </a:xfrm>
          <a:prstGeom prst="rect">
            <a:avLst/>
          </a:prstGeom>
          <a:noFill/>
          <a:ln/>
        </p:spPr>
        <p:txBody>
          <a:bodyPr wrap="square" rtlCol="0" anchor="ctr"/>
          <a:lstStyle/>
          <a:p>
            <a:pPr marL="0" indent="0" algn="ctr">
              <a:buNone/>
            </a:pPr>
            <a:r>
              <a:rPr lang="en-US" sz="1400" i="1" dirty="0">
                <a:solidFill>
                  <a:srgbClr val="0E7490"/>
                </a:solidFill>
              </a:rPr>
              <a:t>The content cost of an audio guide drops to near zero - the guide is generated, not recorded.</a:t>
            </a:r>
          </a:p>
        </p:txBody>
      </p:sp>
      <p:sp>
        <p:nvSpPr>
          <p:cNvPr id="6" name="Shape 3"/>
          <p:cNvSpPr/>
          <p:nvPr/>
        </p:nvSpPr>
        <p:spPr>
          <a:xfrm>
            <a:off x="1005840" y="2011680"/>
            <a:ext cx="4846320" cy="3010000"/>
          </a:xfrm>
          <a:prstGeom prst="roundRect">
            <a:avLst>
              <a:gd name="adj" fmla="val 1750"/>
            </a:avLst>
          </a:prstGeom>
          <a:solidFill>
            <a:srgbClr val="FBECEC"/>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7" name="Text 4"/>
          <p:cNvSpPr/>
          <p:nvPr/>
        </p:nvSpPr>
        <p:spPr>
          <a:xfrm>
            <a:off x="1280160" y="2240280"/>
            <a:ext cx="4297680" cy="365760"/>
          </a:xfrm>
          <a:prstGeom prst="rect">
            <a:avLst/>
          </a:prstGeom>
          <a:noFill/>
          <a:ln/>
        </p:spPr>
        <p:txBody>
          <a:bodyPr wrap="square" rtlCol="0" anchor="ctr"/>
          <a:lstStyle/>
          <a:p>
            <a:pPr marL="0" indent="0">
              <a:buNone/>
            </a:pPr>
            <a:r>
              <a:rPr lang="en-US" sz="1600" b="1" dirty="0">
                <a:solidFill>
                  <a:srgbClr val="002060"/>
                </a:solidFill>
              </a:rPr>
              <a:t>What museums pay for today</a:t>
            </a:r>
          </a:p>
        </p:txBody>
      </p:sp>
      <p:sp>
        <p:nvSpPr>
          <p:cNvPr id="8" name="Text 5"/>
          <p:cNvSpPr/>
          <p:nvPr/>
        </p:nvSpPr>
        <p:spPr>
          <a:xfrm>
            <a:off x="1280160" y="2697480"/>
            <a:ext cx="4297680" cy="2200000"/>
          </a:xfrm>
          <a:prstGeom prst="rect">
            <a:avLst/>
          </a:prstGeom>
          <a:noFill/>
          <a:ln/>
        </p:spPr>
        <p:txBody>
          <a:bodyPr wrap="square" rtlCol="0" anchor="ctr"/>
          <a:lstStyle/>
          <a:p>
            <a:pPr marL="342900" indent="-342900">
              <a:spcAft>
                <a:spcPts val="800"/>
              </a:spcAft>
              <a:buSzPct val="100000"/>
              <a:buChar char="•"/>
            </a:pPr>
            <a:r>
              <a:rPr lang="en-US" sz="1400" dirty="0">
                <a:solidFill>
                  <a:srgbClr val="222222"/>
                </a:solidFill>
              </a:rPr>
              <a:t>Script, voice talent and studio time for every work, in every language</a:t>
            </a:r>
          </a:p>
          <a:p>
            <a:pPr marL="342900" indent="-342900">
              <a:spcAft>
                <a:spcPts val="800"/>
              </a:spcAft>
              <a:buSzPct val="100000"/>
              <a:buChar char="•"/>
            </a:pPr>
            <a:r>
              <a:rPr lang="en-US" sz="1400" dirty="0">
                <a:solidFill>
                  <a:srgbClr val="222222"/>
                </a:solidFill>
              </a:rPr>
              <a:t>Each new exhibition means new recordings and manual tagging</a:t>
            </a:r>
          </a:p>
          <a:p>
            <a:pPr marL="342900" indent="-342900">
              <a:spcAft>
                <a:spcPts val="800"/>
              </a:spcAft>
              <a:buSzPct val="100000"/>
              <a:buChar char="•"/>
            </a:pPr>
            <a:r>
              <a:rPr lang="en-US" sz="1400" dirty="0">
                <a:solidFill>
                  <a:srgbClr val="222222"/>
                </a:solidFill>
              </a:rPr>
              <a:t>Devices to buy, charge, clean and hand out</a:t>
            </a:r>
          </a:p>
          <a:p>
            <a:pPr marL="342900" indent="-342900">
              <a:spcAft>
                <a:spcPts val="800"/>
              </a:spcAft>
              <a:buSzPct val="100000"/>
              <a:buChar char="•"/>
            </a:pPr>
            <a:r>
              <a:rPr lang="en-US" sz="1400" dirty="0">
                <a:solidFill>
                  <a:srgbClr val="222222"/>
                </a:solidFill>
              </a:rPr>
              <a:t>Nothing available for temporary or un-catalogued works</a:t>
            </a:r>
          </a:p>
        </p:txBody>
      </p:sp>
      <p:sp>
        <p:nvSpPr>
          <p:cNvPr id="9" name="Shape 6"/>
          <p:cNvSpPr/>
          <p:nvPr/>
        </p:nvSpPr>
        <p:spPr>
          <a:xfrm>
            <a:off x="6309360" y="2011680"/>
            <a:ext cx="4846320" cy="3010000"/>
          </a:xfrm>
          <a:prstGeom prst="roundRect">
            <a:avLst>
              <a:gd name="adj" fmla="val 1750"/>
            </a:avLst>
          </a:prstGeom>
          <a:solidFill>
            <a:srgbClr val="E7F1F1"/>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0" name="Text 7"/>
          <p:cNvSpPr/>
          <p:nvPr/>
        </p:nvSpPr>
        <p:spPr>
          <a:xfrm>
            <a:off x="6583680" y="2240280"/>
            <a:ext cx="4297680" cy="365760"/>
          </a:xfrm>
          <a:prstGeom prst="rect">
            <a:avLst/>
          </a:prstGeom>
          <a:noFill/>
          <a:ln/>
        </p:spPr>
        <p:txBody>
          <a:bodyPr wrap="square" rtlCol="0" anchor="ctr"/>
          <a:lstStyle/>
          <a:p>
            <a:pPr marL="0" indent="0">
              <a:buNone/>
            </a:pPr>
            <a:r>
              <a:rPr lang="en-US" sz="1600" b="1" dirty="0">
                <a:solidFill>
                  <a:srgbClr val="002060"/>
                </a:solidFill>
              </a:rPr>
              <a:t>What we offer</a:t>
            </a:r>
          </a:p>
        </p:txBody>
      </p:sp>
      <p:sp>
        <p:nvSpPr>
          <p:cNvPr id="11" name="Text 8"/>
          <p:cNvSpPr/>
          <p:nvPr/>
        </p:nvSpPr>
        <p:spPr>
          <a:xfrm>
            <a:off x="6583680" y="2697480"/>
            <a:ext cx="4297680" cy="2200000"/>
          </a:xfrm>
          <a:prstGeom prst="rect">
            <a:avLst/>
          </a:prstGeom>
          <a:noFill/>
          <a:ln/>
        </p:spPr>
        <p:txBody>
          <a:bodyPr wrap="square" rtlCol="0" anchor="ctr"/>
          <a:lstStyle/>
          <a:p>
            <a:pPr marL="342900" indent="-342900">
              <a:spcAft>
                <a:spcPts val="800"/>
              </a:spcAft>
              <a:buSzPct val="100000"/>
              <a:buChar char="•"/>
            </a:pPr>
            <a:r>
              <a:rPr lang="en-US" sz="1400" dirty="0">
                <a:solidFill>
                  <a:srgbClr val="222222"/>
                </a:solidFill>
              </a:rPr>
              <a:t>Generative guide: no recording, no per-collection training</a:t>
            </a:r>
          </a:p>
          <a:p>
            <a:pPr marL="342900" indent="-342900">
              <a:spcAft>
                <a:spcPts val="800"/>
              </a:spcAft>
              <a:buSzPct val="100000"/>
              <a:buChar char="•"/>
            </a:pPr>
            <a:r>
              <a:rPr lang="en-US" sz="1400" dirty="0">
                <a:solidFill>
                  <a:srgbClr val="222222"/>
                </a:solidFill>
              </a:rPr>
              <a:t>Multilingual on day one - EN / FR / ES, one entry per new language</a:t>
            </a:r>
          </a:p>
          <a:p>
            <a:pPr marL="342900" indent="-342900">
              <a:spcAft>
                <a:spcPts val="800"/>
              </a:spcAft>
              <a:buSzPct val="100000"/>
              <a:buChar char="•"/>
            </a:pPr>
            <a:r>
              <a:rPr lang="en-US" sz="1400" dirty="0">
                <a:solidFill>
                  <a:srgbClr val="222222"/>
                </a:solidFill>
              </a:rPr>
              <a:t>Personalized per visitor: language, age, expertise, length</a:t>
            </a:r>
          </a:p>
          <a:p>
            <a:pPr marL="342900" indent="-342900">
              <a:spcAft>
                <a:spcPts val="800"/>
              </a:spcAft>
              <a:buSzPct val="100000"/>
              <a:buFontTx/>
              <a:buChar char="•"/>
            </a:pPr>
            <a:r>
              <a:rPr lang="en-US" sz="1400" dirty="0">
                <a:solidFill>
                  <a:srgbClr val="222222"/>
                </a:solidFill>
              </a:rPr>
              <a:t>Hardware-agnostic: Aria + laptop today, Ray-Ban Meta + phone tomorrow</a:t>
            </a:r>
          </a:p>
        </p:txBody>
      </p:sp>
      <p:pic>
        <p:nvPicPr>
          <p:cNvPr id="12" name="Image 11">
            <a:extLst>
              <a:ext uri="{FF2B5EF4-FFF2-40B4-BE49-F238E27FC236}">
                <a16:creationId xmlns:a16="http://schemas.microsoft.com/office/drawing/2014/main" id="{C5770AFA-D6EE-DBE5-C432-B7CDCAA417F9}"/>
              </a:ext>
            </a:extLst>
          </p:cNvPr>
          <p:cNvPicPr>
            <a:picLocks noChangeAspect="1"/>
          </p:cNvPicPr>
          <p:nvPr/>
        </p:nvPicPr>
        <p:blipFill>
          <a:blip r:embed="rId3"/>
          <a:stretch>
            <a:fillRect/>
          </a:stretch>
        </p:blipFill>
        <p:spPr>
          <a:xfrm>
            <a:off x="226678" y="378008"/>
            <a:ext cx="2578357" cy="572968"/>
          </a:xfrm>
          <a:prstGeom prst="rect">
            <a:avLst/>
          </a:prstGeom>
        </p:spPr>
      </p:pic>
      <p:sp>
        <p:nvSpPr>
          <p:cNvPr id="20" name="Business Card"/>
          <p:cNvSpPr/>
          <p:nvPr/>
        </p:nvSpPr>
        <p:spPr>
          <a:xfrm>
            <a:off x="1005840" y="5230000"/>
            <a:ext cx="10149840" cy="980000"/>
          </a:xfrm>
          <a:prstGeom prst="roundRect">
            <a:avLst>
              <a:gd name="adj" fmla="val 1750"/>
            </a:avLst>
          </a:prstGeom>
          <a:solidFill>
            <a:srgbClr val="FBF3E2"/>
          </a:solidFill>
          <a:ln w="12700">
            <a:solidFill>
              <a:srgbClr val="E3D6B5"/>
            </a:solidFill>
            <a:prstDash val="solid"/>
          </a:ln>
          <a:effectLst>
            <a:outerShdw blurRad="88900" dist="38100" dir="8100000" algn="bl" rotWithShape="0">
              <a:srgbClr val="000000">
                <a:alpha val="13000"/>
              </a:srgbClr>
            </a:outerShdw>
          </a:effectLst>
        </p:spPr>
        <p:txBody>
          <a:bodyPr/>
          <a:lstStyle/>
          <a:p>
            <a:endParaRPr lang="fr-FR"/>
          </a:p>
        </p:txBody>
      </p:sp>
      <p:sp>
        <p:nvSpPr>
          <p:cNvPr id="21" name="Business Text"/>
          <p:cNvSpPr/>
          <p:nvPr/>
        </p:nvSpPr>
        <p:spPr>
          <a:xfrm>
            <a:off x="1280160" y="5300000"/>
            <a:ext cx="9601200" cy="840000"/>
          </a:xfrm>
          <a:prstGeom prst="rect">
            <a:avLst/>
          </a:prstGeom>
          <a:noFill/>
          <a:ln/>
        </p:spPr>
        <p:txBody>
          <a:bodyPr wrap="square" rtlCol="0" anchor="ctr"/>
          <a:lstStyle/>
          <a:p>
            <a:pPr marL="0" indent="0">
              <a:buNone/>
            </a:pPr>
            <a:r>
              <a:rPr lang="en-US" sz="1500" b="1" dirty="0">
                <a:solidFill>
                  <a:srgbClr val="9A6A00"/>
                </a:solidFill>
              </a:rPr>
              <a:t>Go-to-market  </a:t>
            </a:r>
            <a:r>
              <a:rPr lang="en-US" sz="1350" dirty="0">
                <a:solidFill>
                  <a:srgbClr val="222222"/>
                </a:solidFill>
              </a:rPr>
              <a:t>Pilot with the Tel Aviv Museum of Art as reference site, then galleries, heritage sites and city tours. Annual site licence plus per-visit usage; the only variable cost is cloud inference, which falls with every model generation.</a:t>
            </a:r>
          </a:p>
        </p:txBody>
      </p:sp>
    </p:spTree>
    <p:extLst>
      <p:ext uri="{BB962C8B-B14F-4D97-AF65-F5344CB8AC3E}">
        <p14:creationId xmlns:p14="http://schemas.microsoft.com/office/powerpoint/2010/main" val="4121246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23</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Challenges &amp; Limitations</a:t>
            </a:r>
          </a:p>
        </p:txBody>
      </p:sp>
      <p:sp>
        <p:nvSpPr>
          <p:cNvPr id="5" name="Shape 2"/>
          <p:cNvSpPr/>
          <p:nvPr/>
        </p:nvSpPr>
        <p:spPr>
          <a:xfrm>
            <a:off x="914400" y="1600200"/>
            <a:ext cx="10337800" cy="1346200"/>
          </a:xfrm>
          <a:prstGeom prst="roundRect">
            <a:avLst>
              <a:gd name="adj" fmla="val 5357"/>
            </a:avLst>
          </a:prstGeom>
          <a:solidFill>
            <a:srgbClr val="EEF3F8"/>
          </a:solidFill>
          <a:ln w="12700">
            <a:solidFill>
              <a:srgbClr val="D7DEE8"/>
            </a:solidFill>
            <a:prstDash val="solid"/>
          </a:ln>
        </p:spPr>
        <p:txBody>
          <a:bodyPr/>
          <a:lstStyle/>
          <a:p>
            <a:endParaRPr lang="fr-FR"/>
          </a:p>
        </p:txBody>
      </p:sp>
      <p:sp>
        <p:nvSpPr>
          <p:cNvPr id="6" name="Shape 3"/>
          <p:cNvSpPr/>
          <p:nvPr/>
        </p:nvSpPr>
        <p:spPr>
          <a:xfrm>
            <a:off x="914400" y="1600200"/>
            <a:ext cx="88900" cy="1346200"/>
          </a:xfrm>
          <a:prstGeom prst="rect">
            <a:avLst/>
          </a:prstGeom>
          <a:solidFill>
            <a:srgbClr val="C2671A"/>
          </a:solidFill>
          <a:ln/>
        </p:spPr>
        <p:txBody>
          <a:bodyPr/>
          <a:lstStyle/>
          <a:p>
            <a:endParaRPr lang="fr-FR"/>
          </a:p>
        </p:txBody>
      </p:sp>
      <p:sp>
        <p:nvSpPr>
          <p:cNvPr id="7" name="Text 4"/>
          <p:cNvSpPr/>
          <p:nvPr/>
        </p:nvSpPr>
        <p:spPr>
          <a:xfrm>
            <a:off x="1193800" y="1600200"/>
            <a:ext cx="3048000" cy="1346200"/>
          </a:xfrm>
          <a:prstGeom prst="rect">
            <a:avLst/>
          </a:prstGeom>
          <a:noFill/>
          <a:ln/>
        </p:spPr>
        <p:txBody>
          <a:bodyPr wrap="square" rtlCol="0" anchor="ctr" anchorCtr="0"/>
          <a:lstStyle/>
          <a:p>
            <a:pPr marL="0" indent="0">
              <a:buNone/>
            </a:pPr>
            <a:r>
              <a:rPr lang="en-US" sz="1650" b="1" dirty="0">
                <a:solidFill>
                  <a:srgbClr val="002060"/>
                </a:solidFill>
              </a:rPr>
              <a:t>Catalog dependency</a:t>
            </a:r>
          </a:p>
        </p:txBody>
      </p:sp>
      <p:sp>
        <p:nvSpPr>
          <p:cNvPr id="8" name="Text 5"/>
          <p:cNvSpPr/>
          <p:nvPr/>
        </p:nvSpPr>
        <p:spPr>
          <a:xfrm>
            <a:off x="4394200" y="1600200"/>
            <a:ext cx="6705600" cy="1346200"/>
          </a:xfrm>
          <a:prstGeom prst="rect">
            <a:avLst/>
          </a:prstGeom>
          <a:noFill/>
          <a:ln/>
        </p:spPr>
        <p:txBody>
          <a:bodyPr wrap="square" rtlCol="0" anchor="ctr" anchorCtr="0"/>
          <a:lstStyle/>
          <a:p>
            <a:pPr marL="0" indent="0">
              <a:buNone/>
            </a:pPr>
            <a:r>
              <a:rPr lang="en-US" sz="1400" dirty="0">
                <a:solidFill>
                  <a:srgbClr val="222222"/>
                </a:solidFill>
              </a:rPr>
              <a:t>Without a catalog the model only names world-famous works and returns a generic description for all the rest</a:t>
            </a:r>
          </a:p>
          <a:p>
            <a:pPr marL="0" indent="0">
              <a:buNone/>
            </a:pPr>
            <a:r>
              <a:rPr lang="en-US" sz="1400" i="1" dirty="0">
                <a:solidFill>
                  <a:srgbClr val="0E7490"/>
                </a:solidFill>
              </a:rPr>
              <a:t>Experience quality therefore depends on the museum providing at least a list of titles</a:t>
            </a:r>
          </a:p>
        </p:txBody>
      </p:sp>
      <p:sp>
        <p:nvSpPr>
          <p:cNvPr id="9" name="Shape 6"/>
          <p:cNvSpPr/>
          <p:nvPr/>
        </p:nvSpPr>
        <p:spPr>
          <a:xfrm>
            <a:off x="914400" y="3276600"/>
            <a:ext cx="10337800" cy="1346200"/>
          </a:xfrm>
          <a:prstGeom prst="roundRect">
            <a:avLst>
              <a:gd name="adj" fmla="val 5357"/>
            </a:avLst>
          </a:prstGeom>
          <a:solidFill>
            <a:srgbClr val="EEF3F8"/>
          </a:solidFill>
          <a:ln w="12700">
            <a:solidFill>
              <a:srgbClr val="D7DEE8"/>
            </a:solidFill>
            <a:prstDash val="solid"/>
          </a:ln>
        </p:spPr>
        <p:txBody>
          <a:bodyPr/>
          <a:lstStyle/>
          <a:p>
            <a:endParaRPr lang="fr-FR"/>
          </a:p>
        </p:txBody>
      </p:sp>
      <p:sp>
        <p:nvSpPr>
          <p:cNvPr id="10" name="Shape 7"/>
          <p:cNvSpPr/>
          <p:nvPr/>
        </p:nvSpPr>
        <p:spPr>
          <a:xfrm>
            <a:off x="914400" y="3276600"/>
            <a:ext cx="88900" cy="1346200"/>
          </a:xfrm>
          <a:prstGeom prst="rect">
            <a:avLst/>
          </a:prstGeom>
          <a:solidFill>
            <a:srgbClr val="C2671A"/>
          </a:solidFill>
          <a:ln/>
        </p:spPr>
        <p:txBody>
          <a:bodyPr/>
          <a:lstStyle/>
          <a:p>
            <a:endParaRPr lang="fr-FR"/>
          </a:p>
        </p:txBody>
      </p:sp>
      <p:sp>
        <p:nvSpPr>
          <p:cNvPr id="11" name="Text 8"/>
          <p:cNvSpPr/>
          <p:nvPr/>
        </p:nvSpPr>
        <p:spPr>
          <a:xfrm>
            <a:off x="1193800" y="3276600"/>
            <a:ext cx="3048000" cy="1346200"/>
          </a:xfrm>
          <a:prstGeom prst="rect">
            <a:avLst/>
          </a:prstGeom>
          <a:noFill/>
          <a:ln/>
        </p:spPr>
        <p:txBody>
          <a:bodyPr wrap="square" rtlCol="0" anchor="ctr" anchorCtr="0"/>
          <a:lstStyle/>
          <a:p>
            <a:pPr marL="0" indent="0">
              <a:buNone/>
            </a:pPr>
            <a:r>
              <a:rPr lang="en-US" sz="1650" b="1" dirty="0">
                <a:solidFill>
                  <a:srgbClr val="002060"/>
                </a:solidFill>
              </a:rPr>
              <a:t>Name-based re-recognition</a:t>
            </a:r>
          </a:p>
        </p:txBody>
      </p:sp>
      <p:sp>
        <p:nvSpPr>
          <p:cNvPr id="12" name="Text 9"/>
          <p:cNvSpPr/>
          <p:nvPr/>
        </p:nvSpPr>
        <p:spPr>
          <a:xfrm>
            <a:off x="4394200" y="3276600"/>
            <a:ext cx="6705600" cy="1346200"/>
          </a:xfrm>
          <a:prstGeom prst="rect">
            <a:avLst/>
          </a:prstGeom>
          <a:noFill/>
          <a:ln/>
        </p:spPr>
        <p:txBody>
          <a:bodyPr wrap="square" rtlCol="0" anchor="ctr" anchorCtr="0"/>
          <a:lstStyle/>
          <a:p>
            <a:pPr marL="0" indent="0">
              <a:buNone/>
            </a:pPr>
            <a:r>
              <a:rPr lang="en-US" sz="1400" dirty="0">
                <a:solidFill>
                  <a:srgbClr val="222222"/>
                </a:solidFill>
              </a:rPr>
              <a:t>Returning to a work is matched on the title string, so overlapping titles can still count as two works</a:t>
            </a:r>
          </a:p>
          <a:p>
            <a:pPr marL="0" indent="0">
              <a:buNone/>
            </a:pPr>
            <a:r>
              <a:rPr lang="en-US" sz="1400" i="1" dirty="0">
                <a:solidFill>
                  <a:srgbClr val="0E7490"/>
                </a:solidFill>
              </a:rPr>
              <a:t>Mitigated: stop-words removed, threshold raised to 0.6. Real fix is visual matching (CLIP / ORB)</a:t>
            </a:r>
          </a:p>
        </p:txBody>
      </p:sp>
      <p:sp>
        <p:nvSpPr>
          <p:cNvPr id="13" name="Shape 10"/>
          <p:cNvSpPr/>
          <p:nvPr/>
        </p:nvSpPr>
        <p:spPr>
          <a:xfrm>
            <a:off x="914400" y="4953000"/>
            <a:ext cx="10337800" cy="1346200"/>
          </a:xfrm>
          <a:prstGeom prst="roundRect">
            <a:avLst>
              <a:gd name="adj" fmla="val 5357"/>
            </a:avLst>
          </a:prstGeom>
          <a:solidFill>
            <a:srgbClr val="EEF3F8"/>
          </a:solidFill>
          <a:ln w="12700">
            <a:solidFill>
              <a:srgbClr val="D7DEE8"/>
            </a:solidFill>
            <a:prstDash val="solid"/>
          </a:ln>
        </p:spPr>
        <p:txBody>
          <a:bodyPr/>
          <a:lstStyle/>
          <a:p>
            <a:endParaRPr lang="fr-FR"/>
          </a:p>
        </p:txBody>
      </p:sp>
      <p:sp>
        <p:nvSpPr>
          <p:cNvPr id="14" name="Shape 11"/>
          <p:cNvSpPr/>
          <p:nvPr/>
        </p:nvSpPr>
        <p:spPr>
          <a:xfrm>
            <a:off x="914400" y="4953000"/>
            <a:ext cx="88900" cy="1346200"/>
          </a:xfrm>
          <a:prstGeom prst="rect">
            <a:avLst/>
          </a:prstGeom>
          <a:solidFill>
            <a:srgbClr val="C2671A"/>
          </a:solidFill>
          <a:ln/>
        </p:spPr>
        <p:txBody>
          <a:bodyPr/>
          <a:lstStyle/>
          <a:p>
            <a:endParaRPr lang="fr-FR"/>
          </a:p>
        </p:txBody>
      </p:sp>
      <p:sp>
        <p:nvSpPr>
          <p:cNvPr id="15" name="Text 12"/>
          <p:cNvSpPr/>
          <p:nvPr/>
        </p:nvSpPr>
        <p:spPr>
          <a:xfrm>
            <a:off x="1193800" y="4953000"/>
            <a:ext cx="3048000" cy="1346200"/>
          </a:xfrm>
          <a:prstGeom prst="rect">
            <a:avLst/>
          </a:prstGeom>
          <a:noFill/>
          <a:ln/>
        </p:spPr>
        <p:txBody>
          <a:bodyPr wrap="square" rtlCol="0" anchor="ctr" anchorCtr="0"/>
          <a:lstStyle/>
          <a:p>
            <a:pPr marL="0" indent="0">
              <a:buNone/>
            </a:pPr>
            <a:r>
              <a:rPr lang="en-US" sz="1650" b="1" dirty="0">
                <a:solidFill>
                  <a:srgbClr val="002060"/>
                </a:solidFill>
              </a:rPr>
              <a:t>Cloud dependency and latency</a:t>
            </a:r>
          </a:p>
        </p:txBody>
      </p:sp>
      <p:sp>
        <p:nvSpPr>
          <p:cNvPr id="16" name="Text 13"/>
          <p:cNvSpPr/>
          <p:nvPr/>
        </p:nvSpPr>
        <p:spPr>
          <a:xfrm>
            <a:off x="4394200" y="4953000"/>
            <a:ext cx="6705600" cy="1346200"/>
          </a:xfrm>
          <a:prstGeom prst="rect">
            <a:avLst/>
          </a:prstGeom>
          <a:noFill/>
          <a:ln/>
        </p:spPr>
        <p:txBody>
          <a:bodyPr wrap="square" rtlCol="0" anchor="ctr" anchorCtr="0"/>
          <a:lstStyle/>
          <a:p>
            <a:pPr marL="0" indent="0">
              <a:buNone/>
            </a:pPr>
            <a:r>
              <a:rPr lang="en-US" sz="1400" dirty="0">
                <a:solidFill>
                  <a:srgbClr val="222222"/>
                </a:solidFill>
              </a:rPr>
              <a:t>Vision and TTS round-trips cost several seconds and require a stable connection</a:t>
            </a:r>
          </a:p>
          <a:p>
            <a:pPr marL="0" indent="0">
              <a:buNone/>
            </a:pPr>
            <a:r>
              <a:rPr lang="en-US" sz="1400" i="1" dirty="0">
                <a:solidFill>
                  <a:srgbClr val="0E7490"/>
                </a:solidFill>
              </a:rPr>
              <a:t>Cached opener and sentence streaming hide most of it; a local model remains untested</a:t>
            </a:r>
          </a:p>
        </p:txBody>
      </p:sp>
      <p:pic>
        <p:nvPicPr>
          <p:cNvPr id="21" name="Image 20">
            <a:extLst>
              <a:ext uri="{FF2B5EF4-FFF2-40B4-BE49-F238E27FC236}">
                <a16:creationId xmlns:a16="http://schemas.microsoft.com/office/drawing/2014/main" id="{F1C47FF1-CD9D-E171-7CA9-7DBBB410DC19}"/>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3249022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24</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Future Work</a:t>
            </a:r>
          </a:p>
        </p:txBody>
      </p:sp>
      <p:sp>
        <p:nvSpPr>
          <p:cNvPr id="8" name="Shape 5"/>
          <p:cNvSpPr/>
          <p:nvPr/>
        </p:nvSpPr>
        <p:spPr>
          <a:xfrm>
            <a:off x="1092200" y="1574800"/>
            <a:ext cx="508000" cy="508000"/>
          </a:xfrm>
          <a:prstGeom prst="roundRect">
            <a:avLst>
              <a:gd name="adj" fmla="val 18182"/>
            </a:avLst>
          </a:prstGeom>
          <a:solidFill>
            <a:srgbClr val="002060"/>
          </a:solidFill>
          <a:ln/>
        </p:spPr>
        <p:txBody>
          <a:bodyPr/>
          <a:lstStyle/>
          <a:p>
            <a:endParaRPr lang="fr-FR"/>
          </a:p>
        </p:txBody>
      </p:sp>
      <p:sp>
        <p:nvSpPr>
          <p:cNvPr id="9" name="Text 6"/>
          <p:cNvSpPr/>
          <p:nvPr/>
        </p:nvSpPr>
        <p:spPr>
          <a:xfrm>
            <a:off x="1092200" y="1574800"/>
            <a:ext cx="508000" cy="50800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10" name="Text 7"/>
          <p:cNvSpPr/>
          <p:nvPr/>
        </p:nvSpPr>
        <p:spPr>
          <a:xfrm>
            <a:off x="1778000" y="1574800"/>
            <a:ext cx="9093200" cy="635000"/>
          </a:xfrm>
          <a:prstGeom prst="rect">
            <a:avLst/>
          </a:prstGeom>
          <a:noFill/>
          <a:ln/>
        </p:spPr>
        <p:txBody>
          <a:bodyPr wrap="square" rtlCol="0" anchor="ctr"/>
          <a:lstStyle/>
          <a:p>
            <a:r>
              <a:rPr lang="en-US" sz="1500" b="1" dirty="0">
                <a:solidFill>
                  <a:srgbClr val="002060"/>
                </a:solidFill>
              </a:rPr>
              <a:t>Catalogs at exhibition scale  </a:t>
            </a:r>
            <a:r>
              <a:rPr lang="en-US" sz="1300" dirty="0">
                <a:solidFill>
                  <a:srgbClr val="222222"/>
                </a:solidFill>
              </a:rPr>
              <a:t>Extend catalogs to a whole exhibition and study their effect on latency; define a working procedure with curatorial teams for full checklists, or photograph the wall labels and convert them</a:t>
            </a:r>
          </a:p>
        </p:txBody>
      </p:sp>
      <p:sp>
        <p:nvSpPr>
          <p:cNvPr id="11" name="Shape 8"/>
          <p:cNvSpPr/>
          <p:nvPr/>
        </p:nvSpPr>
        <p:spPr>
          <a:xfrm>
            <a:off x="1092200" y="2870200"/>
            <a:ext cx="508000" cy="508000"/>
          </a:xfrm>
          <a:prstGeom prst="roundRect">
            <a:avLst>
              <a:gd name="adj" fmla="val 18182"/>
            </a:avLst>
          </a:prstGeom>
          <a:solidFill>
            <a:srgbClr val="002060"/>
          </a:solidFill>
          <a:ln/>
        </p:spPr>
        <p:txBody>
          <a:bodyPr/>
          <a:lstStyle/>
          <a:p>
            <a:endParaRPr lang="fr-FR"/>
          </a:p>
        </p:txBody>
      </p:sp>
      <p:sp>
        <p:nvSpPr>
          <p:cNvPr id="12" name="Text 9"/>
          <p:cNvSpPr/>
          <p:nvPr/>
        </p:nvSpPr>
        <p:spPr>
          <a:xfrm>
            <a:off x="1092200" y="2870200"/>
            <a:ext cx="508000" cy="50800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3" name="Text 10"/>
          <p:cNvSpPr/>
          <p:nvPr/>
        </p:nvSpPr>
        <p:spPr>
          <a:xfrm>
            <a:off x="1778000" y="2870200"/>
            <a:ext cx="9093200" cy="635000"/>
          </a:xfrm>
          <a:prstGeom prst="rect">
            <a:avLst/>
          </a:prstGeom>
          <a:noFill/>
          <a:ln/>
        </p:spPr>
        <p:txBody>
          <a:bodyPr wrap="square" rtlCol="0" anchor="ctr"/>
          <a:lstStyle/>
          <a:p>
            <a:r>
              <a:rPr lang="en-US" sz="1500" b="1" dirty="0">
                <a:solidFill>
                  <a:srgbClr val="002060"/>
                </a:solidFill>
              </a:rPr>
              <a:t>Streaming speech synthesis  </a:t>
            </a:r>
            <a:r>
              <a:rPr lang="en-US" sz="1300" dirty="0">
                <a:solidFill>
                  <a:srgbClr val="222222"/>
                </a:solidFill>
              </a:rPr>
              <a:t>Begin speaking a sentence before its synthesis completes, offsetting the extra latency of the advanced TTS engine</a:t>
            </a:r>
          </a:p>
        </p:txBody>
      </p:sp>
      <p:sp>
        <p:nvSpPr>
          <p:cNvPr id="14" name="Shape 11"/>
          <p:cNvSpPr/>
          <p:nvPr/>
        </p:nvSpPr>
        <p:spPr>
          <a:xfrm>
            <a:off x="1092200" y="4165600"/>
            <a:ext cx="508000" cy="508000"/>
          </a:xfrm>
          <a:prstGeom prst="roundRect">
            <a:avLst>
              <a:gd name="adj" fmla="val 18182"/>
            </a:avLst>
          </a:prstGeom>
          <a:solidFill>
            <a:srgbClr val="002060"/>
          </a:solidFill>
          <a:ln/>
        </p:spPr>
        <p:txBody>
          <a:bodyPr/>
          <a:lstStyle/>
          <a:p>
            <a:endParaRPr lang="fr-FR"/>
          </a:p>
        </p:txBody>
      </p:sp>
      <p:sp>
        <p:nvSpPr>
          <p:cNvPr id="15" name="Text 12"/>
          <p:cNvSpPr/>
          <p:nvPr/>
        </p:nvSpPr>
        <p:spPr>
          <a:xfrm>
            <a:off x="1092200" y="4165600"/>
            <a:ext cx="508000" cy="50800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16" name="Text 13"/>
          <p:cNvSpPr/>
          <p:nvPr/>
        </p:nvSpPr>
        <p:spPr>
          <a:xfrm>
            <a:off x="1778000" y="4165600"/>
            <a:ext cx="9093200" cy="635000"/>
          </a:xfrm>
          <a:prstGeom prst="rect">
            <a:avLst/>
          </a:prstGeom>
          <a:noFill/>
          <a:ln/>
        </p:spPr>
        <p:txBody>
          <a:bodyPr wrap="square" rtlCol="0" anchor="ctr"/>
          <a:lstStyle/>
          <a:p>
            <a:r>
              <a:rPr lang="en-US" sz="1500" b="1" dirty="0">
                <a:solidFill>
                  <a:srgbClr val="002060"/>
                </a:solidFill>
              </a:rPr>
              <a:t>Local model on the device  </a:t>
            </a:r>
            <a:r>
              <a:rPr lang="en-US" sz="1300" dirty="0">
                <a:solidFill>
                  <a:srgbClr val="222222"/>
                </a:solidFill>
              </a:rPr>
              <a:t>Study running a local model on the device to reduce the dependency on the network and on an external service</a:t>
            </a:r>
          </a:p>
        </p:txBody>
      </p:sp>
      <p:sp>
        <p:nvSpPr>
          <p:cNvPr id="17" name="Shape 14"/>
          <p:cNvSpPr/>
          <p:nvPr/>
        </p:nvSpPr>
        <p:spPr>
          <a:xfrm>
            <a:off x="1092200" y="5461000"/>
            <a:ext cx="508000" cy="508000"/>
          </a:xfrm>
          <a:prstGeom prst="roundRect">
            <a:avLst>
              <a:gd name="adj" fmla="val 18182"/>
            </a:avLst>
          </a:prstGeom>
          <a:solidFill>
            <a:srgbClr val="002060"/>
          </a:solidFill>
          <a:ln/>
        </p:spPr>
        <p:txBody>
          <a:bodyPr/>
          <a:lstStyle/>
          <a:p>
            <a:endParaRPr lang="fr-FR"/>
          </a:p>
        </p:txBody>
      </p:sp>
      <p:sp>
        <p:nvSpPr>
          <p:cNvPr id="18" name="Text 15"/>
          <p:cNvSpPr/>
          <p:nvPr/>
        </p:nvSpPr>
        <p:spPr>
          <a:xfrm>
            <a:off x="1092200" y="5461000"/>
            <a:ext cx="508000" cy="50800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19" name="Text 16"/>
          <p:cNvSpPr/>
          <p:nvPr/>
        </p:nvSpPr>
        <p:spPr>
          <a:xfrm>
            <a:off x="1778000" y="5461000"/>
            <a:ext cx="9093200" cy="635000"/>
          </a:xfrm>
          <a:prstGeom prst="rect">
            <a:avLst/>
          </a:prstGeom>
          <a:noFill/>
          <a:ln/>
        </p:spPr>
        <p:txBody>
          <a:bodyPr wrap="square" rtlCol="0" anchor="ctr"/>
          <a:lstStyle/>
          <a:p>
            <a:r>
              <a:rPr lang="en-US" sz="1500" b="1" dirty="0">
                <a:solidFill>
                  <a:srgbClr val="002060"/>
                </a:solidFill>
              </a:rPr>
              <a:t>Adapt to Meta Ray-Ban glasses  </a:t>
            </a:r>
            <a:r>
              <a:rPr lang="en-US" sz="1300" dirty="0">
                <a:solidFill>
                  <a:srgbClr val="222222"/>
                </a:solidFill>
              </a:rPr>
              <a:t>Commercial consumer hardware with integrated camera and speakers - the whole experience on a device the visitor holds, with no laptop. Sensor-stream access, especially the motion signal the pause logic relies on, must be examined separately</a:t>
            </a:r>
          </a:p>
        </p:txBody>
      </p:sp>
      <p:pic>
        <p:nvPicPr>
          <p:cNvPr id="23" name="Image 22">
            <a:extLst>
              <a:ext uri="{FF2B5EF4-FFF2-40B4-BE49-F238E27FC236}">
                <a16:creationId xmlns:a16="http://schemas.microsoft.com/office/drawing/2014/main" id="{A9CC7D11-A40B-3A7D-6DA1-30436594219C}"/>
              </a:ext>
            </a:extLst>
          </p:cNvPr>
          <p:cNvPicPr>
            <a:picLocks noChangeAspect="1"/>
          </p:cNvPicPr>
          <p:nvPr/>
        </p:nvPicPr>
        <p:blipFill>
          <a:blip r:embed="rId3"/>
          <a:stretch>
            <a:fillRect/>
          </a:stretch>
        </p:blipFill>
        <p:spPr>
          <a:xfrm>
            <a:off x="226678" y="378008"/>
            <a:ext cx="2578357" cy="572968"/>
          </a:xfrm>
          <a:prstGeom prst="rect">
            <a:avLst/>
          </a:prstGeom>
        </p:spPr>
      </p:pic>
    </p:spTree>
    <p:extLst>
      <p:ext uri="{BB962C8B-B14F-4D97-AF65-F5344CB8AC3E}">
        <p14:creationId xmlns:p14="http://schemas.microsoft.com/office/powerpoint/2010/main" val="37498853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1368735" y="6400800"/>
            <a:ext cx="457200" cy="274320"/>
          </a:xfrm>
          <a:prstGeom prst="rect">
            <a:avLst/>
          </a:prstGeom>
          <a:noFill/>
          <a:ln/>
        </p:spPr>
        <p:txBody>
          <a:bodyPr wrap="square" rtlCol="0" anchor="ctr"/>
          <a:lstStyle/>
          <a:p>
            <a:pPr marL="0" indent="0" algn="r">
              <a:buNone/>
            </a:pPr>
            <a:r>
              <a:rPr lang="en-US" sz="1100" dirty="0">
                <a:solidFill>
                  <a:srgbClr val="6B7280"/>
                </a:solidFill>
              </a:rPr>
              <a:t>25</a:t>
            </a:r>
          </a:p>
        </p:txBody>
      </p:sp>
      <p:sp>
        <p:nvSpPr>
          <p:cNvPr id="4" name="Text 1"/>
          <p:cNvSpPr/>
          <p:nvPr/>
        </p:nvSpPr>
        <p:spPr>
          <a:xfrm>
            <a:off x="1463040" y="310896"/>
            <a:ext cx="9265615" cy="640080"/>
          </a:xfrm>
          <a:prstGeom prst="rect">
            <a:avLst/>
          </a:prstGeom>
          <a:noFill/>
          <a:ln/>
        </p:spPr>
        <p:txBody>
          <a:bodyPr wrap="square" lIns="0" tIns="0" rIns="0" bIns="0" rtlCol="0" anchor="ctr"/>
          <a:lstStyle/>
          <a:p>
            <a:pPr marL="0" indent="0" algn="ctr">
              <a:buNone/>
            </a:pPr>
            <a:r>
              <a:rPr lang="en-US" sz="2700" b="1" dirty="0">
                <a:solidFill>
                  <a:srgbClr val="002060"/>
                </a:solidFill>
                <a:latin typeface="Calibri" pitchFamily="34" charset="0"/>
              </a:rPr>
              <a:t>Summary</a:t>
            </a:r>
          </a:p>
        </p:txBody>
      </p:sp>
      <p:sp>
        <p:nvSpPr>
          <p:cNvPr id="5" name="Text 2"/>
          <p:cNvSpPr/>
          <p:nvPr/>
        </p:nvSpPr>
        <p:spPr>
          <a:xfrm>
            <a:off x="1005840" y="1417320"/>
            <a:ext cx="10180015" cy="640080"/>
          </a:xfrm>
          <a:prstGeom prst="rect">
            <a:avLst/>
          </a:prstGeom>
          <a:noFill/>
          <a:ln/>
        </p:spPr>
        <p:txBody>
          <a:bodyPr wrap="square" rtlCol="0" anchor="ctr"/>
          <a:lstStyle/>
          <a:p>
            <a:pPr marL="0" indent="0">
              <a:buNone/>
            </a:pPr>
            <a:r>
              <a:rPr lang="en-US" sz="1500" b="1" dirty="0">
                <a:solidFill>
                  <a:srgbClr val="002060"/>
                </a:solidFill>
              </a:rPr>
              <a:t>Goal:  </a:t>
            </a:r>
            <a:r>
              <a:rPr lang="en-US" sz="1400" dirty="0">
                <a:solidFill>
                  <a:srgbClr val="222222"/>
                </a:solidFill>
              </a:rPr>
              <a:t>a hands-free museum guide on Meta Aria that narrates the artwork the visitor stops in front of - in their language, at their level.</a:t>
            </a:r>
          </a:p>
        </p:txBody>
      </p:sp>
      <p:sp>
        <p:nvSpPr>
          <p:cNvPr id="6" name="Text 3"/>
          <p:cNvSpPr/>
          <p:nvPr/>
        </p:nvSpPr>
        <p:spPr>
          <a:xfrm>
            <a:off x="1005840" y="2240280"/>
            <a:ext cx="5852160" cy="365760"/>
          </a:xfrm>
          <a:prstGeom prst="rect">
            <a:avLst/>
          </a:prstGeom>
          <a:noFill/>
          <a:ln/>
        </p:spPr>
        <p:txBody>
          <a:bodyPr wrap="square" rtlCol="0" anchor="ctr"/>
          <a:lstStyle/>
          <a:p>
            <a:pPr marL="0" indent="0">
              <a:buNone/>
            </a:pPr>
            <a:r>
              <a:rPr lang="en-US" sz="1500" b="1" dirty="0">
                <a:solidFill>
                  <a:srgbClr val="002060"/>
                </a:solidFill>
              </a:rPr>
              <a:t>Delivered</a:t>
            </a:r>
          </a:p>
        </p:txBody>
      </p:sp>
      <p:sp>
        <p:nvSpPr>
          <p:cNvPr id="7" name="Text 4"/>
          <p:cNvSpPr/>
          <p:nvPr/>
        </p:nvSpPr>
        <p:spPr>
          <a:xfrm>
            <a:off x="1005840" y="2662997"/>
            <a:ext cx="5852160" cy="1828800"/>
          </a:xfrm>
          <a:prstGeom prst="rect">
            <a:avLst/>
          </a:prstGeom>
          <a:noFill/>
          <a:ln/>
        </p:spPr>
        <p:txBody>
          <a:bodyPr wrap="square" rtlCol="0" anchor="ctr"/>
          <a:lstStyle/>
          <a:p>
            <a:pPr marL="342900" indent="-342900">
              <a:spcAft>
                <a:spcPts val="800"/>
              </a:spcAft>
              <a:buSzPct val="100000"/>
              <a:buChar char="•"/>
            </a:pPr>
            <a:r>
              <a:rPr lang="en-US" sz="1400" dirty="0">
                <a:solidFill>
                  <a:srgbClr val="222222"/>
                </a:solidFill>
              </a:rPr>
              <a:t>Live end-to-end pipeline on the Aria stream, EN / FR / ES</a:t>
            </a:r>
          </a:p>
          <a:p>
            <a:pPr marL="342900" indent="-342900">
              <a:spcAft>
                <a:spcPts val="800"/>
              </a:spcAft>
              <a:buSzPct val="100000"/>
              <a:buChar char="•"/>
            </a:pPr>
            <a:r>
              <a:rPr lang="en-US" sz="1400" dirty="0">
                <a:solidFill>
                  <a:srgbClr val="222222"/>
                </a:solidFill>
              </a:rPr>
              <a:t>Motion-driven control: walk to pause, stop to resume where it left off</a:t>
            </a:r>
          </a:p>
          <a:p>
            <a:pPr marL="342900" indent="-342900">
              <a:spcAft>
                <a:spcPts val="800"/>
              </a:spcAft>
              <a:buSzPct val="100000"/>
              <a:buChar char="•"/>
            </a:pPr>
            <a:r>
              <a:rPr lang="en-US" sz="1400" dirty="0">
                <a:solidFill>
                  <a:srgbClr val="222222"/>
                </a:solidFill>
              </a:rPr>
              <a:t>Personalization by language, age, expertise and length - voice included</a:t>
            </a:r>
          </a:p>
          <a:p>
            <a:pPr marL="342900" indent="-342900">
              <a:spcAft>
                <a:spcPts val="800"/>
              </a:spcAft>
              <a:buSzPct val="100000"/>
              <a:buChar char="•"/>
            </a:pPr>
            <a:r>
              <a:rPr lang="en-US" sz="1400" dirty="0">
                <a:solidFill>
                  <a:srgbClr val="222222"/>
                </a:solidFill>
              </a:rPr>
              <a:t>Museum catalog turning open-set recognition into closed-set matching</a:t>
            </a:r>
          </a:p>
          <a:p>
            <a:pPr marL="342900" indent="-342900">
              <a:spcAft>
                <a:spcPts val="800"/>
              </a:spcAft>
              <a:buSzPct val="100000"/>
              <a:buChar char="•"/>
            </a:pPr>
            <a:r>
              <a:rPr lang="en-US" sz="1400" dirty="0">
                <a:solidFill>
                  <a:srgbClr val="222222"/>
                </a:solidFill>
              </a:rPr>
              <a:t>About 3 s to the first sound, about 8 s to the first generated sentence</a:t>
            </a:r>
          </a:p>
        </p:txBody>
      </p:sp>
      <p:sp>
        <p:nvSpPr>
          <p:cNvPr id="8" name="Text 5"/>
          <p:cNvSpPr/>
          <p:nvPr/>
        </p:nvSpPr>
        <p:spPr>
          <a:xfrm>
            <a:off x="1005840" y="4597400"/>
            <a:ext cx="5852160" cy="365760"/>
          </a:xfrm>
          <a:prstGeom prst="rect">
            <a:avLst/>
          </a:prstGeom>
          <a:noFill/>
          <a:ln/>
        </p:spPr>
        <p:txBody>
          <a:bodyPr wrap="square" rtlCol="0" anchor="ctr"/>
          <a:lstStyle/>
          <a:p>
            <a:pPr marL="0" indent="0">
              <a:buNone/>
            </a:pPr>
            <a:r>
              <a:rPr lang="en-US" sz="1350" dirty="0">
                <a:solidFill>
                  <a:srgbClr val="222222"/>
                </a:solidFill>
              </a:rPr>
              <a:t>Field-tested at the Tel Aviv Museum of Art: 5 of 5 works recognized in the Tom Wesselmann exhibition, with an 11-work catalog.</a:t>
            </a:r>
          </a:p>
        </p:txBody>
      </p:sp>
      <p:sp>
        <p:nvSpPr>
          <p:cNvPr id="9" name="Shape 6"/>
          <p:cNvSpPr/>
          <p:nvPr/>
        </p:nvSpPr>
        <p:spPr>
          <a:xfrm>
            <a:off x="7223760" y="2240280"/>
            <a:ext cx="3931920" cy="3566160"/>
          </a:xfrm>
          <a:prstGeom prst="roundRect">
            <a:avLst>
              <a:gd name="adj" fmla="val 1795"/>
            </a:avLst>
          </a:prstGeom>
          <a:solidFill>
            <a:srgbClr val="EEF3F8"/>
          </a:solidFill>
          <a:ln w="12700">
            <a:solidFill>
              <a:srgbClr val="D7DEE8"/>
            </a:solidFill>
            <a:prstDash val="solid"/>
          </a:ln>
          <a:effectLst>
            <a:outerShdw blurRad="88900" dist="38100" dir="8100000" algn="bl" rotWithShape="0">
              <a:srgbClr val="000000">
                <a:alpha val="13000"/>
              </a:srgbClr>
            </a:outerShdw>
          </a:effectLst>
        </p:spPr>
        <p:txBody>
          <a:bodyPr/>
          <a:lstStyle/>
          <a:p>
            <a:endParaRPr lang="fr-FR"/>
          </a:p>
        </p:txBody>
      </p:sp>
      <p:sp>
        <p:nvSpPr>
          <p:cNvPr id="10" name="Text 7"/>
          <p:cNvSpPr/>
          <p:nvPr/>
        </p:nvSpPr>
        <p:spPr>
          <a:xfrm>
            <a:off x="7452360" y="2377440"/>
            <a:ext cx="3566160" cy="365760"/>
          </a:xfrm>
          <a:prstGeom prst="rect">
            <a:avLst/>
          </a:prstGeom>
          <a:noFill/>
          <a:ln/>
        </p:spPr>
        <p:txBody>
          <a:bodyPr wrap="square" rtlCol="0" anchor="ctr"/>
          <a:lstStyle/>
          <a:p>
            <a:pPr marL="0" indent="0">
              <a:buNone/>
            </a:pPr>
            <a:r>
              <a:rPr lang="en-US" sz="1500" b="1" dirty="0">
                <a:solidFill>
                  <a:srgbClr val="002060"/>
                </a:solidFill>
              </a:rPr>
              <a:t>Why it is new</a:t>
            </a:r>
          </a:p>
        </p:txBody>
      </p:sp>
      <p:sp>
        <p:nvSpPr>
          <p:cNvPr id="11" name="Shape 8"/>
          <p:cNvSpPr/>
          <p:nvPr/>
        </p:nvSpPr>
        <p:spPr>
          <a:xfrm>
            <a:off x="7452360" y="2880360"/>
            <a:ext cx="3520440" cy="777240"/>
          </a:xfrm>
          <a:prstGeom prst="roundRect">
            <a:avLst>
              <a:gd name="adj" fmla="val 7059"/>
            </a:avLst>
          </a:prstGeom>
          <a:solidFill>
            <a:srgbClr val="FFFFFF"/>
          </a:solidFill>
          <a:ln w="12700">
            <a:solidFill>
              <a:srgbClr val="D7DEE8"/>
            </a:solidFill>
            <a:prstDash val="solid"/>
          </a:ln>
        </p:spPr>
        <p:txBody>
          <a:bodyPr/>
          <a:lstStyle/>
          <a:p>
            <a:endParaRPr lang="fr-FR"/>
          </a:p>
        </p:txBody>
      </p:sp>
      <p:sp>
        <p:nvSpPr>
          <p:cNvPr id="12" name="Shape 9"/>
          <p:cNvSpPr/>
          <p:nvPr/>
        </p:nvSpPr>
        <p:spPr>
          <a:xfrm>
            <a:off x="7452360" y="2880360"/>
            <a:ext cx="82296" cy="777240"/>
          </a:xfrm>
          <a:prstGeom prst="rect">
            <a:avLst/>
          </a:prstGeom>
          <a:solidFill>
            <a:srgbClr val="2E8B8B"/>
          </a:solidFill>
          <a:ln/>
        </p:spPr>
        <p:txBody>
          <a:bodyPr/>
          <a:lstStyle/>
          <a:p>
            <a:endParaRPr lang="fr-FR"/>
          </a:p>
        </p:txBody>
      </p:sp>
      <p:sp>
        <p:nvSpPr>
          <p:cNvPr id="13" name="Text 10"/>
          <p:cNvSpPr/>
          <p:nvPr/>
        </p:nvSpPr>
        <p:spPr>
          <a:xfrm>
            <a:off x="7680960" y="2971800"/>
            <a:ext cx="3108960" cy="320040"/>
          </a:xfrm>
          <a:prstGeom prst="rect">
            <a:avLst/>
          </a:prstGeom>
          <a:noFill/>
          <a:ln/>
        </p:spPr>
        <p:txBody>
          <a:bodyPr wrap="square" rtlCol="0" anchor="ctr"/>
          <a:lstStyle/>
          <a:p>
            <a:pPr marL="0" indent="0">
              <a:buNone/>
            </a:pPr>
            <a:r>
              <a:rPr lang="en-US" sz="1400" b="1" dirty="0">
                <a:solidFill>
                  <a:srgbClr val="002060"/>
                </a:solidFill>
              </a:rPr>
              <a:t>Attention-driven</a:t>
            </a:r>
          </a:p>
        </p:txBody>
      </p:sp>
      <p:sp>
        <p:nvSpPr>
          <p:cNvPr id="14" name="Text 11"/>
          <p:cNvSpPr/>
          <p:nvPr/>
        </p:nvSpPr>
        <p:spPr>
          <a:xfrm>
            <a:off x="7680960" y="3300984"/>
            <a:ext cx="3108960" cy="320040"/>
          </a:xfrm>
          <a:prstGeom prst="rect">
            <a:avLst/>
          </a:prstGeom>
          <a:noFill/>
          <a:ln/>
        </p:spPr>
        <p:txBody>
          <a:bodyPr wrap="square" rtlCol="0" anchor="ctr"/>
          <a:lstStyle/>
          <a:p>
            <a:pPr marL="0" indent="0">
              <a:buNone/>
            </a:pPr>
            <a:r>
              <a:rPr lang="en-US" sz="1200" dirty="0">
                <a:solidFill>
                  <a:srgbClr val="222222"/>
                </a:solidFill>
              </a:rPr>
              <a:t>narration follows where the visitor stops</a:t>
            </a:r>
          </a:p>
        </p:txBody>
      </p:sp>
      <p:sp>
        <p:nvSpPr>
          <p:cNvPr id="15" name="Shape 12"/>
          <p:cNvSpPr/>
          <p:nvPr/>
        </p:nvSpPr>
        <p:spPr>
          <a:xfrm>
            <a:off x="7452360" y="3794760"/>
            <a:ext cx="3520440" cy="777240"/>
          </a:xfrm>
          <a:prstGeom prst="roundRect">
            <a:avLst>
              <a:gd name="adj" fmla="val 7059"/>
            </a:avLst>
          </a:prstGeom>
          <a:solidFill>
            <a:srgbClr val="FFFFFF"/>
          </a:solidFill>
          <a:ln w="12700">
            <a:solidFill>
              <a:srgbClr val="D7DEE8"/>
            </a:solidFill>
            <a:prstDash val="solid"/>
          </a:ln>
        </p:spPr>
        <p:txBody>
          <a:bodyPr/>
          <a:lstStyle/>
          <a:p>
            <a:endParaRPr lang="fr-FR"/>
          </a:p>
        </p:txBody>
      </p:sp>
      <p:sp>
        <p:nvSpPr>
          <p:cNvPr id="16" name="Shape 13"/>
          <p:cNvSpPr/>
          <p:nvPr/>
        </p:nvSpPr>
        <p:spPr>
          <a:xfrm>
            <a:off x="7452360" y="3794760"/>
            <a:ext cx="82296" cy="777240"/>
          </a:xfrm>
          <a:prstGeom prst="rect">
            <a:avLst/>
          </a:prstGeom>
          <a:solidFill>
            <a:srgbClr val="5B4B8A"/>
          </a:solidFill>
          <a:ln/>
        </p:spPr>
        <p:txBody>
          <a:bodyPr/>
          <a:lstStyle/>
          <a:p>
            <a:endParaRPr lang="fr-FR"/>
          </a:p>
        </p:txBody>
      </p:sp>
      <p:sp>
        <p:nvSpPr>
          <p:cNvPr id="17" name="Text 14"/>
          <p:cNvSpPr/>
          <p:nvPr/>
        </p:nvSpPr>
        <p:spPr>
          <a:xfrm>
            <a:off x="7680960" y="3886200"/>
            <a:ext cx="3108960" cy="320040"/>
          </a:xfrm>
          <a:prstGeom prst="rect">
            <a:avLst/>
          </a:prstGeom>
          <a:noFill/>
          <a:ln/>
        </p:spPr>
        <p:txBody>
          <a:bodyPr wrap="square" rtlCol="0" anchor="ctr"/>
          <a:lstStyle/>
          <a:p>
            <a:pPr marL="0" indent="0">
              <a:buNone/>
            </a:pPr>
            <a:r>
              <a:rPr lang="en-US" sz="1400" b="1" dirty="0">
                <a:solidFill>
                  <a:srgbClr val="002060"/>
                </a:solidFill>
              </a:rPr>
              <a:t>Catalog-assisted</a:t>
            </a:r>
          </a:p>
        </p:txBody>
      </p:sp>
      <p:sp>
        <p:nvSpPr>
          <p:cNvPr id="18" name="Text 15"/>
          <p:cNvSpPr/>
          <p:nvPr/>
        </p:nvSpPr>
        <p:spPr>
          <a:xfrm>
            <a:off x="7680960" y="4215384"/>
            <a:ext cx="3108960" cy="320040"/>
          </a:xfrm>
          <a:prstGeom prst="rect">
            <a:avLst/>
          </a:prstGeom>
          <a:noFill/>
          <a:ln/>
        </p:spPr>
        <p:txBody>
          <a:bodyPr wrap="square" rtlCol="0" anchor="ctr"/>
          <a:lstStyle/>
          <a:p>
            <a:pPr marL="0" indent="0">
              <a:buNone/>
            </a:pPr>
            <a:r>
              <a:rPr lang="en-US" sz="1200" dirty="0">
                <a:solidFill>
                  <a:srgbClr val="222222"/>
                </a:solidFill>
              </a:rPr>
              <a:t>a bare list of titles is enough</a:t>
            </a:r>
          </a:p>
        </p:txBody>
      </p:sp>
      <p:sp>
        <p:nvSpPr>
          <p:cNvPr id="19" name="Shape 16"/>
          <p:cNvSpPr/>
          <p:nvPr/>
        </p:nvSpPr>
        <p:spPr>
          <a:xfrm>
            <a:off x="7452360" y="4709160"/>
            <a:ext cx="3520440" cy="777240"/>
          </a:xfrm>
          <a:prstGeom prst="roundRect">
            <a:avLst>
              <a:gd name="adj" fmla="val 7059"/>
            </a:avLst>
          </a:prstGeom>
          <a:solidFill>
            <a:srgbClr val="FFFFFF"/>
          </a:solidFill>
          <a:ln w="12700">
            <a:solidFill>
              <a:srgbClr val="D7DEE8"/>
            </a:solidFill>
            <a:prstDash val="solid"/>
          </a:ln>
        </p:spPr>
        <p:txBody>
          <a:bodyPr/>
          <a:lstStyle/>
          <a:p>
            <a:endParaRPr lang="fr-FR"/>
          </a:p>
        </p:txBody>
      </p:sp>
      <p:sp>
        <p:nvSpPr>
          <p:cNvPr id="20" name="Shape 17"/>
          <p:cNvSpPr/>
          <p:nvPr/>
        </p:nvSpPr>
        <p:spPr>
          <a:xfrm>
            <a:off x="7452360" y="4709160"/>
            <a:ext cx="82296" cy="777240"/>
          </a:xfrm>
          <a:prstGeom prst="rect">
            <a:avLst/>
          </a:prstGeom>
          <a:solidFill>
            <a:srgbClr val="C2671A"/>
          </a:solidFill>
          <a:ln/>
        </p:spPr>
        <p:txBody>
          <a:bodyPr/>
          <a:lstStyle/>
          <a:p>
            <a:endParaRPr lang="fr-FR"/>
          </a:p>
        </p:txBody>
      </p:sp>
      <p:sp>
        <p:nvSpPr>
          <p:cNvPr id="21" name="Text 18"/>
          <p:cNvSpPr/>
          <p:nvPr/>
        </p:nvSpPr>
        <p:spPr>
          <a:xfrm>
            <a:off x="7680960" y="4800600"/>
            <a:ext cx="3108960" cy="320040"/>
          </a:xfrm>
          <a:prstGeom prst="rect">
            <a:avLst/>
          </a:prstGeom>
          <a:noFill/>
          <a:ln/>
        </p:spPr>
        <p:txBody>
          <a:bodyPr wrap="square" rtlCol="0" anchor="ctr"/>
          <a:lstStyle/>
          <a:p>
            <a:pPr marL="0" indent="0">
              <a:buNone/>
            </a:pPr>
            <a:r>
              <a:rPr lang="en-US" sz="1400" b="1" dirty="0">
                <a:solidFill>
                  <a:srgbClr val="002060"/>
                </a:solidFill>
              </a:rPr>
              <a:t>Personalized</a:t>
            </a:r>
          </a:p>
        </p:txBody>
      </p:sp>
      <p:sp>
        <p:nvSpPr>
          <p:cNvPr id="22" name="Text 19"/>
          <p:cNvSpPr/>
          <p:nvPr/>
        </p:nvSpPr>
        <p:spPr>
          <a:xfrm>
            <a:off x="7680960" y="5129784"/>
            <a:ext cx="3108960" cy="320040"/>
          </a:xfrm>
          <a:prstGeom prst="rect">
            <a:avLst/>
          </a:prstGeom>
          <a:noFill/>
          <a:ln/>
        </p:spPr>
        <p:txBody>
          <a:bodyPr wrap="square" rtlCol="0" anchor="ctr"/>
          <a:lstStyle/>
          <a:p>
            <a:pPr marL="0" indent="0">
              <a:buNone/>
            </a:pPr>
            <a:r>
              <a:rPr lang="en-US" sz="1200" dirty="0">
                <a:solidFill>
                  <a:srgbClr val="222222"/>
                </a:solidFill>
              </a:rPr>
              <a:t>language, age, expertise, length</a:t>
            </a:r>
          </a:p>
        </p:txBody>
      </p:sp>
      <p:sp>
        <p:nvSpPr>
          <p:cNvPr id="23" name="Text 20"/>
          <p:cNvSpPr/>
          <p:nvPr/>
        </p:nvSpPr>
        <p:spPr>
          <a:xfrm>
            <a:off x="1005840" y="5989320"/>
            <a:ext cx="10180015" cy="365760"/>
          </a:xfrm>
          <a:prstGeom prst="rect">
            <a:avLst/>
          </a:prstGeom>
          <a:noFill/>
          <a:ln/>
        </p:spPr>
        <p:txBody>
          <a:bodyPr wrap="square" rtlCol="0" anchor="ctr"/>
          <a:lstStyle/>
          <a:p>
            <a:pPr marL="0" indent="0">
              <a:buNone/>
            </a:pPr>
            <a:r>
              <a:rPr lang="en-US" sz="1300" i="1" dirty="0">
                <a:solidFill>
                  <a:srgbClr val="0E7490"/>
                </a:solidFill>
              </a:rPr>
              <a:t>Next: visual re-recognition, catalogs at exhibition scale, streaming TTS, on-device model, port to Meta Ray-Ban.</a:t>
            </a:r>
          </a:p>
        </p:txBody>
      </p:sp>
      <p:pic>
        <p:nvPicPr>
          <p:cNvPr id="24" name="Image 23">
            <a:extLst>
              <a:ext uri="{FF2B5EF4-FFF2-40B4-BE49-F238E27FC236}">
                <a16:creationId xmlns:a16="http://schemas.microsoft.com/office/drawing/2014/main" id="{A86CA23B-BB02-0DB6-9903-C30AF1AE93D3}"/>
              </a:ext>
            </a:extLst>
          </p:cNvPr>
          <p:cNvPicPr>
            <a:picLocks noChangeAspect="1"/>
          </p:cNvPicPr>
          <p:nvPr/>
        </p:nvPicPr>
        <p:blipFill>
          <a:blip r:embed="rId3"/>
          <a:stretch>
            <a:fillRect/>
          </a:stretch>
        </p:blipFill>
        <p:spPr>
          <a:xfrm>
            <a:off x="226678" y="378008"/>
            <a:ext cx="2578357" cy="572968"/>
          </a:xfrm>
          <a:prstGeom prst="rect">
            <a:avLst/>
          </a:prstGeom>
        </p:spPr>
      </p:pic>
      <p:sp>
        <p:nvSpPr>
          <p:cNvPr id="2" name="Key conclusions">
            <a:extLst>
              <a:ext uri="{FF2B5EF4-FFF2-40B4-BE49-F238E27FC236}">
                <a16:creationId xmlns:a16="http://schemas.microsoft.com/office/drawing/2014/main" id="{7796C5C4-C2EB-9946-B7FD-B42ED6D58D36}"/>
              </a:ext>
            </a:extLst>
          </p:cNvPr>
          <p:cNvSpPr txBox="1"/>
          <p:nvPr/>
        </p:nvSpPr>
        <p:spPr>
          <a:xfrm>
            <a:off x="1003300" y="5105400"/>
            <a:ext cx="5854700" cy="736600"/>
          </a:xfrm>
          <a:prstGeom prst="rect">
            <a:avLst/>
          </a:prstGeom>
          <a:noFill/>
        </p:spPr>
        <p:txBody>
          <a:bodyPr vertOverflow="overflow" vert="horz" wrap="square" rtlCol="0" anchor="t">
            <a:noAutofit/>
          </a:bodyPr>
          <a:lstStyle/>
          <a:p>
            <a:pPr algn="l"/>
            <a:r>
              <a:rPr lang="fr-FR" sz="1300">
                <a:solidFill>
                  <a:srgbClr val="002060"/>
                </a:solidFill>
              </a:rPr>
              <a:t>Key conclusions: visitor motion is a better control signal than field of view · matching against a closed list beats open-set recognition · hiding latency is as effective as shortening it.</a:t>
            </a:r>
          </a:p>
        </p:txBody>
      </p:sp>
    </p:spTree>
    <p:extLst>
      <p:ext uri="{BB962C8B-B14F-4D97-AF65-F5344CB8AC3E}">
        <p14:creationId xmlns:p14="http://schemas.microsoft.com/office/powerpoint/2010/main" val="38413462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ACF31B3D-8536-6846-9703-B63399018DB4}"/>
              </a:ext>
            </a:extLst>
          </p:cNvPr>
          <p:cNvSpPr txBox="1"/>
          <p:nvPr/>
        </p:nvSpPr>
        <p:spPr>
          <a:xfrm>
            <a:off x="1463040" y="311150"/>
            <a:ext cx="9265920" cy="640080"/>
          </a:xfrm>
          <a:prstGeom prst="rect">
            <a:avLst/>
          </a:prstGeom>
          <a:noFill/>
        </p:spPr>
        <p:txBody>
          <a:bodyPr vertOverflow="overflow" vert="horz" wrap="square" rtlCol="0" anchor="t">
            <a:noAutofit/>
          </a:bodyPr>
          <a:lstStyle/>
          <a:p>
            <a:pPr marL="0" indent="0" algn="ctr">
              <a:buNone/>
            </a:pPr>
            <a:r>
              <a:rPr lang="en-US" sz="2700" b="1" dirty="0">
                <a:solidFill>
                  <a:srgbClr val="002060"/>
                </a:solidFill>
                <a:latin typeface="Calibri"/>
              </a:rPr>
              <a:t>Acknowledgements</a:t>
            </a:r>
          </a:p>
        </p:txBody>
      </p:sp>
      <p:sp>
        <p:nvSpPr>
          <p:cNvPr id="3" name="Rectangle : coins arrondis 2">
            <a:extLst>
              <a:ext uri="{FF2B5EF4-FFF2-40B4-BE49-F238E27FC236}">
                <a16:creationId xmlns:a16="http://schemas.microsoft.com/office/drawing/2014/main" id="{BA9E7157-D2CC-E34E-8182-850F7A20F3B0}"/>
              </a:ext>
            </a:extLst>
          </p:cNvPr>
          <p:cNvSpPr/>
          <p:nvPr/>
        </p:nvSpPr>
        <p:spPr>
          <a:xfrm>
            <a:off x="1005840" y="1498600"/>
            <a:ext cx="10180320" cy="1905000"/>
          </a:xfrm>
          <a:prstGeom prst="roundRect">
            <a:avLst/>
          </a:prstGeom>
          <a:solidFill>
            <a:srgbClr val="EEF3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4" name="Rectangle 3">
            <a:extLst>
              <a:ext uri="{FF2B5EF4-FFF2-40B4-BE49-F238E27FC236}">
                <a16:creationId xmlns:a16="http://schemas.microsoft.com/office/drawing/2014/main" id="{E2F4825E-6819-8A44-8DF7-73F0945BED34}"/>
              </a:ext>
            </a:extLst>
          </p:cNvPr>
          <p:cNvSpPr/>
          <p:nvPr/>
        </p:nvSpPr>
        <p:spPr>
          <a:xfrm>
            <a:off x="1005840" y="1498600"/>
            <a:ext cx="109220" cy="1905000"/>
          </a:xfrm>
          <a:prstGeom prst="rect">
            <a:avLst/>
          </a:prstGeom>
          <a:solidFill>
            <a:srgbClr val="2E8B8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5" name="ZoneTexte 4">
            <a:extLst>
              <a:ext uri="{FF2B5EF4-FFF2-40B4-BE49-F238E27FC236}">
                <a16:creationId xmlns:a16="http://schemas.microsoft.com/office/drawing/2014/main" id="{4861AF20-33F5-0D47-BC60-C5B27AAC1A0C}"/>
              </a:ext>
            </a:extLst>
          </p:cNvPr>
          <p:cNvSpPr txBox="1"/>
          <p:nvPr/>
        </p:nvSpPr>
        <p:spPr>
          <a:xfrm>
            <a:off x="1371600" y="1752600"/>
            <a:ext cx="9525000" cy="381000"/>
          </a:xfrm>
          <a:prstGeom prst="rect">
            <a:avLst/>
          </a:prstGeom>
          <a:noFill/>
        </p:spPr>
        <p:txBody>
          <a:bodyPr vertOverflow="overflow" vert="horz" wrap="square" rtlCol="0" anchor="t">
            <a:noAutofit/>
          </a:bodyPr>
          <a:lstStyle/>
          <a:p>
            <a:pPr algn="l"/>
            <a:r>
              <a:rPr lang="fr-FR" b="1" dirty="0">
                <a:solidFill>
                  <a:srgbClr val="002060"/>
                </a:solidFill>
              </a:rPr>
              <a:t>Ben </a:t>
            </a:r>
            <a:r>
              <a:rPr lang="fr-FR" b="1" dirty="0" err="1">
                <a:solidFill>
                  <a:srgbClr val="002060"/>
                </a:solidFill>
              </a:rPr>
              <a:t>Kretzu</a:t>
            </a:r>
            <a:r>
              <a:rPr lang="fr-FR" b="1" dirty="0">
                <a:solidFill>
                  <a:srgbClr val="002060"/>
                </a:solidFill>
              </a:rPr>
              <a:t>  -  </a:t>
            </a:r>
            <a:r>
              <a:rPr lang="fr-FR" b="1" dirty="0" err="1">
                <a:solidFill>
                  <a:srgbClr val="002060"/>
                </a:solidFill>
              </a:rPr>
              <a:t>project</a:t>
            </a:r>
            <a:r>
              <a:rPr lang="fr-FR" b="1" dirty="0">
                <a:solidFill>
                  <a:srgbClr val="002060"/>
                </a:solidFill>
              </a:rPr>
              <a:t> </a:t>
            </a:r>
            <a:r>
              <a:rPr lang="fr-FR" b="1" dirty="0" err="1">
                <a:solidFill>
                  <a:srgbClr val="002060"/>
                </a:solidFill>
              </a:rPr>
              <a:t>supervisor</a:t>
            </a:r>
            <a:endParaRPr lang="fr-FR" b="1" dirty="0">
              <a:solidFill>
                <a:srgbClr val="002060"/>
              </a:solidFill>
            </a:endParaRPr>
          </a:p>
        </p:txBody>
      </p:sp>
      <p:sp>
        <p:nvSpPr>
          <p:cNvPr id="6" name="ZoneTexte 5">
            <a:extLst>
              <a:ext uri="{FF2B5EF4-FFF2-40B4-BE49-F238E27FC236}">
                <a16:creationId xmlns:a16="http://schemas.microsoft.com/office/drawing/2014/main" id="{E2179EEB-E4D2-0B4A-9098-5E255AC0BABF}"/>
              </a:ext>
            </a:extLst>
          </p:cNvPr>
          <p:cNvSpPr txBox="1"/>
          <p:nvPr/>
        </p:nvSpPr>
        <p:spPr>
          <a:xfrm>
            <a:off x="1371600" y="2235200"/>
            <a:ext cx="9525000" cy="787400"/>
          </a:xfrm>
          <a:prstGeom prst="rect">
            <a:avLst/>
          </a:prstGeom>
          <a:noFill/>
        </p:spPr>
        <p:txBody>
          <a:bodyPr vertOverflow="overflow" vert="horz" wrap="square" rtlCol="0" anchor="t">
            <a:noAutofit/>
          </a:bodyPr>
          <a:lstStyle/>
          <a:p>
            <a:pPr algn="l"/>
            <a:r>
              <a:rPr lang="fr-FR" sz="1400" dirty="0">
                <a:solidFill>
                  <a:srgbClr val="222222"/>
                </a:solidFill>
              </a:rPr>
              <a:t>For </a:t>
            </a:r>
            <a:r>
              <a:rPr lang="fr-FR" sz="1400" dirty="0" err="1">
                <a:solidFill>
                  <a:srgbClr val="222222"/>
                </a:solidFill>
              </a:rPr>
              <a:t>being</a:t>
            </a:r>
            <a:r>
              <a:rPr lang="fr-FR" sz="1400" dirty="0">
                <a:solidFill>
                  <a:srgbClr val="222222"/>
                </a:solidFill>
              </a:rPr>
              <a:t> </a:t>
            </a:r>
            <a:r>
              <a:rPr lang="fr-FR" sz="1400" dirty="0" err="1">
                <a:solidFill>
                  <a:srgbClr val="222222"/>
                </a:solidFill>
              </a:rPr>
              <a:t>available</a:t>
            </a:r>
            <a:r>
              <a:rPr lang="fr-FR" sz="1400" dirty="0">
                <a:solidFill>
                  <a:srgbClr val="222222"/>
                </a:solidFill>
              </a:rPr>
              <a:t> </a:t>
            </a:r>
            <a:r>
              <a:rPr lang="fr-FR" sz="1400" dirty="0" err="1">
                <a:solidFill>
                  <a:srgbClr val="222222"/>
                </a:solidFill>
              </a:rPr>
              <a:t>throughout</a:t>
            </a:r>
            <a:r>
              <a:rPr lang="fr-FR" sz="1400" dirty="0">
                <a:solidFill>
                  <a:srgbClr val="222222"/>
                </a:solidFill>
              </a:rPr>
              <a:t> the </a:t>
            </a:r>
            <a:r>
              <a:rPr lang="fr-FR" sz="1400" dirty="0" err="1">
                <a:solidFill>
                  <a:srgbClr val="222222"/>
                </a:solidFill>
              </a:rPr>
              <a:t>project</a:t>
            </a:r>
            <a:r>
              <a:rPr lang="fr-FR" sz="1400" dirty="0">
                <a:solidFill>
                  <a:srgbClr val="222222"/>
                </a:solidFill>
              </a:rPr>
              <a:t>, for </a:t>
            </a:r>
            <a:r>
              <a:rPr lang="fr-FR" sz="1400" dirty="0" err="1">
                <a:solidFill>
                  <a:srgbClr val="222222"/>
                </a:solidFill>
              </a:rPr>
              <a:t>listening</a:t>
            </a:r>
            <a:r>
              <a:rPr lang="fr-FR" sz="1400" dirty="0">
                <a:solidFill>
                  <a:srgbClr val="222222"/>
                </a:solidFill>
              </a:rPr>
              <a:t> </a:t>
            </a:r>
            <a:r>
              <a:rPr lang="fr-FR" sz="1400" dirty="0" err="1">
                <a:solidFill>
                  <a:srgbClr val="222222"/>
                </a:solidFill>
              </a:rPr>
              <a:t>carefully</a:t>
            </a:r>
            <a:r>
              <a:rPr lang="fr-FR" sz="1400" dirty="0">
                <a:solidFill>
                  <a:srgbClr val="222222"/>
                </a:solidFill>
              </a:rPr>
              <a:t> </a:t>
            </a:r>
            <a:r>
              <a:rPr lang="fr-FR" sz="1400" dirty="0" err="1">
                <a:solidFill>
                  <a:srgbClr val="222222"/>
                </a:solidFill>
              </a:rPr>
              <a:t>whenever</a:t>
            </a:r>
            <a:r>
              <a:rPr lang="fr-FR" sz="1400" dirty="0">
                <a:solidFill>
                  <a:srgbClr val="222222"/>
                </a:solidFill>
              </a:rPr>
              <a:t> </a:t>
            </a:r>
            <a:r>
              <a:rPr lang="fr-FR" sz="1400" dirty="0" err="1">
                <a:solidFill>
                  <a:srgbClr val="222222"/>
                </a:solidFill>
              </a:rPr>
              <a:t>we</a:t>
            </a:r>
            <a:r>
              <a:rPr lang="fr-FR" sz="1400" dirty="0">
                <a:solidFill>
                  <a:srgbClr val="222222"/>
                </a:solidFill>
              </a:rPr>
              <a:t> </a:t>
            </a:r>
            <a:r>
              <a:rPr lang="fr-FR" sz="1400" dirty="0" err="1">
                <a:solidFill>
                  <a:srgbClr val="222222"/>
                </a:solidFill>
              </a:rPr>
              <a:t>were</a:t>
            </a:r>
            <a:r>
              <a:rPr lang="fr-FR" sz="1400" dirty="0">
                <a:solidFill>
                  <a:srgbClr val="222222"/>
                </a:solidFill>
              </a:rPr>
              <a:t> </a:t>
            </a:r>
            <a:r>
              <a:rPr lang="fr-FR" sz="1400" dirty="0" err="1">
                <a:solidFill>
                  <a:srgbClr val="222222"/>
                </a:solidFill>
              </a:rPr>
              <a:t>stuck</a:t>
            </a:r>
            <a:r>
              <a:rPr lang="fr-FR" sz="1400" dirty="0">
                <a:solidFill>
                  <a:srgbClr val="222222"/>
                </a:solidFill>
              </a:rPr>
              <a:t>, and for </a:t>
            </a:r>
            <a:r>
              <a:rPr lang="fr-FR" sz="1400" dirty="0" err="1">
                <a:solidFill>
                  <a:srgbClr val="222222"/>
                </a:solidFill>
              </a:rPr>
              <a:t>advice</a:t>
            </a:r>
            <a:r>
              <a:rPr lang="fr-FR" sz="1400" dirty="0">
                <a:solidFill>
                  <a:srgbClr val="222222"/>
                </a:solidFill>
              </a:rPr>
              <a:t> </a:t>
            </a:r>
            <a:r>
              <a:rPr lang="fr-FR" sz="1400" dirty="0" err="1">
                <a:solidFill>
                  <a:srgbClr val="222222"/>
                </a:solidFill>
              </a:rPr>
              <a:t>that</a:t>
            </a:r>
            <a:r>
              <a:rPr lang="fr-FR" sz="1400" dirty="0">
                <a:solidFill>
                  <a:srgbClr val="222222"/>
                </a:solidFill>
              </a:rPr>
              <a:t> </a:t>
            </a:r>
            <a:r>
              <a:rPr lang="fr-FR" sz="1400" dirty="0" err="1">
                <a:solidFill>
                  <a:srgbClr val="222222"/>
                </a:solidFill>
              </a:rPr>
              <a:t>shaped</a:t>
            </a:r>
            <a:r>
              <a:rPr lang="fr-FR" sz="1400" dirty="0">
                <a:solidFill>
                  <a:srgbClr val="222222"/>
                </a:solidFill>
              </a:rPr>
              <a:t> the key design </a:t>
            </a:r>
            <a:r>
              <a:rPr lang="fr-FR" sz="1400" dirty="0" err="1">
                <a:solidFill>
                  <a:srgbClr val="222222"/>
                </a:solidFill>
              </a:rPr>
              <a:t>decisions</a:t>
            </a:r>
            <a:r>
              <a:rPr lang="fr-FR" sz="1400" dirty="0">
                <a:solidFill>
                  <a:srgbClr val="222222"/>
                </a:solidFill>
              </a:rPr>
              <a:t> of </a:t>
            </a:r>
            <a:r>
              <a:rPr lang="fr-FR" sz="1400" dirty="0" err="1">
                <a:solidFill>
                  <a:srgbClr val="222222"/>
                </a:solidFill>
              </a:rPr>
              <a:t>this</a:t>
            </a:r>
            <a:r>
              <a:rPr lang="fr-FR" sz="1400" dirty="0">
                <a:solidFill>
                  <a:srgbClr val="222222"/>
                </a:solidFill>
              </a:rPr>
              <a:t> system.</a:t>
            </a:r>
          </a:p>
        </p:txBody>
      </p:sp>
      <p:sp>
        <p:nvSpPr>
          <p:cNvPr id="7" name="Rectangle : coins arrondis 6">
            <a:extLst>
              <a:ext uri="{FF2B5EF4-FFF2-40B4-BE49-F238E27FC236}">
                <a16:creationId xmlns:a16="http://schemas.microsoft.com/office/drawing/2014/main" id="{04FDBEB6-FEF3-D944-9A68-A6270260BE51}"/>
              </a:ext>
            </a:extLst>
          </p:cNvPr>
          <p:cNvSpPr/>
          <p:nvPr/>
        </p:nvSpPr>
        <p:spPr>
          <a:xfrm>
            <a:off x="1005840" y="3657600"/>
            <a:ext cx="10180320" cy="1905000"/>
          </a:xfrm>
          <a:prstGeom prst="roundRect">
            <a:avLst/>
          </a:prstGeom>
          <a:solidFill>
            <a:srgbClr val="EEF3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8" name="Rectangle 7">
            <a:extLst>
              <a:ext uri="{FF2B5EF4-FFF2-40B4-BE49-F238E27FC236}">
                <a16:creationId xmlns:a16="http://schemas.microsoft.com/office/drawing/2014/main" id="{3F50F953-31F9-AC49-AE5A-78F1987BD7EE}"/>
              </a:ext>
            </a:extLst>
          </p:cNvPr>
          <p:cNvSpPr/>
          <p:nvPr/>
        </p:nvSpPr>
        <p:spPr>
          <a:xfrm>
            <a:off x="1005840" y="3657600"/>
            <a:ext cx="109220" cy="1905000"/>
          </a:xfrm>
          <a:prstGeom prst="rect">
            <a:avLst/>
          </a:prstGeom>
          <a:solidFill>
            <a:srgbClr val="5B4B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9" name="ZoneTexte 8">
            <a:extLst>
              <a:ext uri="{FF2B5EF4-FFF2-40B4-BE49-F238E27FC236}">
                <a16:creationId xmlns:a16="http://schemas.microsoft.com/office/drawing/2014/main" id="{531E8CE5-C9BC-0E46-B69A-931C84289728}"/>
              </a:ext>
            </a:extLst>
          </p:cNvPr>
          <p:cNvSpPr txBox="1"/>
          <p:nvPr/>
        </p:nvSpPr>
        <p:spPr>
          <a:xfrm>
            <a:off x="1371600" y="3911600"/>
            <a:ext cx="9525000" cy="381000"/>
          </a:xfrm>
          <a:prstGeom prst="rect">
            <a:avLst/>
          </a:prstGeom>
          <a:noFill/>
        </p:spPr>
        <p:txBody>
          <a:bodyPr vertOverflow="overflow" vert="horz" wrap="square" rtlCol="0" anchor="t">
            <a:noAutofit/>
          </a:bodyPr>
          <a:lstStyle/>
          <a:p>
            <a:pPr algn="l"/>
            <a:r>
              <a:rPr lang="fr-FR" b="1">
                <a:solidFill>
                  <a:srgbClr val="002060"/>
                </a:solidFill>
              </a:rPr>
              <a:t>Roni Trabelsi  -  Tel Aviv Museum of Art</a:t>
            </a:r>
          </a:p>
        </p:txBody>
      </p:sp>
      <p:sp>
        <p:nvSpPr>
          <p:cNvPr id="10" name="ZoneTexte 9">
            <a:extLst>
              <a:ext uri="{FF2B5EF4-FFF2-40B4-BE49-F238E27FC236}">
                <a16:creationId xmlns:a16="http://schemas.microsoft.com/office/drawing/2014/main" id="{F63E1E1C-2243-1244-A6D7-6318F83F57D5}"/>
              </a:ext>
            </a:extLst>
          </p:cNvPr>
          <p:cNvSpPr txBox="1"/>
          <p:nvPr/>
        </p:nvSpPr>
        <p:spPr>
          <a:xfrm>
            <a:off x="1371600" y="4394200"/>
            <a:ext cx="9525000" cy="787400"/>
          </a:xfrm>
          <a:prstGeom prst="rect">
            <a:avLst/>
          </a:prstGeom>
          <a:noFill/>
        </p:spPr>
        <p:txBody>
          <a:bodyPr vertOverflow="overflow" vert="horz" wrap="square" rtlCol="0" anchor="t">
            <a:noAutofit/>
          </a:bodyPr>
          <a:lstStyle/>
          <a:p>
            <a:pPr algn="l"/>
            <a:r>
              <a:rPr lang="fr-FR" sz="1400">
                <a:solidFill>
                  <a:srgbClr val="222222"/>
                </a:solidFill>
              </a:rPr>
              <a:t>For opening the museum's doors to us and making the field tests possible in real galleries, with real works and real visitors - the validation this project rests on.</a:t>
            </a:r>
          </a:p>
        </p:txBody>
      </p:sp>
      <p:sp>
        <p:nvSpPr>
          <p:cNvPr id="11" name="ZoneTexte 10">
            <a:extLst>
              <a:ext uri="{FF2B5EF4-FFF2-40B4-BE49-F238E27FC236}">
                <a16:creationId xmlns:a16="http://schemas.microsoft.com/office/drawing/2014/main" id="{9CD009DE-0C24-DE4A-BBB2-99B79D409A46}"/>
              </a:ext>
            </a:extLst>
          </p:cNvPr>
          <p:cNvSpPr txBox="1"/>
          <p:nvPr/>
        </p:nvSpPr>
        <p:spPr>
          <a:xfrm>
            <a:off x="914400" y="5816600"/>
            <a:ext cx="10363200" cy="381000"/>
          </a:xfrm>
          <a:prstGeom prst="rect">
            <a:avLst/>
          </a:prstGeom>
          <a:noFill/>
        </p:spPr>
        <p:txBody>
          <a:bodyPr vertOverflow="overflow" vert="horz" wrap="square" rtlCol="0" anchor="t">
            <a:noAutofit/>
          </a:bodyPr>
          <a:lstStyle/>
          <a:p>
            <a:pPr marL="0" indent="0" algn="ctr">
              <a:buNone/>
            </a:pPr>
            <a:r>
              <a:rPr lang="en-US" sz="1600" i="1" dirty="0">
                <a:solidFill>
                  <a:srgbClr val="0E7490"/>
                </a:solidFill>
              </a:rPr>
              <a:t>Thank you.</a:t>
            </a:r>
          </a:p>
        </p:txBody>
      </p:sp>
      <p:sp>
        <p:nvSpPr>
          <p:cNvPr id="12" name="Text 0">
            <a:extLst>
              <a:ext uri="{FF2B5EF4-FFF2-40B4-BE49-F238E27FC236}">
                <a16:creationId xmlns:a16="http://schemas.microsoft.com/office/drawing/2014/main" id="{9F3A066D-E7FC-8340-B5A8-1A3EE5F08E7A}"/>
              </a:ext>
            </a:extLst>
          </p:cNvPr>
          <p:cNvSpPr txBox="1"/>
          <p:nvPr/>
        </p:nvSpPr>
        <p:spPr>
          <a:xfrm>
            <a:off x="11369040" y="6400800"/>
            <a:ext cx="457200" cy="274320"/>
          </a:xfrm>
          <a:prstGeom prst="rect">
            <a:avLst/>
          </a:prstGeom>
          <a:noFill/>
        </p:spPr>
        <p:txBody>
          <a:bodyPr vertOverflow="overflow" vert="horz" wrap="square" rtlCol="0" anchor="t">
            <a:noAutofit/>
          </a:bodyPr>
          <a:lstStyle/>
          <a:p>
            <a:pPr marL="0" indent="0" algn="r">
              <a:buNone/>
            </a:pPr>
            <a:r>
              <a:rPr lang="en-US" sz="1100" dirty="0">
                <a:solidFill>
                  <a:srgbClr val="6B7280"/>
                </a:solidFill>
              </a:rPr>
              <a:t>26</a:t>
            </a:r>
          </a:p>
        </p:txBody>
      </p:sp>
      <p:pic>
        <p:nvPicPr>
          <p:cNvPr id="13" name="Copied Picture 13">
            <a:extLst>
              <a:ext uri="{FF2B5EF4-FFF2-40B4-BE49-F238E27FC236}">
                <a16:creationId xmlns:a16="http://schemas.microsoft.com/office/drawing/2014/main" id="{A86CA23B-BB02-0DB6-9903-C30AF1AE93D3}"/>
              </a:ext>
            </a:extLst>
          </p:cNvPr>
          <p:cNvPicPr>
            <a:picLocks noChangeAspect="1"/>
          </p:cNvPicPr>
          <p:nvPr/>
        </p:nvPicPr>
        <p:blipFill>
          <a:blip r:embed="rId2"/>
          <a:stretch>
            <a:fillRect/>
          </a:stretch>
        </p:blipFill>
        <p:spPr>
          <a:xfrm>
            <a:off x="226060" y="378460"/>
            <a:ext cx="2578100" cy="572770"/>
          </a:xfrm>
          <a:prstGeom prst="rect">
            <a:avLst/>
          </a:prstGeom>
        </p:spPr>
      </p:pic>
    </p:spTree>
    <p:extLst>
      <p:ext uri="{BB962C8B-B14F-4D97-AF65-F5344CB8AC3E}">
        <p14:creationId xmlns:p14="http://schemas.microsoft.com/office/powerpoint/2010/main" val="585997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AE30C48-A719-354F-8128-9652C2D6FB87}">
  <we:reference id="wa200010001" version="1.0.0.1" store="en-US" storeType="OMEX"/>
  <we:alternateReferences>
    <we:reference id="WA200010001" version="1.0.0.1" store="" storeType="OMEX"/>
  </we:alternateReferences>
  <we:properties>
    <we:property name="claude.fileId" value="&quot;b723c66d-bc46-4d78-bc08-e849e88d6fb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5386</TotalTime>
  <Words>3487</Words>
  <Application>Microsoft Macintosh PowerPoint</Application>
  <PresentationFormat>Grand écran</PresentationFormat>
  <Paragraphs>447</Paragraphs>
  <Slides>26</Slides>
  <Notes>25</Notes>
  <HiddenSlides>0</HiddenSlides>
  <MMClips>3</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26</vt:i4>
      </vt:variant>
    </vt:vector>
  </HeadingPairs>
  <TitlesOfParts>
    <vt:vector size="31" baseType="lpstr">
      <vt:lpstr>Aptos</vt: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Arthur Friler</dc:creator>
  <cp:lastModifiedBy>Arthur Friler</cp:lastModifiedBy>
  <cp:revision>3</cp:revision>
  <dcterms:created xsi:type="dcterms:W3CDTF">2026-08-24T21:29:00Z</dcterms:created>
  <dcterms:modified xsi:type="dcterms:W3CDTF">2026-08-28T16:16:50Z</dcterms:modified>
</cp:coreProperties>
</file>